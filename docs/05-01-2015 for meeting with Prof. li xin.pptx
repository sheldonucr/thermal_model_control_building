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24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hzhao:hello-world:energyplus:Hello:Output:1ZoneUncontrolled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'1ZoneUncontrolled.csv'!$AG$1</c:f>
              <c:strCache>
                <c:ptCount val="1"/>
                <c:pt idx="0">
                  <c:v>ZONE ONE:Zone Mean Air Temperature [C](Hourly)</c:v>
                </c:pt>
              </c:strCache>
            </c:strRef>
          </c:tx>
          <c:spPr>
            <a:ln w="19050">
              <a:solidFill>
                <a:schemeClr val="tx1"/>
              </a:solidFill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c:spPr>
          </c:marker>
          <c:val>
            <c:numRef>
              <c:f>'1ZoneUncontrolled.csv'!$AG$2:$AG$217</c:f>
              <c:numCache>
                <c:formatCode>General</c:formatCode>
                <c:ptCount val="168"/>
                <c:pt idx="0">
                  <c:v>12.217094816785099</c:v>
                </c:pt>
                <c:pt idx="1">
                  <c:v>12.0490280641251</c:v>
                </c:pt>
                <c:pt idx="2">
                  <c:v>11.9633802434301</c:v>
                </c:pt>
                <c:pt idx="3">
                  <c:v>11.7761090014146</c:v>
                </c:pt>
                <c:pt idx="4">
                  <c:v>11.544901002393701</c:v>
                </c:pt>
                <c:pt idx="5">
                  <c:v>11.343772515901399</c:v>
                </c:pt>
                <c:pt idx="6">
                  <c:v>11.152189305789401</c:v>
                </c:pt>
                <c:pt idx="7">
                  <c:v>11.0847777969276</c:v>
                </c:pt>
                <c:pt idx="8">
                  <c:v>11.769620407976801</c:v>
                </c:pt>
                <c:pt idx="9">
                  <c:v>12.6318364043405</c:v>
                </c:pt>
                <c:pt idx="10">
                  <c:v>13.5493620414895</c:v>
                </c:pt>
                <c:pt idx="11">
                  <c:v>13.8890632997197</c:v>
                </c:pt>
                <c:pt idx="12">
                  <c:v>14.0690111688205</c:v>
                </c:pt>
                <c:pt idx="13">
                  <c:v>14.496218359435501</c:v>
                </c:pt>
                <c:pt idx="14">
                  <c:v>15.1058985130511</c:v>
                </c:pt>
                <c:pt idx="15">
                  <c:v>15.169599573950199</c:v>
                </c:pt>
                <c:pt idx="16">
                  <c:v>14.2890428914795</c:v>
                </c:pt>
                <c:pt idx="17">
                  <c:v>13.5756891588505</c:v>
                </c:pt>
                <c:pt idx="18">
                  <c:v>13.2836941412592</c:v>
                </c:pt>
                <c:pt idx="19">
                  <c:v>13.125866406598499</c:v>
                </c:pt>
                <c:pt idx="20">
                  <c:v>12.992635695906101</c:v>
                </c:pt>
                <c:pt idx="21">
                  <c:v>12.8108122916691</c:v>
                </c:pt>
                <c:pt idx="22">
                  <c:v>12.648684947654001</c:v>
                </c:pt>
                <c:pt idx="23">
                  <c:v>12.419413190122899</c:v>
                </c:pt>
                <c:pt idx="24">
                  <c:v>12.279418044696101</c:v>
                </c:pt>
                <c:pt idx="25">
                  <c:v>12.122142502583801</c:v>
                </c:pt>
                <c:pt idx="26">
                  <c:v>11.765622900456499</c:v>
                </c:pt>
                <c:pt idx="27">
                  <c:v>11.4937404910116</c:v>
                </c:pt>
                <c:pt idx="28">
                  <c:v>11.277694921305001</c:v>
                </c:pt>
                <c:pt idx="29">
                  <c:v>11.244098930282799</c:v>
                </c:pt>
                <c:pt idx="30">
                  <c:v>11.247580693643499</c:v>
                </c:pt>
                <c:pt idx="31">
                  <c:v>11.2435954055981</c:v>
                </c:pt>
                <c:pt idx="32">
                  <c:v>11.5646477577905</c:v>
                </c:pt>
                <c:pt idx="33">
                  <c:v>12.2159750377844</c:v>
                </c:pt>
                <c:pt idx="34">
                  <c:v>12.831426503422501</c:v>
                </c:pt>
                <c:pt idx="35">
                  <c:v>13.436566336846299</c:v>
                </c:pt>
                <c:pt idx="36">
                  <c:v>13.944122054797299</c:v>
                </c:pt>
                <c:pt idx="37">
                  <c:v>14.471163667772</c:v>
                </c:pt>
                <c:pt idx="38">
                  <c:v>14.596453109691099</c:v>
                </c:pt>
                <c:pt idx="39">
                  <c:v>14.530617561628199</c:v>
                </c:pt>
                <c:pt idx="40">
                  <c:v>13.848566602697799</c:v>
                </c:pt>
                <c:pt idx="41">
                  <c:v>13.2155907183192</c:v>
                </c:pt>
                <c:pt idx="42">
                  <c:v>12.8810848077814</c:v>
                </c:pt>
                <c:pt idx="43">
                  <c:v>12.7584436580165</c:v>
                </c:pt>
                <c:pt idx="44">
                  <c:v>12.684216993463</c:v>
                </c:pt>
                <c:pt idx="45">
                  <c:v>12.465803519536401</c:v>
                </c:pt>
                <c:pt idx="46">
                  <c:v>12.218434737843401</c:v>
                </c:pt>
                <c:pt idx="47">
                  <c:v>12.0553579815424</c:v>
                </c:pt>
                <c:pt idx="48">
                  <c:v>11.9498846781596</c:v>
                </c:pt>
                <c:pt idx="49">
                  <c:v>11.9790029210181</c:v>
                </c:pt>
                <c:pt idx="50">
                  <c:v>11.993746357825801</c:v>
                </c:pt>
                <c:pt idx="51">
                  <c:v>12.039240198860099</c:v>
                </c:pt>
                <c:pt idx="52">
                  <c:v>12.148857025471999</c:v>
                </c:pt>
                <c:pt idx="53">
                  <c:v>12.1536937142904</c:v>
                </c:pt>
                <c:pt idx="54">
                  <c:v>12.0915510190395</c:v>
                </c:pt>
                <c:pt idx="55">
                  <c:v>12.029610641357699</c:v>
                </c:pt>
                <c:pt idx="56">
                  <c:v>12.2823732748264</c:v>
                </c:pt>
                <c:pt idx="57">
                  <c:v>12.960415461315</c:v>
                </c:pt>
                <c:pt idx="58">
                  <c:v>13.599010172127301</c:v>
                </c:pt>
                <c:pt idx="59">
                  <c:v>13.862920766714</c:v>
                </c:pt>
                <c:pt idx="60">
                  <c:v>14.3809987115764</c:v>
                </c:pt>
                <c:pt idx="61">
                  <c:v>14.986623526872</c:v>
                </c:pt>
                <c:pt idx="62">
                  <c:v>15.3301796742803</c:v>
                </c:pt>
                <c:pt idx="63">
                  <c:v>15.123495475222599</c:v>
                </c:pt>
                <c:pt idx="64">
                  <c:v>14.3806557936924</c:v>
                </c:pt>
                <c:pt idx="65">
                  <c:v>13.804890392508501</c:v>
                </c:pt>
                <c:pt idx="66">
                  <c:v>13.632327613420699</c:v>
                </c:pt>
                <c:pt idx="67">
                  <c:v>13.429128149955901</c:v>
                </c:pt>
                <c:pt idx="68">
                  <c:v>13.2169516137374</c:v>
                </c:pt>
                <c:pt idx="69">
                  <c:v>13.0689550742772</c:v>
                </c:pt>
                <c:pt idx="70">
                  <c:v>12.8745761999641</c:v>
                </c:pt>
                <c:pt idx="71">
                  <c:v>12.821952538685199</c:v>
                </c:pt>
                <c:pt idx="72">
                  <c:v>12.697854951677799</c:v>
                </c:pt>
                <c:pt idx="73">
                  <c:v>12.417671616348199</c:v>
                </c:pt>
                <c:pt idx="74">
                  <c:v>12.2493330307784</c:v>
                </c:pt>
                <c:pt idx="75">
                  <c:v>12.123004080734701</c:v>
                </c:pt>
                <c:pt idx="76">
                  <c:v>11.771476288439899</c:v>
                </c:pt>
                <c:pt idx="77">
                  <c:v>11.5438507158529</c:v>
                </c:pt>
                <c:pt idx="78">
                  <c:v>11.338099305829401</c:v>
                </c:pt>
                <c:pt idx="79">
                  <c:v>11.2280536967891</c:v>
                </c:pt>
                <c:pt idx="80">
                  <c:v>11.6235594827544</c:v>
                </c:pt>
                <c:pt idx="81">
                  <c:v>11.876068397473601</c:v>
                </c:pt>
                <c:pt idx="82">
                  <c:v>12.1607714032658</c:v>
                </c:pt>
                <c:pt idx="83">
                  <c:v>12.8214293858075</c:v>
                </c:pt>
                <c:pt idx="84">
                  <c:v>13.3398157770743</c:v>
                </c:pt>
                <c:pt idx="85">
                  <c:v>13.915866031527599</c:v>
                </c:pt>
                <c:pt idx="86">
                  <c:v>13.9687150361921</c:v>
                </c:pt>
                <c:pt idx="87">
                  <c:v>13.5845742134331</c:v>
                </c:pt>
                <c:pt idx="88">
                  <c:v>12.987674028425401</c:v>
                </c:pt>
                <c:pt idx="89">
                  <c:v>12.4226099372578</c:v>
                </c:pt>
                <c:pt idx="90">
                  <c:v>12.186239844918701</c:v>
                </c:pt>
                <c:pt idx="91">
                  <c:v>12.005633904832999</c:v>
                </c:pt>
                <c:pt idx="92">
                  <c:v>11.8849502813716</c:v>
                </c:pt>
                <c:pt idx="93">
                  <c:v>11.826852030767901</c:v>
                </c:pt>
                <c:pt idx="94">
                  <c:v>11.7223325146515</c:v>
                </c:pt>
                <c:pt idx="95">
                  <c:v>11.5930848440474</c:v>
                </c:pt>
                <c:pt idx="96">
                  <c:v>11.5078590242062</c:v>
                </c:pt>
                <c:pt idx="97">
                  <c:v>11.3600714735983</c:v>
                </c:pt>
                <c:pt idx="98">
                  <c:v>11.136373254369699</c:v>
                </c:pt>
                <c:pt idx="99">
                  <c:v>10.781254749609101</c:v>
                </c:pt>
                <c:pt idx="100">
                  <c:v>10.557289765554801</c:v>
                </c:pt>
                <c:pt idx="101">
                  <c:v>10.3202259036543</c:v>
                </c:pt>
                <c:pt idx="102">
                  <c:v>10.1837565351492</c:v>
                </c:pt>
                <c:pt idx="103">
                  <c:v>10.254714340571701</c:v>
                </c:pt>
                <c:pt idx="104">
                  <c:v>10.611148995361701</c:v>
                </c:pt>
                <c:pt idx="105">
                  <c:v>11.0485479033134</c:v>
                </c:pt>
                <c:pt idx="106">
                  <c:v>11.6235707961097</c:v>
                </c:pt>
                <c:pt idx="107">
                  <c:v>12.161132456916</c:v>
                </c:pt>
                <c:pt idx="108">
                  <c:v>12.5653828158742</c:v>
                </c:pt>
                <c:pt idx="109">
                  <c:v>13.1511518410764</c:v>
                </c:pt>
                <c:pt idx="110">
                  <c:v>13.483506558688401</c:v>
                </c:pt>
                <c:pt idx="111">
                  <c:v>13.3787167504371</c:v>
                </c:pt>
                <c:pt idx="112">
                  <c:v>12.605471677667399</c:v>
                </c:pt>
                <c:pt idx="113">
                  <c:v>11.910226539696501</c:v>
                </c:pt>
                <c:pt idx="114">
                  <c:v>11.6881874605057</c:v>
                </c:pt>
                <c:pt idx="115">
                  <c:v>11.4523767414254</c:v>
                </c:pt>
                <c:pt idx="116">
                  <c:v>11.2974006294675</c:v>
                </c:pt>
                <c:pt idx="117">
                  <c:v>11.2260076496149</c:v>
                </c:pt>
                <c:pt idx="118">
                  <c:v>11.162776349527901</c:v>
                </c:pt>
                <c:pt idx="119">
                  <c:v>11.0583419295348</c:v>
                </c:pt>
                <c:pt idx="120">
                  <c:v>10.9282118847894</c:v>
                </c:pt>
                <c:pt idx="121">
                  <c:v>10.8024062881271</c:v>
                </c:pt>
                <c:pt idx="122">
                  <c:v>10.682457551367801</c:v>
                </c:pt>
                <c:pt idx="123">
                  <c:v>10.5775137079108</c:v>
                </c:pt>
                <c:pt idx="124">
                  <c:v>10.459120491128299</c:v>
                </c:pt>
                <c:pt idx="125">
                  <c:v>10.268821500282</c:v>
                </c:pt>
                <c:pt idx="126">
                  <c:v>10.044130640511</c:v>
                </c:pt>
                <c:pt idx="127">
                  <c:v>9.9986901288054693</c:v>
                </c:pt>
                <c:pt idx="128">
                  <c:v>10.497527345935801</c:v>
                </c:pt>
                <c:pt idx="129">
                  <c:v>11.114714934253</c:v>
                </c:pt>
                <c:pt idx="130">
                  <c:v>11.2573072758194</c:v>
                </c:pt>
                <c:pt idx="131">
                  <c:v>11.290388255575399</c:v>
                </c:pt>
                <c:pt idx="132">
                  <c:v>11.892297137526199</c:v>
                </c:pt>
                <c:pt idx="133">
                  <c:v>12.662094524102899</c:v>
                </c:pt>
                <c:pt idx="134">
                  <c:v>12.873720440957101</c:v>
                </c:pt>
                <c:pt idx="135">
                  <c:v>12.793233809710101</c:v>
                </c:pt>
                <c:pt idx="136">
                  <c:v>12.019140153078499</c:v>
                </c:pt>
                <c:pt idx="137">
                  <c:v>11.402687568675301</c:v>
                </c:pt>
                <c:pt idx="138">
                  <c:v>11.264230943306099</c:v>
                </c:pt>
                <c:pt idx="139">
                  <c:v>11.057146170237299</c:v>
                </c:pt>
                <c:pt idx="140">
                  <c:v>10.870365162264299</c:v>
                </c:pt>
                <c:pt idx="141">
                  <c:v>10.752156797644099</c:v>
                </c:pt>
                <c:pt idx="142">
                  <c:v>10.7341920140678</c:v>
                </c:pt>
                <c:pt idx="143">
                  <c:v>10.855565992026699</c:v>
                </c:pt>
                <c:pt idx="144">
                  <c:v>10.775731062875201</c:v>
                </c:pt>
                <c:pt idx="145">
                  <c:v>10.7084047806404</c:v>
                </c:pt>
                <c:pt idx="146">
                  <c:v>10.532534437266801</c:v>
                </c:pt>
                <c:pt idx="147">
                  <c:v>10.2749637592295</c:v>
                </c:pt>
                <c:pt idx="148">
                  <c:v>10.171652408675</c:v>
                </c:pt>
                <c:pt idx="149">
                  <c:v>10.1404544293074</c:v>
                </c:pt>
                <c:pt idx="150">
                  <c:v>10.114434501129599</c:v>
                </c:pt>
                <c:pt idx="151">
                  <c:v>10.0871272472044</c:v>
                </c:pt>
                <c:pt idx="152">
                  <c:v>10.205291700438901</c:v>
                </c:pt>
                <c:pt idx="153">
                  <c:v>10.429739892935601</c:v>
                </c:pt>
                <c:pt idx="154">
                  <c:v>10.7661312621116</c:v>
                </c:pt>
                <c:pt idx="155">
                  <c:v>10.6423918721961</c:v>
                </c:pt>
                <c:pt idx="156">
                  <c:v>10.6742360591896</c:v>
                </c:pt>
                <c:pt idx="157">
                  <c:v>11.275382019299199</c:v>
                </c:pt>
                <c:pt idx="158">
                  <c:v>11.5794632573564</c:v>
                </c:pt>
                <c:pt idx="159">
                  <c:v>11.7379795245367</c:v>
                </c:pt>
                <c:pt idx="160">
                  <c:v>11.3036884551315</c:v>
                </c:pt>
                <c:pt idx="161">
                  <c:v>10.7909015542037</c:v>
                </c:pt>
                <c:pt idx="162">
                  <c:v>10.6060584530347</c:v>
                </c:pt>
                <c:pt idx="163">
                  <c:v>10.472040190329301</c:v>
                </c:pt>
                <c:pt idx="164">
                  <c:v>10.330082420910401</c:v>
                </c:pt>
                <c:pt idx="165">
                  <c:v>10.1651886106955</c:v>
                </c:pt>
                <c:pt idx="166">
                  <c:v>10.0179582475104</c:v>
                </c:pt>
                <c:pt idx="167">
                  <c:v>9.9537333717082692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1783808"/>
        <c:axId val="281675456"/>
      </c:lineChart>
      <c:catAx>
        <c:axId val="281783808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281675456"/>
        <c:crosses val="autoZero"/>
        <c:auto val="1"/>
        <c:lblAlgn val="ctr"/>
        <c:lblOffset val="100"/>
        <c:tickLblSkip val="12"/>
        <c:noMultiLvlLbl val="0"/>
      </c:catAx>
      <c:valAx>
        <c:axId val="2816754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281783808"/>
        <c:crosses val="autoZero"/>
        <c:crossBetween val="between"/>
      </c:valAx>
    </c:plotArea>
    <c:legend>
      <c:legendPos val="tr"/>
      <c:legendEntry>
        <c:idx val="0"/>
        <c:txPr>
          <a:bodyPr/>
          <a:lstStyle/>
          <a:p>
            <a:pPr>
              <a:defRPr sz="1400"/>
            </a:pPr>
            <a:endParaRPr lang="en-US"/>
          </a:p>
        </c:txPr>
      </c:legendEntry>
      <c:layout>
        <c:manualLayout>
          <c:xMode val="edge"/>
          <c:yMode val="edge"/>
          <c:x val="0.44135802469135799"/>
          <c:y val="0.73967020941178696"/>
          <c:w val="0.50308641975308599"/>
          <c:h val="8.8363957018649894E-2"/>
        </c:manualLayout>
      </c:layout>
      <c:overlay val="1"/>
      <c:spPr>
        <a:ln w="6350">
          <a:solidFill>
            <a:schemeClr val="tx1"/>
          </a:solidFill>
        </a:ln>
      </c:spPr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3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1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0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2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5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46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6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87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6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89BB0-DB5B-004E-989A-786777F186C4}" type="datetimeFigureOut">
              <a:rPr lang="en-US" smtClean="0"/>
              <a:t>4/26/2015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3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0Bzn8tD_Jzg_qbURvcDY2dkR5anM/view?usp=sharing" TargetMode="External"/><Relationship Id="rId2" Type="http://schemas.openxmlformats.org/officeDocument/2006/relationships/hyperlink" Target="http://apps1.eere.energy.gov/buildings/energyplus/register.cfm?goto=eplu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EnergyPlus</a:t>
            </a:r>
            <a:r>
              <a:rPr lang="en-US" dirty="0" smtClean="0"/>
              <a:t> 8.2</a:t>
            </a:r>
            <a:br>
              <a:rPr lang="en-US" dirty="0" smtClean="0"/>
            </a:br>
            <a:r>
              <a:rPr lang="en-US" sz="3200" dirty="0" smtClean="0"/>
              <a:t>Getting Started in Command Line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5446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 </a:t>
            </a:r>
            <a:r>
              <a:rPr lang="en-US" dirty="0" err="1" smtClean="0"/>
              <a:t>MacOS</a:t>
            </a:r>
            <a:endParaRPr lang="en-US" dirty="0"/>
          </a:p>
          <a:p>
            <a:pPr lvl="1"/>
            <a:r>
              <a:rPr lang="en-US" dirty="0" smtClean="0"/>
              <a:t>Apply the </a:t>
            </a:r>
            <a:r>
              <a:rPr lang="en-US" dirty="0" err="1" smtClean="0"/>
              <a:t>dmg</a:t>
            </a:r>
            <a:r>
              <a:rPr lang="en-US" dirty="0" smtClean="0"/>
              <a:t> package at</a:t>
            </a:r>
          </a:p>
          <a:p>
            <a:pPr lvl="2"/>
            <a:r>
              <a:rPr lang="en-US" dirty="0" smtClean="0">
                <a:hlinkClick r:id="rId2"/>
              </a:rPr>
              <a:t>http://apps1.eere.energy.gov/buildings/energyplus/register.cfm?goto=eplus</a:t>
            </a:r>
            <a:endParaRPr lang="en-US" dirty="0" smtClean="0"/>
          </a:p>
          <a:p>
            <a:pPr lvl="1"/>
            <a:r>
              <a:rPr lang="en-US" dirty="0" smtClean="0"/>
              <a:t>Or download from my shared link</a:t>
            </a:r>
          </a:p>
          <a:p>
            <a:pPr lvl="2"/>
            <a:r>
              <a:rPr lang="en-US" dirty="0" smtClean="0">
                <a:hlinkClick r:id="rId3"/>
              </a:rPr>
              <a:t>https://drive.google.com/file/d/0Bzn8tD_Jzg_qbURvcDY2dkR5anM/view?usp=sharing</a:t>
            </a:r>
            <a:endParaRPr lang="en-US" dirty="0" smtClean="0"/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1355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installation, some commands are available:</a:t>
            </a:r>
          </a:p>
          <a:p>
            <a:pPr lvl="1"/>
            <a:r>
              <a:rPr lang="en-US" dirty="0" err="1" smtClean="0"/>
              <a:t>EnergyPlus</a:t>
            </a:r>
            <a:endParaRPr lang="en-US" dirty="0" smtClean="0"/>
          </a:p>
          <a:p>
            <a:pPr lvl="1"/>
            <a:r>
              <a:rPr lang="en-US" dirty="0" err="1" smtClean="0"/>
              <a:t>EPMacro</a:t>
            </a:r>
            <a:endParaRPr lang="en-US" dirty="0" smtClean="0"/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r</a:t>
            </a:r>
            <a:r>
              <a:rPr lang="en-US" dirty="0" err="1" smtClean="0">
                <a:solidFill>
                  <a:srgbClr val="FF0000"/>
                </a:solidFill>
              </a:rPr>
              <a:t>unenergyplus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// we use this for CLI testing</a:t>
            </a:r>
          </a:p>
          <a:p>
            <a:r>
              <a:rPr lang="en-US" dirty="0" smtClean="0"/>
              <a:t>Type in terminal to verify</a:t>
            </a:r>
          </a:p>
          <a:p>
            <a:pPr lvl="1"/>
            <a:r>
              <a:rPr lang="en-US" sz="2400" b="1" dirty="0" err="1" smtClean="0">
                <a:latin typeface="Monaco"/>
                <a:cs typeface="Monaco"/>
              </a:rPr>
              <a:t>runenergyplus</a:t>
            </a:r>
            <a:endParaRPr lang="en-US" b="1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92601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EnergyPlus</a:t>
            </a:r>
            <a:r>
              <a:rPr lang="en-US" dirty="0" smtClean="0"/>
              <a:t> </a:t>
            </a:r>
            <a:r>
              <a:rPr lang="en-US" dirty="0" err="1" smtClean="0"/>
              <a:t>Dir</a:t>
            </a:r>
            <a:r>
              <a:rPr lang="en-US" dirty="0" smtClean="0"/>
              <a:t> </a:t>
            </a:r>
            <a:r>
              <a:rPr lang="en-US" dirty="0" err="1" smtClean="0"/>
              <a:t>Hier</a:t>
            </a:r>
            <a:r>
              <a:rPr lang="en-US" dirty="0" smtClean="0"/>
              <a:t> on Mac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/Application/EnergyPlus-8.x.y/</a:t>
            </a:r>
          </a:p>
          <a:p>
            <a:pPr lvl="1"/>
            <a:r>
              <a:rPr lang="en-US" dirty="0" err="1" smtClean="0"/>
              <a:t>ExampleFiles</a:t>
            </a:r>
            <a:r>
              <a:rPr lang="en-US" dirty="0" smtClean="0"/>
              <a:t>/</a:t>
            </a:r>
          </a:p>
          <a:p>
            <a:pPr lvl="2"/>
            <a:r>
              <a:rPr lang="en-US" dirty="0" smtClean="0"/>
              <a:t>Example *.</a:t>
            </a:r>
            <a:r>
              <a:rPr lang="en-US" dirty="0" err="1" smtClean="0"/>
              <a:t>idf</a:t>
            </a:r>
            <a:r>
              <a:rPr lang="en-US" dirty="0" smtClean="0"/>
              <a:t> files, describes sample buildings</a:t>
            </a:r>
          </a:p>
          <a:p>
            <a:pPr lvl="1"/>
            <a:r>
              <a:rPr lang="en-US" dirty="0" err="1" smtClean="0"/>
              <a:t>WeatherData</a:t>
            </a:r>
            <a:r>
              <a:rPr lang="en-US" dirty="0" smtClean="0"/>
              <a:t>/</a:t>
            </a:r>
          </a:p>
          <a:p>
            <a:pPr lvl="2"/>
            <a:r>
              <a:rPr lang="en-US" dirty="0" smtClean="0"/>
              <a:t>Example *</a:t>
            </a:r>
            <a:r>
              <a:rPr lang="en-US" dirty="0" err="1" smtClean="0"/>
              <a:t>epw</a:t>
            </a:r>
            <a:r>
              <a:rPr lang="en-US" dirty="0" smtClean="0"/>
              <a:t> files, describes weathers at some example locations</a:t>
            </a:r>
          </a:p>
          <a:p>
            <a:pPr lvl="1"/>
            <a:r>
              <a:rPr lang="en-US" dirty="0" smtClean="0"/>
              <a:t>Documentation/</a:t>
            </a:r>
          </a:p>
          <a:p>
            <a:pPr lvl="1"/>
            <a:r>
              <a:rPr lang="en-US" dirty="0" smtClean="0"/>
              <a:t>. . .</a:t>
            </a:r>
          </a:p>
          <a:p>
            <a:r>
              <a:rPr lang="en-US" dirty="0" smtClean="0"/>
              <a:t>We use *.</a:t>
            </a:r>
            <a:r>
              <a:rPr lang="en-US" dirty="0" err="1" smtClean="0"/>
              <a:t>idf</a:t>
            </a:r>
            <a:r>
              <a:rPr lang="en-US" dirty="0" smtClean="0"/>
              <a:t> and *.</a:t>
            </a:r>
            <a:r>
              <a:rPr lang="en-US" dirty="0" err="1" smtClean="0"/>
              <a:t>epw</a:t>
            </a:r>
            <a:r>
              <a:rPr lang="en-US" dirty="0" smtClean="0"/>
              <a:t> to do the simulations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82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err="1" smtClean="0"/>
              <a:t>EnergyPlus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Prepare IDF file and EPW file</a:t>
            </a:r>
          </a:p>
          <a:p>
            <a:pPr lvl="1"/>
            <a:r>
              <a:rPr lang="en-US" dirty="0" smtClean="0"/>
              <a:t>Using </a:t>
            </a:r>
            <a:r>
              <a:rPr lang="en-US" dirty="0" err="1" smtClean="0">
                <a:solidFill>
                  <a:srgbClr val="FF0000"/>
                </a:solidFill>
              </a:rPr>
              <a:t>WindACAuto.idf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to describe building</a:t>
            </a:r>
          </a:p>
          <a:p>
            <a:pPr lvl="2"/>
            <a:r>
              <a:rPr lang="en-US" dirty="0" smtClean="0"/>
              <a:t>Copied from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Applications/EnergyPlus-8-2-7/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ExampleFiles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WindACAuto.idf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dirty="0" smtClean="0"/>
              <a:t>Using </a:t>
            </a:r>
            <a:r>
              <a:rPr lang="en-US" dirty="0">
                <a:solidFill>
                  <a:srgbClr val="FF0000"/>
                </a:solidFill>
              </a:rPr>
              <a:t>USA_CA_San.Francisco.Intl.AP.724940_TMY3.</a:t>
            </a:r>
            <a:r>
              <a:rPr lang="en-US" dirty="0" smtClean="0">
                <a:solidFill>
                  <a:srgbClr val="FF0000"/>
                </a:solidFill>
              </a:rPr>
              <a:t>epw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to describe weather</a:t>
            </a:r>
          </a:p>
          <a:p>
            <a:pPr lvl="2"/>
            <a:r>
              <a:rPr lang="en-US" dirty="0" smtClean="0"/>
              <a:t>Copied from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/Applications/EnergyPlus-8-2-7/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WeatherData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/USA_CA_San.Francisco.Intl.AP.724940_TMY3.epw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9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err="1" smtClean="0"/>
              <a:t>EnergyPlus</a:t>
            </a:r>
            <a:r>
              <a:rPr lang="en-US" dirty="0" smtClean="0"/>
              <a:t>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Command format</a:t>
            </a:r>
          </a:p>
          <a:p>
            <a:pPr lvl="1"/>
            <a:r>
              <a:rPr lang="en-US" sz="2000" dirty="0" err="1">
                <a:latin typeface="Monaco"/>
                <a:cs typeface="Monaco"/>
              </a:rPr>
              <a:t>runenergyplus</a:t>
            </a:r>
            <a:r>
              <a:rPr lang="en-US" sz="2000" dirty="0">
                <a:latin typeface="Monaco"/>
                <a:cs typeface="Monaco"/>
              </a:rPr>
              <a:t> </a:t>
            </a:r>
            <a:r>
              <a:rPr lang="en-US" sz="2000" dirty="0" err="1">
                <a:latin typeface="Monaco"/>
                <a:cs typeface="Monaco"/>
              </a:rPr>
              <a:t>InputFileName</a:t>
            </a:r>
            <a:r>
              <a:rPr lang="en-US" sz="2000" dirty="0">
                <a:latin typeface="Monaco"/>
                <a:cs typeface="Monaco"/>
              </a:rPr>
              <a:t> [</a:t>
            </a:r>
            <a:r>
              <a:rPr lang="en-US" sz="2000" dirty="0" err="1">
                <a:latin typeface="Monaco"/>
                <a:cs typeface="Monaco"/>
              </a:rPr>
              <a:t>WeatherFileName</a:t>
            </a:r>
            <a:r>
              <a:rPr lang="en-US" sz="2000" dirty="0">
                <a:latin typeface="Monaco"/>
                <a:cs typeface="Monaco"/>
              </a:rPr>
              <a:t>]</a:t>
            </a:r>
            <a:endParaRPr lang="en-US" sz="2000" dirty="0" smtClean="0">
              <a:latin typeface="Monaco"/>
              <a:cs typeface="Monaco"/>
            </a:endParaRPr>
          </a:p>
          <a:p>
            <a:r>
              <a:rPr lang="en-US" dirty="0" smtClean="0"/>
              <a:t>In this example</a:t>
            </a:r>
          </a:p>
          <a:p>
            <a:pPr lvl="1"/>
            <a:r>
              <a:rPr lang="en-US" sz="2000" dirty="0" err="1" smtClean="0">
                <a:latin typeface="Monaco"/>
                <a:cs typeface="Monaco"/>
              </a:rPr>
              <a:t>runenergyplus</a:t>
            </a:r>
            <a:r>
              <a:rPr lang="en-US" sz="2000" dirty="0" smtClean="0">
                <a:latin typeface="Monaco"/>
                <a:cs typeface="Monaco"/>
              </a:rPr>
              <a:t> </a:t>
            </a:r>
            <a:r>
              <a:rPr lang="en-US" sz="2000" dirty="0" err="1">
                <a:latin typeface="Monaco"/>
                <a:cs typeface="Monaco"/>
              </a:rPr>
              <a:t>WindACAuto.idf</a:t>
            </a:r>
            <a:r>
              <a:rPr lang="en-US" sz="2000" dirty="0">
                <a:latin typeface="Monaco"/>
                <a:cs typeface="Monaco"/>
              </a:rPr>
              <a:t> USA_CA_San.Francisco.Intl.AP.724940_TMY3.</a:t>
            </a:r>
            <a:r>
              <a:rPr lang="en-US" sz="2000" dirty="0" smtClean="0">
                <a:latin typeface="Monaco"/>
                <a:cs typeface="Monaco"/>
              </a:rPr>
              <a:t>epw</a:t>
            </a:r>
            <a:endParaRPr lang="en-US" sz="2400" dirty="0" smtClean="0">
              <a:latin typeface="Monaco"/>
              <a:cs typeface="Monaco"/>
            </a:endParaRPr>
          </a:p>
          <a:p>
            <a:pPr lvl="0"/>
            <a:r>
              <a:rPr lang="en-US" dirty="0" smtClean="0">
                <a:solidFill>
                  <a:prstClr val="black"/>
                </a:solidFill>
              </a:rPr>
              <a:t>Generate directory “Output/”</a:t>
            </a:r>
            <a:endParaRPr lang="en-US" dirty="0">
              <a:solidFill>
                <a:prstClr val="black"/>
              </a:solidFill>
            </a:endParaRPr>
          </a:p>
          <a:p>
            <a:endParaRPr lang="en-US" sz="2400" dirty="0" smtClean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2978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Temperature data appears in </a:t>
            </a:r>
            <a:r>
              <a:rPr lang="en-US" dirty="0" err="1" smtClean="0"/>
              <a:t>WindACAuto.csv</a:t>
            </a:r>
            <a:endParaRPr lang="en-US" dirty="0" smtClean="0"/>
          </a:p>
          <a:p>
            <a:pPr lvl="1"/>
            <a:r>
              <a:rPr lang="en-US" dirty="0" smtClean="0"/>
              <a:t>Can be imported into excel (choose comma as delimiter)</a:t>
            </a:r>
          </a:p>
          <a:p>
            <a:r>
              <a:rPr lang="en-US" dirty="0" smtClean="0"/>
              <a:t>And many other files</a:t>
            </a:r>
          </a:p>
          <a:p>
            <a:pPr lvl="1"/>
            <a:r>
              <a:rPr lang="en-US" dirty="0" smtClean="0"/>
              <a:t>.</a:t>
            </a:r>
            <a:r>
              <a:rPr lang="en-US" dirty="0" err="1" smtClean="0"/>
              <a:t>svg</a:t>
            </a:r>
            <a:r>
              <a:rPr lang="en-US" dirty="0" smtClean="0"/>
              <a:t> – HVAC diagram</a:t>
            </a:r>
          </a:p>
          <a:p>
            <a:pPr lvl="1"/>
            <a:r>
              <a:rPr lang="en-US" dirty="0" smtClean="0"/>
              <a:t>.</a:t>
            </a:r>
            <a:r>
              <a:rPr lang="en-US" dirty="0" err="1" smtClean="0"/>
              <a:t>mtr</a:t>
            </a:r>
            <a:r>
              <a:rPr lang="en-US" dirty="0" smtClean="0"/>
              <a:t> – raw report meter output</a:t>
            </a:r>
          </a:p>
          <a:p>
            <a:pPr lvl="1"/>
            <a:r>
              <a:rPr lang="en-US" dirty="0" smtClean="0"/>
              <a:t>.err – list of errors and warnings</a:t>
            </a:r>
          </a:p>
          <a:p>
            <a:pPr lvl="1"/>
            <a:r>
              <a:rPr lang="en-US" dirty="0" smtClean="0"/>
              <a:t>And more… (see </a:t>
            </a:r>
            <a:r>
              <a:rPr lang="en-US" dirty="0" err="1" smtClean="0"/>
              <a:t>GettingStarted.pdf</a:t>
            </a:r>
            <a:r>
              <a:rPr lang="en-US" dirty="0" smtClean="0"/>
              <a:t>, page 14)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17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Plot sample from </a:t>
            </a:r>
            <a:r>
              <a:rPr lang="en-US" dirty="0" err="1" smtClean="0"/>
              <a:t>WindACAuto.csv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90409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2498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IDF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Describes everything related to the building</a:t>
            </a:r>
          </a:p>
          <a:p>
            <a:pPr lvl="1"/>
            <a:r>
              <a:rPr lang="en-US" dirty="0" smtClean="0"/>
              <a:t>Wall materials and structure</a:t>
            </a:r>
          </a:p>
          <a:p>
            <a:pPr lvl="1"/>
            <a:r>
              <a:rPr lang="en-US" dirty="0" smtClean="0"/>
              <a:t>Exposure to sunlight</a:t>
            </a:r>
          </a:p>
          <a:p>
            <a:pPr lvl="1"/>
            <a:r>
              <a:rPr lang="en-US" dirty="0" smtClean="0"/>
              <a:t>Zone-based-</a:t>
            </a:r>
          </a:p>
          <a:p>
            <a:pPr lvl="2"/>
            <a:r>
              <a:rPr lang="en-US" dirty="0" smtClean="0"/>
              <a:t>Floor plan definition</a:t>
            </a:r>
          </a:p>
          <a:p>
            <a:pPr lvl="2"/>
            <a:r>
              <a:rPr lang="en-US" dirty="0" smtClean="0"/>
              <a:t>Electric equipment, HVAC</a:t>
            </a:r>
          </a:p>
          <a:p>
            <a:pPr lvl="2"/>
            <a:r>
              <a:rPr lang="en-US" dirty="0" smtClean="0"/>
              <a:t>Occupancy</a:t>
            </a:r>
          </a:p>
          <a:p>
            <a:r>
              <a:rPr lang="en-US" dirty="0" smtClean="0"/>
              <a:t>Output specification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71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EPW (</a:t>
            </a:r>
            <a:r>
              <a:rPr lang="en-US" dirty="0" err="1" smtClean="0"/>
              <a:t>EnergyPlus</a:t>
            </a:r>
            <a:r>
              <a:rPr lang="en-US" dirty="0" smtClean="0"/>
              <a:t> Weather)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Historical weather data</a:t>
            </a:r>
          </a:p>
          <a:p>
            <a:r>
              <a:rPr lang="en-US" dirty="0" smtClean="0"/>
              <a:t>Used for provide environmental weather conditions for simulation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259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</a:t>
            </a:r>
            <a:r>
              <a:rPr lang="en-US" altLang="zh-CN" dirty="0" smtClean="0"/>
              <a:t>reprocessor and Postprocessor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EngeryPlus</a:t>
            </a:r>
            <a:r>
              <a:rPr lang="en-US" dirty="0" smtClean="0"/>
              <a:t> usually works as simulation engine for </a:t>
            </a:r>
            <a:r>
              <a:rPr lang="en-US" dirty="0" err="1" smtClean="0"/>
              <a:t>Sketchup</a:t>
            </a:r>
            <a:r>
              <a:rPr lang="en-US" dirty="0" smtClean="0"/>
              <a:t> and </a:t>
            </a:r>
            <a:r>
              <a:rPr lang="en-US" dirty="0" err="1" smtClean="0"/>
              <a:t>Openstudio</a:t>
            </a:r>
            <a:endParaRPr lang="en-US" dirty="0" smtClean="0"/>
          </a:p>
          <a:p>
            <a:endParaRPr lang="en-US" dirty="0"/>
          </a:p>
          <a:p>
            <a:r>
              <a:rPr lang="en-US" b="1" dirty="0" err="1" smtClean="0"/>
              <a:t>Sketchup</a:t>
            </a:r>
            <a:r>
              <a:rPr lang="en-US" dirty="0" smtClean="0"/>
              <a:t> can be used to design and construct the building</a:t>
            </a:r>
          </a:p>
          <a:p>
            <a:endParaRPr lang="en-US" dirty="0"/>
          </a:p>
          <a:p>
            <a:r>
              <a:rPr lang="en-US" b="1" dirty="0" err="1" smtClean="0"/>
              <a:t>Openstudio</a:t>
            </a:r>
            <a:r>
              <a:rPr lang="en-US" dirty="0" smtClean="0"/>
              <a:t> can be utilized to set the conditions inside the building and generate reports.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43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Sketchup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65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file type of </a:t>
            </a:r>
            <a:r>
              <a:rPr lang="en-US" sz="2400" dirty="0" err="1" smtClean="0"/>
              <a:t>Sketchup</a:t>
            </a:r>
            <a:r>
              <a:rPr lang="en-US" sz="2400" dirty="0" smtClean="0"/>
              <a:t> are .</a:t>
            </a:r>
            <a:r>
              <a:rPr lang="en-US" sz="2400" dirty="0" err="1" smtClean="0"/>
              <a:t>skb</a:t>
            </a:r>
            <a:r>
              <a:rPr lang="en-US" sz="2400" dirty="0" smtClean="0"/>
              <a:t> and .</a:t>
            </a:r>
            <a:r>
              <a:rPr lang="en-US" sz="2400" dirty="0" err="1" smtClean="0"/>
              <a:t>osm</a:t>
            </a:r>
            <a:r>
              <a:rPr lang="en-US" sz="2400" dirty="0" smtClean="0"/>
              <a:t>, can open </a:t>
            </a:r>
            <a:r>
              <a:rPr lang="en-US" sz="2400" dirty="0" err="1" smtClean="0"/>
              <a:t>Energyplus</a:t>
            </a:r>
            <a:r>
              <a:rPr lang="en-US" sz="2400" dirty="0" smtClean="0"/>
              <a:t> .</a:t>
            </a:r>
            <a:r>
              <a:rPr lang="en-US" sz="2400" dirty="0" err="1" smtClean="0"/>
              <a:t>idf</a:t>
            </a:r>
            <a:r>
              <a:rPr lang="en-US" sz="2400" dirty="0" smtClean="0"/>
              <a:t> file and </a:t>
            </a:r>
            <a:r>
              <a:rPr lang="en-US" sz="2400" dirty="0" err="1" smtClean="0"/>
              <a:t>Openstudio</a:t>
            </a:r>
            <a:r>
              <a:rPr lang="en-US" sz="2400" dirty="0" smtClean="0"/>
              <a:t> .</a:t>
            </a:r>
            <a:r>
              <a:rPr lang="en-US" sz="2400" dirty="0" err="1" smtClean="0"/>
              <a:t>osm</a:t>
            </a:r>
            <a:r>
              <a:rPr lang="en-US" sz="2400" dirty="0" smtClean="0"/>
              <a:t> file.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3" y="2478089"/>
            <a:ext cx="4951153" cy="214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39800" y="2108757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</a:t>
            </a:r>
            <a:r>
              <a:rPr lang="en-US" altLang="zh-CN" dirty="0" smtClean="0"/>
              <a:t>mport </a:t>
            </a:r>
            <a:r>
              <a:rPr lang="en-US" altLang="zh-CN" dirty="0" err="1" smtClean="0"/>
              <a:t>Openstudio</a:t>
            </a:r>
            <a:r>
              <a:rPr lang="en-US" altLang="zh-CN" dirty="0" smtClean="0"/>
              <a:t> file: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96900" y="4674158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</a:t>
            </a:r>
            <a:r>
              <a:rPr lang="en-US" altLang="zh-CN" dirty="0" smtClean="0"/>
              <a:t>mport </a:t>
            </a:r>
            <a:r>
              <a:rPr lang="en-US" altLang="zh-CN" dirty="0" err="1" smtClean="0"/>
              <a:t>EngergyPlus</a:t>
            </a:r>
            <a:r>
              <a:rPr lang="en-US" altLang="zh-CN" dirty="0" smtClean="0"/>
              <a:t> file: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163" y="5197475"/>
            <a:ext cx="4181475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椭圆 4"/>
          <p:cNvSpPr/>
          <p:nvPr/>
        </p:nvSpPr>
        <p:spPr>
          <a:xfrm>
            <a:off x="3987800" y="5486400"/>
            <a:ext cx="381000" cy="482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直接箭头连接符 7"/>
          <p:cNvCxnSpPr>
            <a:endCxn id="5" idx="2"/>
          </p:cNvCxnSpPr>
          <p:nvPr/>
        </p:nvCxnSpPr>
        <p:spPr>
          <a:xfrm>
            <a:off x="2336800" y="5695950"/>
            <a:ext cx="1651000" cy="317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45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in </a:t>
            </a:r>
            <a:r>
              <a:rPr lang="en-US" dirty="0" err="1" smtClean="0"/>
              <a:t>Sketchup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618" y="1562100"/>
            <a:ext cx="5270785" cy="275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2615" y="1192768"/>
            <a:ext cx="556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house with roof, wall, window and shades: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618" y="4556887"/>
            <a:ext cx="5270785" cy="2020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620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err="1" smtClean="0"/>
              <a:t>EnergyPlus</a:t>
            </a:r>
            <a:r>
              <a:rPr lang="en-US" dirty="0" smtClean="0"/>
              <a:t> in </a:t>
            </a:r>
            <a:r>
              <a:rPr lang="en-US" dirty="0" err="1" smtClean="0"/>
              <a:t>Sketchup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047875"/>
            <a:ext cx="39909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3187700" y="2452687"/>
            <a:ext cx="431800" cy="493713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直接箭头连接符 5"/>
          <p:cNvCxnSpPr>
            <a:endCxn id="4" idx="1"/>
          </p:cNvCxnSpPr>
          <p:nvPr/>
        </p:nvCxnSpPr>
        <p:spPr>
          <a:xfrm>
            <a:off x="2794000" y="1836738"/>
            <a:ext cx="456936" cy="6882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06500" y="1417638"/>
            <a:ext cx="673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Choose this option will run </a:t>
            </a:r>
            <a:r>
              <a:rPr lang="en-US" dirty="0" err="1" smtClean="0"/>
              <a:t>EnergyPlus</a:t>
            </a:r>
            <a:r>
              <a:rPr lang="en-US" dirty="0" smtClean="0"/>
              <a:t> in the </a:t>
            </a:r>
            <a:r>
              <a:rPr lang="en-US" dirty="0" err="1" smtClean="0"/>
              <a:t>Sketchup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499" y="3009900"/>
            <a:ext cx="4445001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3403600" y="3975100"/>
            <a:ext cx="392430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直接箭头连接符 10"/>
          <p:cNvCxnSpPr>
            <a:endCxn id="8" idx="1"/>
          </p:cNvCxnSpPr>
          <p:nvPr/>
        </p:nvCxnSpPr>
        <p:spPr>
          <a:xfrm>
            <a:off x="2794000" y="4432300"/>
            <a:ext cx="6096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-63500" y="4250034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Choose the .</a:t>
            </a:r>
            <a:r>
              <a:rPr lang="en-US" dirty="0" err="1" smtClean="0"/>
              <a:t>epw</a:t>
            </a:r>
            <a:r>
              <a:rPr lang="en-US" dirty="0" smtClean="0"/>
              <a:t> weather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91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Generate Report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4075"/>
            <a:ext cx="8088313" cy="502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1183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Openstudio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2912" y="1196473"/>
            <a:ext cx="8229600" cy="6477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file type of </a:t>
            </a:r>
            <a:r>
              <a:rPr lang="en-US" sz="2400" dirty="0" err="1" smtClean="0"/>
              <a:t>Openstudio</a:t>
            </a:r>
            <a:r>
              <a:rPr lang="en-US" sz="2400" dirty="0" smtClean="0"/>
              <a:t> is .</a:t>
            </a:r>
            <a:r>
              <a:rPr lang="en-US" sz="2400" dirty="0" err="1" smtClean="0"/>
              <a:t>osm</a:t>
            </a:r>
            <a:r>
              <a:rPr lang="en-US" sz="2400" dirty="0" smtClean="0"/>
              <a:t> file. </a:t>
            </a:r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" y="1844173"/>
            <a:ext cx="8131175" cy="4931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22900" y="2469634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Openstudio</a:t>
            </a:r>
            <a:r>
              <a:rPr lang="en-US" dirty="0" smtClean="0">
                <a:solidFill>
                  <a:srgbClr val="FF0000"/>
                </a:solidFill>
              </a:rPr>
              <a:t> Interface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6300" y="3225800"/>
            <a:ext cx="3949700" cy="142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146800" y="3911600"/>
            <a:ext cx="215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First, need to input the weather .</a:t>
            </a:r>
            <a:r>
              <a:rPr lang="en-US" dirty="0" err="1" smtClean="0"/>
              <a:t>epw</a:t>
            </a:r>
            <a:r>
              <a:rPr lang="en-US" dirty="0" smtClean="0"/>
              <a:t> file and Design days .</a:t>
            </a:r>
            <a:r>
              <a:rPr lang="en-US" dirty="0" err="1" smtClean="0"/>
              <a:t>ddy</a:t>
            </a:r>
            <a:r>
              <a:rPr lang="en-US" dirty="0" smtClean="0"/>
              <a:t> file</a:t>
            </a:r>
            <a:endParaRPr lang="en-US" dirty="0"/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4826000" y="3911600"/>
            <a:ext cx="1320800" cy="6001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146800" y="3911600"/>
            <a:ext cx="2159000" cy="1358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7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for each thermal zone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684338"/>
            <a:ext cx="9048750" cy="4285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8008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for each thermal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638"/>
            <a:ext cx="6515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setting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Thermal Zones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Space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Outdoor 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Electric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Gas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Water Use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004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for the simulation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1417637"/>
            <a:ext cx="6542088" cy="5299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1397000" y="5232400"/>
            <a:ext cx="1193800" cy="635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30200" y="2565400"/>
            <a:ext cx="154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Choose the convergence limits and convergence algorithm in the setting.</a:t>
            </a:r>
            <a:endParaRPr lang="en-US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889000" y="4319726"/>
            <a:ext cx="850900" cy="102697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432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the model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679355"/>
            <a:ext cx="6816724" cy="5062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800100" y="6045200"/>
            <a:ext cx="914400" cy="406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75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417638"/>
            <a:ext cx="7070725" cy="482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622300" y="5918200"/>
            <a:ext cx="927100" cy="495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/>
          <p:cNvSpPr/>
          <p:nvPr/>
        </p:nvSpPr>
        <p:spPr>
          <a:xfrm>
            <a:off x="6527800" y="1549400"/>
            <a:ext cx="1663700" cy="495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7359650" y="952500"/>
            <a:ext cx="146050" cy="5969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43724" y="331569"/>
            <a:ext cx="208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 this to get more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85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5" y="2066925"/>
            <a:ext cx="618172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52500" y="1443038"/>
            <a:ext cx="448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 Flood Plot or Line Plot: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126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88" y="1335088"/>
            <a:ext cx="6067425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47800" y="533400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Flood Plot: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36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0" y="1276350"/>
            <a:ext cx="60864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47800" y="533400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Line Plot: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967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459</Words>
  <Application>Microsoft Office PowerPoint</Application>
  <PresentationFormat>全屏显示(4:3)</PresentationFormat>
  <Paragraphs>100</Paragraphs>
  <Slides>24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5" baseType="lpstr">
      <vt:lpstr>Office Theme</vt:lpstr>
      <vt:lpstr>EnergyPlus 8.2 Getting Started in Command Line</vt:lpstr>
      <vt:lpstr>Installation</vt:lpstr>
      <vt:lpstr>Installation cont’d</vt:lpstr>
      <vt:lpstr>EnergyPlus Dir Hier on Mac</vt:lpstr>
      <vt:lpstr>Run EnergyPlus</vt:lpstr>
      <vt:lpstr>Run EnergyPlus cont’d</vt:lpstr>
      <vt:lpstr>Output files</vt:lpstr>
      <vt:lpstr>Plot sample from WindACAuto.csv </vt:lpstr>
      <vt:lpstr>IDF files</vt:lpstr>
      <vt:lpstr>EPW (EnergyPlus Weather) files</vt:lpstr>
      <vt:lpstr>Preprocessor and Postprocessor</vt:lpstr>
      <vt:lpstr>Sketchup</vt:lpstr>
      <vt:lpstr>An example in Sketchup</vt:lpstr>
      <vt:lpstr>Run EnergyPlus in Sketchup</vt:lpstr>
      <vt:lpstr>Generate Report</vt:lpstr>
      <vt:lpstr>Openstudio</vt:lpstr>
      <vt:lpstr>Setting for each thermal zone</vt:lpstr>
      <vt:lpstr>Setting for each thermal zone</vt:lpstr>
      <vt:lpstr>Setting for the simulation</vt:lpstr>
      <vt:lpstr>Run the model</vt:lpstr>
      <vt:lpstr>Result</vt:lpstr>
      <vt:lpstr>Result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EnergyPlus 8.2 Getting Started in Command Line</dc:title>
  <dc:creator>Hengyang Zhao</dc:creator>
  <cp:lastModifiedBy>Shujuan Wang</cp:lastModifiedBy>
  <cp:revision>18</cp:revision>
  <dcterms:created xsi:type="dcterms:W3CDTF">2015-02-04T23:53:01Z</dcterms:created>
  <dcterms:modified xsi:type="dcterms:W3CDTF">2015-04-26T22:01:46Z</dcterms:modified>
</cp:coreProperties>
</file>