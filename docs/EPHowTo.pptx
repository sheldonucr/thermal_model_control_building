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44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zhao:hello-world:energyplus:Hello:Output:1ZoneUncontrolled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'1ZoneUncontrolled.csv'!$AG$1</c:f>
              <c:strCache>
                <c:ptCount val="1"/>
                <c:pt idx="0">
                  <c:v>ZONE ONE:Zone Mean Air Temperature [C](Hourly)</c:v>
                </c:pt>
              </c:strCache>
            </c:strRef>
          </c:tx>
          <c:spPr>
            <a:ln w="19050">
              <a:solidFill>
                <a:schemeClr val="tx1"/>
              </a:solidFill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c:spPr>
          </c:marker>
          <c:val>
            <c:numRef>
              <c:f>'1ZoneUncontrolled.csv'!$AG$2:$AG$217</c:f>
              <c:numCache>
                <c:formatCode>General</c:formatCode>
                <c:ptCount val="168"/>
                <c:pt idx="0">
                  <c:v>12.2170948167851</c:v>
                </c:pt>
                <c:pt idx="1">
                  <c:v>12.0490280641251</c:v>
                </c:pt>
                <c:pt idx="2">
                  <c:v>11.9633802434301</c:v>
                </c:pt>
                <c:pt idx="3">
                  <c:v>11.7761090014146</c:v>
                </c:pt>
                <c:pt idx="4">
                  <c:v>11.5449010023937</c:v>
                </c:pt>
                <c:pt idx="5">
                  <c:v>11.3437725159014</c:v>
                </c:pt>
                <c:pt idx="6">
                  <c:v>11.1521893057894</c:v>
                </c:pt>
                <c:pt idx="7">
                  <c:v>11.0847777969276</c:v>
                </c:pt>
                <c:pt idx="8">
                  <c:v>11.7696204079768</c:v>
                </c:pt>
                <c:pt idx="9">
                  <c:v>12.6318364043405</c:v>
                </c:pt>
                <c:pt idx="10">
                  <c:v>13.5493620414895</c:v>
                </c:pt>
                <c:pt idx="11">
                  <c:v>13.8890632997197</c:v>
                </c:pt>
                <c:pt idx="12">
                  <c:v>14.0690111688205</c:v>
                </c:pt>
                <c:pt idx="13">
                  <c:v>14.4962183594355</c:v>
                </c:pt>
                <c:pt idx="14">
                  <c:v>15.1058985130511</c:v>
                </c:pt>
                <c:pt idx="15">
                  <c:v>15.1695995739502</c:v>
                </c:pt>
                <c:pt idx="16">
                  <c:v>14.2890428914795</c:v>
                </c:pt>
                <c:pt idx="17">
                  <c:v>13.5756891588505</c:v>
                </c:pt>
                <c:pt idx="18">
                  <c:v>13.2836941412592</c:v>
                </c:pt>
                <c:pt idx="19">
                  <c:v>13.1258664065985</c:v>
                </c:pt>
                <c:pt idx="20">
                  <c:v>12.9926356959061</c:v>
                </c:pt>
                <c:pt idx="21">
                  <c:v>12.8108122916691</c:v>
                </c:pt>
                <c:pt idx="22">
                  <c:v>12.648684947654</c:v>
                </c:pt>
                <c:pt idx="23">
                  <c:v>12.4194131901229</c:v>
                </c:pt>
                <c:pt idx="24">
                  <c:v>12.2794180446961</c:v>
                </c:pt>
                <c:pt idx="25">
                  <c:v>12.1221425025838</c:v>
                </c:pt>
                <c:pt idx="26">
                  <c:v>11.7656229004565</c:v>
                </c:pt>
                <c:pt idx="27">
                  <c:v>11.4937404910116</c:v>
                </c:pt>
                <c:pt idx="28">
                  <c:v>11.277694921305</c:v>
                </c:pt>
                <c:pt idx="29">
                  <c:v>11.2440989302828</c:v>
                </c:pt>
                <c:pt idx="30">
                  <c:v>11.2475806936435</c:v>
                </c:pt>
                <c:pt idx="31">
                  <c:v>11.2435954055981</c:v>
                </c:pt>
                <c:pt idx="32">
                  <c:v>11.5646477577905</c:v>
                </c:pt>
                <c:pt idx="33">
                  <c:v>12.2159750377844</c:v>
                </c:pt>
                <c:pt idx="34">
                  <c:v>12.8314265034225</c:v>
                </c:pt>
                <c:pt idx="35">
                  <c:v>13.4365663368463</c:v>
                </c:pt>
                <c:pt idx="36">
                  <c:v>13.9441220547973</c:v>
                </c:pt>
                <c:pt idx="37">
                  <c:v>14.471163667772</c:v>
                </c:pt>
                <c:pt idx="38">
                  <c:v>14.5964531096911</c:v>
                </c:pt>
                <c:pt idx="39">
                  <c:v>14.5306175616282</c:v>
                </c:pt>
                <c:pt idx="40">
                  <c:v>13.8485666026978</c:v>
                </c:pt>
                <c:pt idx="41">
                  <c:v>13.2155907183192</c:v>
                </c:pt>
                <c:pt idx="42">
                  <c:v>12.8810848077814</c:v>
                </c:pt>
                <c:pt idx="43">
                  <c:v>12.7584436580165</c:v>
                </c:pt>
                <c:pt idx="44">
                  <c:v>12.684216993463</c:v>
                </c:pt>
                <c:pt idx="45">
                  <c:v>12.4658035195364</c:v>
                </c:pt>
                <c:pt idx="46">
                  <c:v>12.2184347378434</c:v>
                </c:pt>
                <c:pt idx="47">
                  <c:v>12.0553579815424</c:v>
                </c:pt>
                <c:pt idx="48">
                  <c:v>11.9498846781596</c:v>
                </c:pt>
                <c:pt idx="49">
                  <c:v>11.9790029210181</c:v>
                </c:pt>
                <c:pt idx="50">
                  <c:v>11.9937463578258</c:v>
                </c:pt>
                <c:pt idx="51">
                  <c:v>12.0392401988601</c:v>
                </c:pt>
                <c:pt idx="52">
                  <c:v>12.148857025472</c:v>
                </c:pt>
                <c:pt idx="53">
                  <c:v>12.1536937142904</c:v>
                </c:pt>
                <c:pt idx="54">
                  <c:v>12.0915510190395</c:v>
                </c:pt>
                <c:pt idx="55">
                  <c:v>12.0296106413577</c:v>
                </c:pt>
                <c:pt idx="56">
                  <c:v>12.2823732748264</c:v>
                </c:pt>
                <c:pt idx="57">
                  <c:v>12.960415461315</c:v>
                </c:pt>
                <c:pt idx="58">
                  <c:v>13.5990101721273</c:v>
                </c:pt>
                <c:pt idx="59">
                  <c:v>13.862920766714</c:v>
                </c:pt>
                <c:pt idx="60">
                  <c:v>14.3809987115764</c:v>
                </c:pt>
                <c:pt idx="61">
                  <c:v>14.986623526872</c:v>
                </c:pt>
                <c:pt idx="62">
                  <c:v>15.3301796742803</c:v>
                </c:pt>
                <c:pt idx="63">
                  <c:v>15.1234954752226</c:v>
                </c:pt>
                <c:pt idx="64">
                  <c:v>14.3806557936924</c:v>
                </c:pt>
                <c:pt idx="65">
                  <c:v>13.8048903925085</c:v>
                </c:pt>
                <c:pt idx="66">
                  <c:v>13.6323276134207</c:v>
                </c:pt>
                <c:pt idx="67">
                  <c:v>13.4291281499559</c:v>
                </c:pt>
                <c:pt idx="68">
                  <c:v>13.2169516137374</c:v>
                </c:pt>
                <c:pt idx="69">
                  <c:v>13.0689550742772</c:v>
                </c:pt>
                <c:pt idx="70">
                  <c:v>12.8745761999641</c:v>
                </c:pt>
                <c:pt idx="71">
                  <c:v>12.8219525386852</c:v>
                </c:pt>
                <c:pt idx="72">
                  <c:v>12.6978549516778</c:v>
                </c:pt>
                <c:pt idx="73">
                  <c:v>12.4176716163482</c:v>
                </c:pt>
                <c:pt idx="74">
                  <c:v>12.2493330307784</c:v>
                </c:pt>
                <c:pt idx="75">
                  <c:v>12.1230040807347</c:v>
                </c:pt>
                <c:pt idx="76">
                  <c:v>11.7714762884399</c:v>
                </c:pt>
                <c:pt idx="77">
                  <c:v>11.5438507158529</c:v>
                </c:pt>
                <c:pt idx="78">
                  <c:v>11.3380993058294</c:v>
                </c:pt>
                <c:pt idx="79">
                  <c:v>11.2280536967891</c:v>
                </c:pt>
                <c:pt idx="80">
                  <c:v>11.6235594827544</c:v>
                </c:pt>
                <c:pt idx="81">
                  <c:v>11.8760683974736</c:v>
                </c:pt>
                <c:pt idx="82">
                  <c:v>12.1607714032658</c:v>
                </c:pt>
                <c:pt idx="83">
                  <c:v>12.8214293858075</c:v>
                </c:pt>
                <c:pt idx="84">
                  <c:v>13.3398157770743</c:v>
                </c:pt>
                <c:pt idx="85">
                  <c:v>13.9158660315276</c:v>
                </c:pt>
                <c:pt idx="86">
                  <c:v>13.9687150361921</c:v>
                </c:pt>
                <c:pt idx="87">
                  <c:v>13.5845742134331</c:v>
                </c:pt>
                <c:pt idx="88">
                  <c:v>12.9876740284254</c:v>
                </c:pt>
                <c:pt idx="89">
                  <c:v>12.4226099372578</c:v>
                </c:pt>
                <c:pt idx="90">
                  <c:v>12.1862398449187</c:v>
                </c:pt>
                <c:pt idx="91">
                  <c:v>12.005633904833</c:v>
                </c:pt>
                <c:pt idx="92">
                  <c:v>11.8849502813716</c:v>
                </c:pt>
                <c:pt idx="93">
                  <c:v>11.8268520307679</c:v>
                </c:pt>
                <c:pt idx="94">
                  <c:v>11.7223325146515</c:v>
                </c:pt>
                <c:pt idx="95">
                  <c:v>11.5930848440474</c:v>
                </c:pt>
                <c:pt idx="96">
                  <c:v>11.5078590242062</c:v>
                </c:pt>
                <c:pt idx="97">
                  <c:v>11.3600714735983</c:v>
                </c:pt>
                <c:pt idx="98">
                  <c:v>11.1363732543697</c:v>
                </c:pt>
                <c:pt idx="99">
                  <c:v>10.7812547496091</c:v>
                </c:pt>
                <c:pt idx="100">
                  <c:v>10.5572897655548</c:v>
                </c:pt>
                <c:pt idx="101">
                  <c:v>10.3202259036543</c:v>
                </c:pt>
                <c:pt idx="102">
                  <c:v>10.1837565351492</c:v>
                </c:pt>
                <c:pt idx="103">
                  <c:v>10.2547143405717</c:v>
                </c:pt>
                <c:pt idx="104">
                  <c:v>10.6111489953617</c:v>
                </c:pt>
                <c:pt idx="105">
                  <c:v>11.0485479033134</c:v>
                </c:pt>
                <c:pt idx="106">
                  <c:v>11.6235707961097</c:v>
                </c:pt>
                <c:pt idx="107">
                  <c:v>12.161132456916</c:v>
                </c:pt>
                <c:pt idx="108">
                  <c:v>12.5653828158742</c:v>
                </c:pt>
                <c:pt idx="109">
                  <c:v>13.1511518410764</c:v>
                </c:pt>
                <c:pt idx="110">
                  <c:v>13.4835065586884</c:v>
                </c:pt>
                <c:pt idx="111">
                  <c:v>13.3787167504371</c:v>
                </c:pt>
                <c:pt idx="112">
                  <c:v>12.6054716776674</c:v>
                </c:pt>
                <c:pt idx="113">
                  <c:v>11.9102265396965</c:v>
                </c:pt>
                <c:pt idx="114">
                  <c:v>11.6881874605057</c:v>
                </c:pt>
                <c:pt idx="115">
                  <c:v>11.4523767414254</c:v>
                </c:pt>
                <c:pt idx="116">
                  <c:v>11.2974006294675</c:v>
                </c:pt>
                <c:pt idx="117">
                  <c:v>11.2260076496149</c:v>
                </c:pt>
                <c:pt idx="118">
                  <c:v>11.1627763495279</c:v>
                </c:pt>
                <c:pt idx="119">
                  <c:v>11.0583419295348</c:v>
                </c:pt>
                <c:pt idx="120">
                  <c:v>10.9282118847894</c:v>
                </c:pt>
                <c:pt idx="121">
                  <c:v>10.8024062881271</c:v>
                </c:pt>
                <c:pt idx="122">
                  <c:v>10.6824575513678</c:v>
                </c:pt>
                <c:pt idx="123">
                  <c:v>10.5775137079108</c:v>
                </c:pt>
                <c:pt idx="124">
                  <c:v>10.4591204911283</c:v>
                </c:pt>
                <c:pt idx="125">
                  <c:v>10.268821500282</c:v>
                </c:pt>
                <c:pt idx="126">
                  <c:v>10.044130640511</c:v>
                </c:pt>
                <c:pt idx="127">
                  <c:v>9.99869012880547</c:v>
                </c:pt>
                <c:pt idx="128">
                  <c:v>10.4975273459358</c:v>
                </c:pt>
                <c:pt idx="129">
                  <c:v>11.114714934253</c:v>
                </c:pt>
                <c:pt idx="130">
                  <c:v>11.2573072758194</c:v>
                </c:pt>
                <c:pt idx="131">
                  <c:v>11.2903882555754</c:v>
                </c:pt>
                <c:pt idx="132">
                  <c:v>11.8922971375262</c:v>
                </c:pt>
                <c:pt idx="133">
                  <c:v>12.6620945241029</c:v>
                </c:pt>
                <c:pt idx="134">
                  <c:v>12.8737204409571</c:v>
                </c:pt>
                <c:pt idx="135">
                  <c:v>12.7932338097101</c:v>
                </c:pt>
                <c:pt idx="136">
                  <c:v>12.0191401530785</c:v>
                </c:pt>
                <c:pt idx="137">
                  <c:v>11.4026875686753</c:v>
                </c:pt>
                <c:pt idx="138">
                  <c:v>11.2642309433061</c:v>
                </c:pt>
                <c:pt idx="139">
                  <c:v>11.0571461702373</c:v>
                </c:pt>
                <c:pt idx="140">
                  <c:v>10.8703651622643</c:v>
                </c:pt>
                <c:pt idx="141">
                  <c:v>10.7521567976441</c:v>
                </c:pt>
                <c:pt idx="142">
                  <c:v>10.7341920140678</c:v>
                </c:pt>
                <c:pt idx="143">
                  <c:v>10.8555659920267</c:v>
                </c:pt>
                <c:pt idx="144">
                  <c:v>10.7757310628752</c:v>
                </c:pt>
                <c:pt idx="145">
                  <c:v>10.7084047806404</c:v>
                </c:pt>
                <c:pt idx="146">
                  <c:v>10.5325344372668</c:v>
                </c:pt>
                <c:pt idx="147">
                  <c:v>10.2749637592295</c:v>
                </c:pt>
                <c:pt idx="148">
                  <c:v>10.171652408675</c:v>
                </c:pt>
                <c:pt idx="149">
                  <c:v>10.1404544293074</c:v>
                </c:pt>
                <c:pt idx="150">
                  <c:v>10.1144345011296</c:v>
                </c:pt>
                <c:pt idx="151">
                  <c:v>10.0871272472044</c:v>
                </c:pt>
                <c:pt idx="152">
                  <c:v>10.2052917004389</c:v>
                </c:pt>
                <c:pt idx="153">
                  <c:v>10.4297398929356</c:v>
                </c:pt>
                <c:pt idx="154">
                  <c:v>10.7661312621116</c:v>
                </c:pt>
                <c:pt idx="155">
                  <c:v>10.6423918721961</c:v>
                </c:pt>
                <c:pt idx="156">
                  <c:v>10.6742360591896</c:v>
                </c:pt>
                <c:pt idx="157">
                  <c:v>11.2753820192992</c:v>
                </c:pt>
                <c:pt idx="158">
                  <c:v>11.5794632573564</c:v>
                </c:pt>
                <c:pt idx="159">
                  <c:v>11.7379795245367</c:v>
                </c:pt>
                <c:pt idx="160">
                  <c:v>11.3036884551315</c:v>
                </c:pt>
                <c:pt idx="161">
                  <c:v>10.7909015542037</c:v>
                </c:pt>
                <c:pt idx="162">
                  <c:v>10.6060584530347</c:v>
                </c:pt>
                <c:pt idx="163">
                  <c:v>10.4720401903293</c:v>
                </c:pt>
                <c:pt idx="164">
                  <c:v>10.3300824209104</c:v>
                </c:pt>
                <c:pt idx="165">
                  <c:v>10.1651886106955</c:v>
                </c:pt>
                <c:pt idx="166">
                  <c:v>10.0179582475104</c:v>
                </c:pt>
                <c:pt idx="167">
                  <c:v>9.95373337170827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14703288"/>
        <c:axId val="-2117753368"/>
      </c:lineChart>
      <c:catAx>
        <c:axId val="-2114703288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7753368"/>
        <c:crosses val="autoZero"/>
        <c:auto val="1"/>
        <c:lblAlgn val="ctr"/>
        <c:lblOffset val="100"/>
        <c:tickLblSkip val="12"/>
        <c:noMultiLvlLbl val="0"/>
      </c:catAx>
      <c:valAx>
        <c:axId val="-2117753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4703288"/>
        <c:crosses val="autoZero"/>
        <c:crossBetween val="between"/>
      </c:valAx>
    </c:plotArea>
    <c:legend>
      <c:legendPos val="tr"/>
      <c:legendEntry>
        <c:idx val="0"/>
        <c:txPr>
          <a:bodyPr/>
          <a:lstStyle/>
          <a:p>
            <a:pPr>
              <a:defRPr sz="1400"/>
            </a:pPr>
            <a:endParaRPr lang="en-US"/>
          </a:p>
        </c:txPr>
      </c:legendEntry>
      <c:layout>
        <c:manualLayout>
          <c:xMode val="edge"/>
          <c:yMode val="edge"/>
          <c:x val="0.441358024691358"/>
          <c:y val="0.739670209411787"/>
          <c:w val="0.503086419753086"/>
          <c:h val="0.0883639570186499"/>
        </c:manualLayout>
      </c:layout>
      <c:overlay val="1"/>
      <c:spPr>
        <a:ln w="6350">
          <a:solidFill>
            <a:schemeClr val="tx1"/>
          </a:solidFill>
        </a:ln>
      </c:spPr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0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4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7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6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89BB0-DB5B-004E-989A-786777F186C4}" type="datetimeFigureOut">
              <a:rPr lang="en-US" smtClean="0"/>
              <a:t>2/4/15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67CC-EB93-1E4D-91AF-3A86424B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3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pps1.eere.energy.gov/buildings/energyplus/register.cfm?goto=eplus" TargetMode="External"/><Relationship Id="rId3" Type="http://schemas.openxmlformats.org/officeDocument/2006/relationships/hyperlink" Target="https://drive.google.com/file/d/0Bzn8tD_Jzg_qbURvcDY2dkR5anM/view?usp=sharin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EnergyPlus</a:t>
            </a:r>
            <a:r>
              <a:rPr lang="en-US" dirty="0" smtClean="0"/>
              <a:t> 8.2</a:t>
            </a:r>
            <a:br>
              <a:rPr lang="en-US" dirty="0" smtClean="0"/>
            </a:br>
            <a:r>
              <a:rPr lang="en-US" sz="3200" dirty="0" smtClean="0"/>
              <a:t>Getting Started in Command Line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Hengyang Zhao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62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</a:t>
            </a:r>
            <a:r>
              <a:rPr lang="en-US" dirty="0" err="1" smtClean="0"/>
              <a:t>MacOS</a:t>
            </a:r>
            <a:endParaRPr lang="en-US" dirty="0"/>
          </a:p>
          <a:p>
            <a:pPr lvl="1"/>
            <a:r>
              <a:rPr lang="en-US" dirty="0" smtClean="0"/>
              <a:t>Apply the </a:t>
            </a:r>
            <a:r>
              <a:rPr lang="en-US" dirty="0" err="1" smtClean="0"/>
              <a:t>dmg</a:t>
            </a:r>
            <a:r>
              <a:rPr lang="en-US" dirty="0" smtClean="0"/>
              <a:t> package at</a:t>
            </a:r>
          </a:p>
          <a:p>
            <a:pPr lvl="2"/>
            <a:r>
              <a:rPr lang="en-US" dirty="0" smtClean="0">
                <a:hlinkClick r:id="rId2"/>
              </a:rPr>
              <a:t>http://apps1.eere.energy.gov/buildings/energyplus/register.cfm?goto=eplus</a:t>
            </a:r>
            <a:endParaRPr lang="en-US" dirty="0" smtClean="0"/>
          </a:p>
          <a:p>
            <a:pPr lvl="1"/>
            <a:r>
              <a:rPr lang="en-US" dirty="0" smtClean="0"/>
              <a:t>Or download from my shared link</a:t>
            </a:r>
          </a:p>
          <a:p>
            <a:pPr lvl="2"/>
            <a:r>
              <a:rPr lang="en-US" dirty="0" smtClean="0">
                <a:hlinkClick r:id="rId3"/>
              </a:rPr>
              <a:t>https://drive.google.com/file/d/0Bzn8tD_Jzg_qbURvcDY2dkR5anM/view?usp=sharing</a:t>
            </a:r>
            <a:endParaRPr lang="en-US" dirty="0" smtClean="0"/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3550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installation, some commands are available:</a:t>
            </a:r>
          </a:p>
          <a:p>
            <a:pPr lvl="1"/>
            <a:r>
              <a:rPr lang="en-US" dirty="0" err="1" smtClean="0"/>
              <a:t>EnergyPlus</a:t>
            </a:r>
            <a:endParaRPr lang="en-US" dirty="0" smtClean="0"/>
          </a:p>
          <a:p>
            <a:pPr lvl="1"/>
            <a:r>
              <a:rPr lang="en-US" dirty="0" err="1" smtClean="0"/>
              <a:t>EPMacro</a:t>
            </a:r>
            <a:endParaRPr lang="en-US" dirty="0" smtClean="0"/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r</a:t>
            </a:r>
            <a:r>
              <a:rPr lang="en-US" dirty="0" err="1" smtClean="0">
                <a:solidFill>
                  <a:srgbClr val="FF0000"/>
                </a:solidFill>
              </a:rPr>
              <a:t>unenergyplus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// we use this for CLI testing</a:t>
            </a:r>
          </a:p>
          <a:p>
            <a:r>
              <a:rPr lang="en-US" dirty="0" smtClean="0"/>
              <a:t>Type in terminal to verify</a:t>
            </a:r>
          </a:p>
          <a:p>
            <a:pPr lvl="1"/>
            <a:r>
              <a:rPr lang="en-US" sz="2400" b="1" dirty="0" err="1" smtClean="0">
                <a:latin typeface="Monaco"/>
                <a:cs typeface="Monaco"/>
              </a:rPr>
              <a:t>runenergyplus</a:t>
            </a:r>
            <a:endParaRPr lang="en-US" b="1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9260132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EnergyPlus</a:t>
            </a:r>
            <a:r>
              <a:rPr lang="en-US" dirty="0" smtClean="0"/>
              <a:t> </a:t>
            </a:r>
            <a:r>
              <a:rPr lang="en-US" dirty="0" err="1" smtClean="0"/>
              <a:t>Dir</a:t>
            </a:r>
            <a:r>
              <a:rPr lang="en-US" dirty="0" smtClean="0"/>
              <a:t> </a:t>
            </a:r>
            <a:r>
              <a:rPr lang="en-US" dirty="0" err="1" smtClean="0"/>
              <a:t>Hier</a:t>
            </a:r>
            <a:r>
              <a:rPr lang="en-US" dirty="0" smtClean="0"/>
              <a:t> on Mac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/Application/EnergyPlus-8.x.y/</a:t>
            </a:r>
          </a:p>
          <a:p>
            <a:pPr lvl="1"/>
            <a:r>
              <a:rPr lang="en-US" dirty="0" err="1" smtClean="0"/>
              <a:t>ExampleFiles</a:t>
            </a:r>
            <a:r>
              <a:rPr lang="en-US" dirty="0" smtClean="0"/>
              <a:t>/</a:t>
            </a:r>
          </a:p>
          <a:p>
            <a:pPr lvl="2"/>
            <a:r>
              <a:rPr lang="en-US" dirty="0" smtClean="0"/>
              <a:t>Example *.</a:t>
            </a:r>
            <a:r>
              <a:rPr lang="en-US" dirty="0" err="1" smtClean="0"/>
              <a:t>idf</a:t>
            </a:r>
            <a:r>
              <a:rPr lang="en-US" dirty="0" smtClean="0"/>
              <a:t> files, describes sample buildings</a:t>
            </a:r>
          </a:p>
          <a:p>
            <a:pPr lvl="1"/>
            <a:r>
              <a:rPr lang="en-US" dirty="0" err="1" smtClean="0"/>
              <a:t>WeatherData</a:t>
            </a:r>
            <a:r>
              <a:rPr lang="en-US" dirty="0" smtClean="0"/>
              <a:t>/</a:t>
            </a:r>
          </a:p>
          <a:p>
            <a:pPr lvl="2"/>
            <a:r>
              <a:rPr lang="en-US" dirty="0" smtClean="0"/>
              <a:t>Example *</a:t>
            </a:r>
            <a:r>
              <a:rPr lang="en-US" dirty="0" err="1" smtClean="0"/>
              <a:t>epw</a:t>
            </a:r>
            <a:r>
              <a:rPr lang="en-US" dirty="0" smtClean="0"/>
              <a:t> files, describes weathers at some example locations</a:t>
            </a:r>
          </a:p>
          <a:p>
            <a:pPr lvl="1"/>
            <a:r>
              <a:rPr lang="en-US" dirty="0" smtClean="0"/>
              <a:t>Documentation/</a:t>
            </a:r>
          </a:p>
          <a:p>
            <a:pPr lvl="1"/>
            <a:r>
              <a:rPr lang="en-US" dirty="0" smtClean="0"/>
              <a:t>. . .</a:t>
            </a:r>
          </a:p>
          <a:p>
            <a:r>
              <a:rPr lang="en-US" dirty="0" smtClean="0"/>
              <a:t>We use *.</a:t>
            </a:r>
            <a:r>
              <a:rPr lang="en-US" dirty="0" err="1" smtClean="0"/>
              <a:t>idf</a:t>
            </a:r>
            <a:r>
              <a:rPr lang="en-US" dirty="0" smtClean="0"/>
              <a:t> and *.</a:t>
            </a:r>
            <a:r>
              <a:rPr lang="en-US" dirty="0" err="1" smtClean="0"/>
              <a:t>epw</a:t>
            </a:r>
            <a:r>
              <a:rPr lang="en-US" dirty="0" smtClean="0"/>
              <a:t> to do the simulations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21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EnergyPlus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 IDF file and EPW file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>
                <a:solidFill>
                  <a:srgbClr val="FF0000"/>
                </a:solidFill>
              </a:rPr>
              <a:t>WindACAuto.idf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to describe building</a:t>
            </a:r>
          </a:p>
          <a:p>
            <a:pPr lvl="2"/>
            <a:r>
              <a:rPr lang="en-US" dirty="0" smtClean="0"/>
              <a:t>Copied from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Applications/EnergyPlus-8-2-7/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ExampleFiles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WindACAuto.idf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 smtClean="0"/>
              <a:t>Using </a:t>
            </a:r>
            <a:r>
              <a:rPr lang="en-US" dirty="0">
                <a:solidFill>
                  <a:srgbClr val="FF0000"/>
                </a:solidFill>
              </a:rPr>
              <a:t>USA_CA_San.Francisco.Intl.AP.724940_TMY3.</a:t>
            </a:r>
            <a:r>
              <a:rPr lang="en-US" dirty="0" smtClean="0">
                <a:solidFill>
                  <a:srgbClr val="FF0000"/>
                </a:solidFill>
              </a:rPr>
              <a:t>epw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 describe weather</a:t>
            </a:r>
          </a:p>
          <a:p>
            <a:pPr lvl="2"/>
            <a:r>
              <a:rPr lang="en-US" dirty="0" smtClean="0"/>
              <a:t>Copied from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/Applications/EnergyPlus-8-2-7/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WeatherData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/USA_CA_San.Francisco.Intl.AP.724940_TMY3.epw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933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err="1" smtClean="0"/>
              <a:t>EnergyPlus</a:t>
            </a:r>
            <a:r>
              <a:rPr lang="en-US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Command format</a:t>
            </a:r>
          </a:p>
          <a:p>
            <a:pPr lvl="1"/>
            <a:r>
              <a:rPr lang="en-US" sz="2000" dirty="0" err="1">
                <a:latin typeface="Monaco"/>
                <a:cs typeface="Monaco"/>
              </a:rPr>
              <a:t>runenergyplus</a:t>
            </a:r>
            <a:r>
              <a:rPr lang="en-US" sz="2000" dirty="0">
                <a:latin typeface="Monaco"/>
                <a:cs typeface="Monaco"/>
              </a:rPr>
              <a:t> </a:t>
            </a:r>
            <a:r>
              <a:rPr lang="en-US" sz="2000" dirty="0" err="1">
                <a:latin typeface="Monaco"/>
                <a:cs typeface="Monaco"/>
              </a:rPr>
              <a:t>InputFileName</a:t>
            </a:r>
            <a:r>
              <a:rPr lang="en-US" sz="2000" dirty="0">
                <a:latin typeface="Monaco"/>
                <a:cs typeface="Monaco"/>
              </a:rPr>
              <a:t> [</a:t>
            </a:r>
            <a:r>
              <a:rPr lang="en-US" sz="2000" dirty="0" err="1">
                <a:latin typeface="Monaco"/>
                <a:cs typeface="Monaco"/>
              </a:rPr>
              <a:t>WeatherFileName</a:t>
            </a:r>
            <a:r>
              <a:rPr lang="en-US" sz="2000" dirty="0">
                <a:latin typeface="Monaco"/>
                <a:cs typeface="Monaco"/>
              </a:rPr>
              <a:t>]</a:t>
            </a:r>
            <a:endParaRPr lang="en-US" sz="2000" dirty="0" smtClean="0">
              <a:latin typeface="Monaco"/>
              <a:cs typeface="Monaco"/>
            </a:endParaRPr>
          </a:p>
          <a:p>
            <a:r>
              <a:rPr lang="en-US" dirty="0" smtClean="0"/>
              <a:t>In this example</a:t>
            </a:r>
          </a:p>
          <a:p>
            <a:pPr lvl="1"/>
            <a:r>
              <a:rPr lang="en-US" sz="2000" dirty="0" err="1" smtClean="0">
                <a:latin typeface="Monaco"/>
                <a:cs typeface="Monaco"/>
              </a:rPr>
              <a:t>runenergyplus</a:t>
            </a:r>
            <a:r>
              <a:rPr lang="en-US" sz="2000" dirty="0" smtClean="0">
                <a:latin typeface="Monaco"/>
                <a:cs typeface="Monaco"/>
              </a:rPr>
              <a:t> </a:t>
            </a:r>
            <a:r>
              <a:rPr lang="en-US" sz="2000" dirty="0" err="1">
                <a:latin typeface="Monaco"/>
                <a:cs typeface="Monaco"/>
              </a:rPr>
              <a:t>WindACAuto.idf</a:t>
            </a:r>
            <a:r>
              <a:rPr lang="en-US" sz="2000" dirty="0">
                <a:latin typeface="Monaco"/>
                <a:cs typeface="Monaco"/>
              </a:rPr>
              <a:t> USA_CA_San.Francisco.Intl.AP.724940_TMY3.</a:t>
            </a:r>
            <a:r>
              <a:rPr lang="en-US" sz="2000" dirty="0" smtClean="0">
                <a:latin typeface="Monaco"/>
                <a:cs typeface="Monaco"/>
              </a:rPr>
              <a:t>epw</a:t>
            </a:r>
            <a:endParaRPr lang="en-US" sz="2400" dirty="0" smtClean="0">
              <a:latin typeface="Monaco"/>
              <a:cs typeface="Monaco"/>
            </a:endParaRPr>
          </a:p>
          <a:p>
            <a:pPr lvl="0"/>
            <a:r>
              <a:rPr lang="en-US" dirty="0" smtClean="0">
                <a:solidFill>
                  <a:prstClr val="black"/>
                </a:solidFill>
              </a:rPr>
              <a:t>Generate directory “Output/”</a:t>
            </a:r>
            <a:endParaRPr lang="en-US" dirty="0">
              <a:solidFill>
                <a:prstClr val="black"/>
              </a:solidFill>
            </a:endParaRPr>
          </a:p>
          <a:p>
            <a:endParaRPr lang="en-US" sz="2400" dirty="0" smtClean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29786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Temperature data appears in </a:t>
            </a:r>
            <a:r>
              <a:rPr lang="en-US" dirty="0" err="1" smtClean="0"/>
              <a:t>WindACAuto.csv</a:t>
            </a:r>
            <a:endParaRPr lang="en-US" dirty="0" smtClean="0"/>
          </a:p>
          <a:p>
            <a:pPr lvl="1"/>
            <a:r>
              <a:rPr lang="en-US" dirty="0" smtClean="0"/>
              <a:t>Can be imported into excel (choose comma as delimiter)</a:t>
            </a:r>
          </a:p>
          <a:p>
            <a:r>
              <a:rPr lang="en-US" dirty="0" smtClean="0"/>
              <a:t>And many other files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svg</a:t>
            </a:r>
            <a:r>
              <a:rPr lang="en-US" dirty="0" smtClean="0"/>
              <a:t> – HVAC diagram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mtr</a:t>
            </a:r>
            <a:r>
              <a:rPr lang="en-US" dirty="0" smtClean="0"/>
              <a:t> – raw report meter output</a:t>
            </a:r>
          </a:p>
          <a:p>
            <a:pPr lvl="1"/>
            <a:r>
              <a:rPr lang="en-US" dirty="0" smtClean="0"/>
              <a:t>.err – list of errors and warnings</a:t>
            </a:r>
          </a:p>
          <a:p>
            <a:pPr lvl="1"/>
            <a:r>
              <a:rPr lang="en-US" dirty="0" smtClean="0"/>
              <a:t>And more… (see </a:t>
            </a:r>
            <a:r>
              <a:rPr lang="en-US" dirty="0" err="1" smtClean="0"/>
              <a:t>GettingStarted.pdf</a:t>
            </a:r>
            <a:r>
              <a:rPr lang="en-US" dirty="0" smtClean="0"/>
              <a:t>, page 14)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772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Plot sample from </a:t>
            </a:r>
            <a:r>
              <a:rPr lang="en-US" dirty="0" err="1" smtClean="0"/>
              <a:t>WindACAuto.csv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9040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4986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IDF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Describes everything related to the building</a:t>
            </a:r>
          </a:p>
          <a:p>
            <a:pPr lvl="1"/>
            <a:r>
              <a:rPr lang="en-US" dirty="0" smtClean="0"/>
              <a:t>Wall materials and structure</a:t>
            </a:r>
          </a:p>
          <a:p>
            <a:pPr lvl="1"/>
            <a:r>
              <a:rPr lang="en-US" dirty="0" smtClean="0"/>
              <a:t>Exposure to sunlight</a:t>
            </a:r>
          </a:p>
          <a:p>
            <a:pPr lvl="1"/>
            <a:r>
              <a:rPr lang="en-US" dirty="0" smtClean="0"/>
              <a:t>Zone-based-</a:t>
            </a:r>
          </a:p>
          <a:p>
            <a:pPr lvl="2"/>
            <a:r>
              <a:rPr lang="en-US" dirty="0" smtClean="0"/>
              <a:t>Floor plan definition</a:t>
            </a:r>
          </a:p>
          <a:p>
            <a:pPr lvl="2"/>
            <a:r>
              <a:rPr lang="en-US" dirty="0" smtClean="0"/>
              <a:t>Electric equipment, HVAC</a:t>
            </a:r>
          </a:p>
          <a:p>
            <a:pPr lvl="2"/>
            <a:r>
              <a:rPr lang="en-US" dirty="0" smtClean="0"/>
              <a:t>Occupancy</a:t>
            </a:r>
          </a:p>
          <a:p>
            <a:r>
              <a:rPr lang="en-US" dirty="0" smtClean="0"/>
              <a:t>Output specification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1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EPW (</a:t>
            </a:r>
            <a:r>
              <a:rPr lang="en-US" dirty="0" err="1" smtClean="0"/>
              <a:t>EnergyPlus</a:t>
            </a:r>
            <a:r>
              <a:rPr lang="en-US" dirty="0" smtClean="0"/>
              <a:t> Weather)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Historical weather data</a:t>
            </a:r>
          </a:p>
          <a:p>
            <a:r>
              <a:rPr lang="en-US" dirty="0" smtClean="0"/>
              <a:t>Used for provide environmental weather conditions for 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25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332</Words>
  <Application>Microsoft Macintosh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EnergyPlus 8.2 Getting Started in Command Line</vt:lpstr>
      <vt:lpstr>Installation</vt:lpstr>
      <vt:lpstr>Installation cont’d</vt:lpstr>
      <vt:lpstr>EnergyPlus Dir Hier on Mac</vt:lpstr>
      <vt:lpstr>Run EnergyPlus</vt:lpstr>
      <vt:lpstr>Run EnergyPlus cont’d</vt:lpstr>
      <vt:lpstr>Output files</vt:lpstr>
      <vt:lpstr>Plot sample from WindACAuto.csv </vt:lpstr>
      <vt:lpstr>IDF files</vt:lpstr>
      <vt:lpstr>EPW (EnergyPlus Weather) files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EnergyPlus 8.2 Getting Started in Command Line</dc:title>
  <dc:creator>Hengyang Zhao</dc:creator>
  <cp:lastModifiedBy>Hengyang Zhao</cp:lastModifiedBy>
  <cp:revision>9</cp:revision>
  <dcterms:created xsi:type="dcterms:W3CDTF">2015-02-04T23:53:01Z</dcterms:created>
  <dcterms:modified xsi:type="dcterms:W3CDTF">2015-02-05T01:38:29Z</dcterms:modified>
</cp:coreProperties>
</file>