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drawings/drawing4.xml" ContentType="application/vnd.openxmlformats-officedocument.drawingml.chartshapes+xml"/>
  <Override PartName="/ppt/charts/chart5.xml" ContentType="application/vnd.openxmlformats-officedocument.drawingml.chart+xml"/>
  <Override PartName="/ppt/drawings/drawing5.xml" ContentType="application/vnd.openxmlformats-officedocument.drawingml.chartshapes+xml"/>
  <Override PartName="/ppt/charts/chart6.xml" ContentType="application/vnd.openxmlformats-officedocument.drawingml.chart+xml"/>
  <Override PartName="/ppt/drawings/drawing6.xml" ContentType="application/vnd.openxmlformats-officedocument.drawingml.chartshapes+xml"/>
  <Override PartName="/ppt/charts/chart7.xml" ContentType="application/vnd.openxmlformats-officedocument.drawingml.chart+xml"/>
  <Override PartName="/ppt/drawings/drawing7.xml" ContentType="application/vnd.openxmlformats-officedocument.drawingml.chartshapes+xml"/>
  <Override PartName="/ppt/charts/chart8.xml" ContentType="application/vnd.openxmlformats-officedocument.drawingml.chart+xml"/>
  <Override PartName="/ppt/drawings/drawing8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57" r:id="rId4"/>
    <p:sldId id="258" r:id="rId5"/>
    <p:sldId id="260" r:id="rId6"/>
    <p:sldId id="259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F:\UCR\course\CS\Computer%20Engineering\2015%20spring\CEproject\report\HVACTemplate-5ZoneFanCoil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F:\UCR\course\CS\Computer%20Engineering\2015%20spring\CEproject\report\HVACTemplate-5ZoneFanCoil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F:\UCR\course\CS\Computer%20Engineering\2015%20spring\CEproject\report\HVACTemplate-5ZoneFanCoil.xlsx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oleObject" Target="file:///F:\UCR\course\CS\Computer%20Engineering\2015%20spring\CEproject\report\HVACTemplate-5ZoneFanCoil.xlsx" TargetMode="External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oleObject" Target="file:///F:\UCR\course\CS\Computer%20Engineering\2015%20spring\CEproject\report\HVACTemplate-5ZoneFanCoil.xlsx" TargetMode="Externa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6.xml"/><Relationship Id="rId1" Type="http://schemas.openxmlformats.org/officeDocument/2006/relationships/oleObject" Target="file:///F:\UCR\course\CS\Computer%20Engineering\2015%20spring\CEproject\report\HVACTemplate-5ZoneFanCoil.xlsx" TargetMode="Externa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7.xml"/><Relationship Id="rId1" Type="http://schemas.openxmlformats.org/officeDocument/2006/relationships/oleObject" Target="file:///F:\UCR\course\CS\Computer%20Engineering\2015%20spring\CEproject\report\HVACTemplate-5ZoneFanCoil.xlsx" TargetMode="Externa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8.xml"/><Relationship Id="rId1" Type="http://schemas.openxmlformats.org/officeDocument/2006/relationships/oleObject" Target="file:///F:\UCR\course\CS\Computer%20Engineering\2015%20spring\CEproject\report\HVACTemplate-5ZoneFanCoi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678204341031565E-2"/>
          <c:y val="2.846166045793045E-2"/>
          <c:w val="0.82518405725977129"/>
          <c:h val="0.87437900719336203"/>
        </c:manualLayout>
      </c:layout>
      <c:scatterChart>
        <c:scatterStyle val="lineMarker"/>
        <c:varyColors val="0"/>
        <c:ser>
          <c:idx val="0"/>
          <c:order val="0"/>
          <c:tx>
            <c:v>outside temperature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'HVACTemplate-5ZoneFanCoil'!$B$2:$B$25</c:f>
              <c:numCache>
                <c:formatCode>General</c:formatCode>
                <c:ptCount val="24"/>
                <c:pt idx="0">
                  <c:v>8.85</c:v>
                </c:pt>
                <c:pt idx="1">
                  <c:v>8.4875000000000007</c:v>
                </c:pt>
                <c:pt idx="2">
                  <c:v>8.2125000000000004</c:v>
                </c:pt>
                <c:pt idx="3">
                  <c:v>8.1125000000000007</c:v>
                </c:pt>
                <c:pt idx="4">
                  <c:v>8.6750000000000007</c:v>
                </c:pt>
                <c:pt idx="5">
                  <c:v>8.2125000000000004</c:v>
                </c:pt>
                <c:pt idx="6">
                  <c:v>7.4249999999999998</c:v>
                </c:pt>
                <c:pt idx="7">
                  <c:v>7.2</c:v>
                </c:pt>
                <c:pt idx="8">
                  <c:v>6.8875000000000002</c:v>
                </c:pt>
                <c:pt idx="9">
                  <c:v>7.0125000000000002</c:v>
                </c:pt>
                <c:pt idx="10">
                  <c:v>7.5750000000000002</c:v>
                </c:pt>
                <c:pt idx="11">
                  <c:v>8.8000000000000007</c:v>
                </c:pt>
                <c:pt idx="12">
                  <c:v>10.4625</c:v>
                </c:pt>
                <c:pt idx="13">
                  <c:v>10.7875</c:v>
                </c:pt>
                <c:pt idx="14">
                  <c:v>10.6</c:v>
                </c:pt>
                <c:pt idx="15">
                  <c:v>10.9125</c:v>
                </c:pt>
                <c:pt idx="16">
                  <c:v>11.7875</c:v>
                </c:pt>
                <c:pt idx="17">
                  <c:v>11.887499999999999</c:v>
                </c:pt>
                <c:pt idx="18">
                  <c:v>11.324999999999999</c:v>
                </c:pt>
                <c:pt idx="19">
                  <c:v>10.7875</c:v>
                </c:pt>
                <c:pt idx="20">
                  <c:v>10.9125</c:v>
                </c:pt>
                <c:pt idx="21">
                  <c:v>11.475</c:v>
                </c:pt>
                <c:pt idx="22">
                  <c:v>11.7</c:v>
                </c:pt>
                <c:pt idx="23">
                  <c:v>11.012499999999999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2324672"/>
        <c:axId val="122325824"/>
      </c:scatterChart>
      <c:valAx>
        <c:axId val="1223246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Time(Hourly)</a:t>
                </a:r>
                <a:endParaRPr lang="zh-CN" altLang="en-US" sz="1400"/>
              </a:p>
            </c:rich>
          </c:tx>
          <c:layout/>
          <c:overlay val="0"/>
        </c:title>
        <c:majorTickMark val="none"/>
        <c:minorTickMark val="none"/>
        <c:tickLblPos val="nextTo"/>
        <c:crossAx val="122325824"/>
        <c:crosses val="autoZero"/>
        <c:crossBetween val="midCat"/>
      </c:valAx>
      <c:valAx>
        <c:axId val="122325824"/>
        <c:scaling>
          <c:orientation val="minMax"/>
          <c:min val="4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Temperature</a:t>
                </a:r>
                <a:endParaRPr lang="zh-CN" altLang="en-US" sz="140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122324672"/>
        <c:crosses val="autoZero"/>
        <c:crossBetween val="midCat"/>
      </c:valAx>
      <c:spPr>
        <a:ln>
          <a:solidFill>
            <a:schemeClr val="tx1"/>
          </a:solidFill>
        </a:ln>
      </c:spPr>
    </c:plotArea>
    <c:legend>
      <c:legendPos val="r"/>
      <c:layout>
        <c:manualLayout>
          <c:xMode val="edge"/>
          <c:yMode val="edge"/>
          <c:x val="0.596156077388728"/>
          <c:y val="0.3683987880648607"/>
          <c:w val="0.27048649934166358"/>
          <c:h val="0.18247439194272261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747273570885661E-2"/>
          <c:y val="2.846166045793045E-2"/>
          <c:w val="0.82518405725977129"/>
          <c:h val="0.87437900719336203"/>
        </c:manualLayout>
      </c:layout>
      <c:scatterChart>
        <c:scatterStyle val="lineMarker"/>
        <c:varyColors val="0"/>
        <c:ser>
          <c:idx val="0"/>
          <c:order val="0"/>
          <c:tx>
            <c:v>space1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'HVACTemplate-5ZoneFanCoil'!$D$2:$D$25</c:f>
              <c:numCache>
                <c:formatCode>General</c:formatCode>
                <c:ptCount val="24"/>
                <c:pt idx="0">
                  <c:v>20.244390370000001</c:v>
                </c:pt>
                <c:pt idx="1">
                  <c:v>19.994696770000001</c:v>
                </c:pt>
                <c:pt idx="2">
                  <c:v>19.89753567</c:v>
                </c:pt>
                <c:pt idx="3">
                  <c:v>19.801548239999999</c:v>
                </c:pt>
                <c:pt idx="4">
                  <c:v>19.77406139</c:v>
                </c:pt>
                <c:pt idx="5">
                  <c:v>19.669947780000001</c:v>
                </c:pt>
                <c:pt idx="6">
                  <c:v>19.54496769</c:v>
                </c:pt>
                <c:pt idx="7">
                  <c:v>22.88331144</c:v>
                </c:pt>
                <c:pt idx="8">
                  <c:v>22.99989996</c:v>
                </c:pt>
                <c:pt idx="9">
                  <c:v>23.000118539999999</c:v>
                </c:pt>
                <c:pt idx="10">
                  <c:v>22.999712809999998</c:v>
                </c:pt>
                <c:pt idx="11">
                  <c:v>23.018302439999999</c:v>
                </c:pt>
                <c:pt idx="12">
                  <c:v>23.18822922</c:v>
                </c:pt>
                <c:pt idx="13">
                  <c:v>23.95543705</c:v>
                </c:pt>
                <c:pt idx="14">
                  <c:v>24.001258419999999</c:v>
                </c:pt>
                <c:pt idx="15">
                  <c:v>23.999526899999999</c:v>
                </c:pt>
                <c:pt idx="16">
                  <c:v>23.924031419999999</c:v>
                </c:pt>
                <c:pt idx="17">
                  <c:v>23.386358770000001</c:v>
                </c:pt>
                <c:pt idx="18">
                  <c:v>23.01436197</c:v>
                </c:pt>
                <c:pt idx="19">
                  <c:v>23.000101539999999</c:v>
                </c:pt>
                <c:pt idx="20">
                  <c:v>23.00001838</c:v>
                </c:pt>
                <c:pt idx="21">
                  <c:v>21.89669589</c:v>
                </c:pt>
                <c:pt idx="22">
                  <c:v>20.938666399999999</c:v>
                </c:pt>
                <c:pt idx="23">
                  <c:v>20.623764390000002</c:v>
                </c:pt>
              </c:numCache>
            </c:numRef>
          </c:yVal>
          <c:smooth val="0"/>
        </c:ser>
        <c:ser>
          <c:idx val="1"/>
          <c:order val="1"/>
          <c:tx>
            <c:v>space2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'HVACTemplate-5ZoneFanCoil'!$E$2:$E$25</c:f>
              <c:numCache>
                <c:formatCode>General</c:formatCode>
                <c:ptCount val="24"/>
                <c:pt idx="0">
                  <c:v>20.288533300000001</c:v>
                </c:pt>
                <c:pt idx="1">
                  <c:v>20.036206880000002</c:v>
                </c:pt>
                <c:pt idx="2">
                  <c:v>19.916990469999998</c:v>
                </c:pt>
                <c:pt idx="3">
                  <c:v>19.822510999999999</c:v>
                </c:pt>
                <c:pt idx="4">
                  <c:v>19.785570209999999</c:v>
                </c:pt>
                <c:pt idx="5">
                  <c:v>19.68781018</c:v>
                </c:pt>
                <c:pt idx="6">
                  <c:v>19.576663199999999</c:v>
                </c:pt>
                <c:pt idx="7">
                  <c:v>22.89324221</c:v>
                </c:pt>
                <c:pt idx="8">
                  <c:v>22.999544220000001</c:v>
                </c:pt>
                <c:pt idx="9">
                  <c:v>22.99959848</c:v>
                </c:pt>
                <c:pt idx="10">
                  <c:v>23.10677828</c:v>
                </c:pt>
                <c:pt idx="11">
                  <c:v>23.762106299999999</c:v>
                </c:pt>
                <c:pt idx="12">
                  <c:v>23.988153929999999</c:v>
                </c:pt>
                <c:pt idx="13">
                  <c:v>23.999782939999999</c:v>
                </c:pt>
                <c:pt idx="14">
                  <c:v>23.981331319999999</c:v>
                </c:pt>
                <c:pt idx="15">
                  <c:v>23.82184157</c:v>
                </c:pt>
                <c:pt idx="16">
                  <c:v>23.380055380000002</c:v>
                </c:pt>
                <c:pt idx="17">
                  <c:v>23.056881539999999</c:v>
                </c:pt>
                <c:pt idx="18">
                  <c:v>23.001136370000001</c:v>
                </c:pt>
                <c:pt idx="19">
                  <c:v>23.000043139999999</c:v>
                </c:pt>
                <c:pt idx="20">
                  <c:v>22.999980359999999</c:v>
                </c:pt>
                <c:pt idx="21">
                  <c:v>21.90253191</c:v>
                </c:pt>
                <c:pt idx="22">
                  <c:v>20.9758283</c:v>
                </c:pt>
                <c:pt idx="23">
                  <c:v>20.657653960000001</c:v>
                </c:pt>
              </c:numCache>
            </c:numRef>
          </c:yVal>
          <c:smooth val="0"/>
        </c:ser>
        <c:ser>
          <c:idx val="2"/>
          <c:order val="2"/>
          <c:tx>
            <c:v>space3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'HVACTemplate-5ZoneFanCoil'!$F$2:$F$25</c:f>
              <c:numCache>
                <c:formatCode>General</c:formatCode>
                <c:ptCount val="24"/>
                <c:pt idx="0">
                  <c:v>20.203025019999998</c:v>
                </c:pt>
                <c:pt idx="1">
                  <c:v>19.957087680000001</c:v>
                </c:pt>
                <c:pt idx="2">
                  <c:v>19.854638999999999</c:v>
                </c:pt>
                <c:pt idx="3">
                  <c:v>19.76827179</c:v>
                </c:pt>
                <c:pt idx="4">
                  <c:v>19.752982209999999</c:v>
                </c:pt>
                <c:pt idx="5">
                  <c:v>19.650378870000001</c:v>
                </c:pt>
                <c:pt idx="6">
                  <c:v>19.538141589999999</c:v>
                </c:pt>
                <c:pt idx="7">
                  <c:v>22.880674500000001</c:v>
                </c:pt>
                <c:pt idx="8">
                  <c:v>22.999941830000001</c:v>
                </c:pt>
                <c:pt idx="9">
                  <c:v>22.999984019999999</c:v>
                </c:pt>
                <c:pt idx="10">
                  <c:v>22.99987488</c:v>
                </c:pt>
                <c:pt idx="11">
                  <c:v>22.999525129999999</c:v>
                </c:pt>
                <c:pt idx="12">
                  <c:v>23.000171290000001</c:v>
                </c:pt>
                <c:pt idx="13">
                  <c:v>23.30900888</c:v>
                </c:pt>
                <c:pt idx="14">
                  <c:v>23.40208135</c:v>
                </c:pt>
                <c:pt idx="15">
                  <c:v>23.391353219999999</c:v>
                </c:pt>
                <c:pt idx="16">
                  <c:v>23.065355230000002</c:v>
                </c:pt>
                <c:pt idx="17">
                  <c:v>23.000486089999999</c:v>
                </c:pt>
                <c:pt idx="18">
                  <c:v>23.000017249999999</c:v>
                </c:pt>
                <c:pt idx="19">
                  <c:v>23.0000094</c:v>
                </c:pt>
                <c:pt idx="20">
                  <c:v>23.000025180000002</c:v>
                </c:pt>
                <c:pt idx="21">
                  <c:v>21.864382190000001</c:v>
                </c:pt>
                <c:pt idx="22">
                  <c:v>20.893274600000002</c:v>
                </c:pt>
                <c:pt idx="23">
                  <c:v>20.59027596</c:v>
                </c:pt>
              </c:numCache>
            </c:numRef>
          </c:yVal>
          <c:smooth val="0"/>
        </c:ser>
        <c:ser>
          <c:idx val="3"/>
          <c:order val="3"/>
          <c:tx>
            <c:v>space4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'HVACTemplate-5ZoneFanCoil'!$G$2:$G$25</c:f>
              <c:numCache>
                <c:formatCode>General</c:formatCode>
                <c:ptCount val="24"/>
                <c:pt idx="0">
                  <c:v>20.28885884</c:v>
                </c:pt>
                <c:pt idx="1">
                  <c:v>20.04262937</c:v>
                </c:pt>
                <c:pt idx="2">
                  <c:v>19.921736769999999</c:v>
                </c:pt>
                <c:pt idx="3">
                  <c:v>19.819598899999999</c:v>
                </c:pt>
                <c:pt idx="4">
                  <c:v>19.789114319999999</c:v>
                </c:pt>
                <c:pt idx="5">
                  <c:v>19.68808198</c:v>
                </c:pt>
                <c:pt idx="6">
                  <c:v>19.58365259</c:v>
                </c:pt>
                <c:pt idx="7">
                  <c:v>22.89445547</c:v>
                </c:pt>
                <c:pt idx="8">
                  <c:v>22.999539500000001</c:v>
                </c:pt>
                <c:pt idx="9">
                  <c:v>23.000138809999999</c:v>
                </c:pt>
                <c:pt idx="10">
                  <c:v>23.000144039999999</c:v>
                </c:pt>
                <c:pt idx="11">
                  <c:v>22.999812309999999</c:v>
                </c:pt>
                <c:pt idx="12">
                  <c:v>23.00025565</c:v>
                </c:pt>
                <c:pt idx="13">
                  <c:v>23.326188340000002</c:v>
                </c:pt>
                <c:pt idx="14">
                  <c:v>23.514336499999999</c:v>
                </c:pt>
                <c:pt idx="15">
                  <c:v>23.808307159999998</c:v>
                </c:pt>
                <c:pt idx="16">
                  <c:v>23.586410990000001</c:v>
                </c:pt>
                <c:pt idx="17">
                  <c:v>23.14964677</c:v>
                </c:pt>
                <c:pt idx="18">
                  <c:v>23.006114579999998</c:v>
                </c:pt>
                <c:pt idx="19">
                  <c:v>23.00032397</c:v>
                </c:pt>
                <c:pt idx="20">
                  <c:v>22.99998545</c:v>
                </c:pt>
                <c:pt idx="21">
                  <c:v>21.90821481</c:v>
                </c:pt>
                <c:pt idx="22">
                  <c:v>20.980785969999999</c:v>
                </c:pt>
                <c:pt idx="23">
                  <c:v>20.65806237</c:v>
                </c:pt>
              </c:numCache>
            </c:numRef>
          </c:yVal>
          <c:smooth val="0"/>
        </c:ser>
        <c:ser>
          <c:idx val="4"/>
          <c:order val="4"/>
          <c:tx>
            <c:v>space5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'HVACTemplate-5ZoneFanCoil'!$H$2:$H$25</c:f>
              <c:numCache>
                <c:formatCode>General</c:formatCode>
                <c:ptCount val="24"/>
                <c:pt idx="0">
                  <c:v>21.2681781</c:v>
                </c:pt>
                <c:pt idx="1">
                  <c:v>21.101862430000001</c:v>
                </c:pt>
                <c:pt idx="2">
                  <c:v>21.024898270000001</c:v>
                </c:pt>
                <c:pt idx="3">
                  <c:v>20.948819820000001</c:v>
                </c:pt>
                <c:pt idx="4">
                  <c:v>20.896667010000002</c:v>
                </c:pt>
                <c:pt idx="5">
                  <c:v>20.784977919999999</c:v>
                </c:pt>
                <c:pt idx="6">
                  <c:v>20.700514699999999</c:v>
                </c:pt>
                <c:pt idx="7">
                  <c:v>22.933008640000001</c:v>
                </c:pt>
                <c:pt idx="8">
                  <c:v>23.000204750000002</c:v>
                </c:pt>
                <c:pt idx="9">
                  <c:v>23.00009275</c:v>
                </c:pt>
                <c:pt idx="10">
                  <c:v>22.999523450000002</c:v>
                </c:pt>
                <c:pt idx="11">
                  <c:v>23.00005698</c:v>
                </c:pt>
                <c:pt idx="12">
                  <c:v>23.000570920000001</c:v>
                </c:pt>
                <c:pt idx="13">
                  <c:v>23.141159200000001</c:v>
                </c:pt>
                <c:pt idx="14">
                  <c:v>23.394978529999999</c:v>
                </c:pt>
                <c:pt idx="15">
                  <c:v>23.46669369</c:v>
                </c:pt>
                <c:pt idx="16">
                  <c:v>23.408270559999998</c:v>
                </c:pt>
                <c:pt idx="17">
                  <c:v>23.347787350000001</c:v>
                </c:pt>
                <c:pt idx="18">
                  <c:v>23.01762437</c:v>
                </c:pt>
                <c:pt idx="19">
                  <c:v>23.00002396</c:v>
                </c:pt>
                <c:pt idx="20">
                  <c:v>23.000104100000001</c:v>
                </c:pt>
                <c:pt idx="21">
                  <c:v>22.5289772</c:v>
                </c:pt>
                <c:pt idx="22">
                  <c:v>21.87223105</c:v>
                </c:pt>
                <c:pt idx="23">
                  <c:v>21.56802738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2329280"/>
        <c:axId val="122329856"/>
      </c:scatterChart>
      <c:valAx>
        <c:axId val="12232928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Time(Hourly)</a:t>
                </a:r>
                <a:endParaRPr lang="zh-CN" altLang="en-US" sz="1400"/>
              </a:p>
            </c:rich>
          </c:tx>
          <c:layout/>
          <c:overlay val="0"/>
        </c:title>
        <c:majorTickMark val="none"/>
        <c:minorTickMark val="none"/>
        <c:tickLblPos val="nextTo"/>
        <c:crossAx val="122329856"/>
        <c:crosses val="autoZero"/>
        <c:crossBetween val="midCat"/>
      </c:valAx>
      <c:valAx>
        <c:axId val="12232985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Temperature</a:t>
                </a:r>
                <a:endParaRPr lang="zh-CN" altLang="en-US" sz="140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122329280"/>
        <c:crosses val="autoZero"/>
        <c:crossBetween val="midCat"/>
      </c:valAx>
      <c:spPr>
        <a:ln>
          <a:solidFill>
            <a:schemeClr val="tx1"/>
          </a:solidFill>
        </a:ln>
      </c:spPr>
    </c:plotArea>
    <c:legend>
      <c:legendPos val="r"/>
      <c:layout>
        <c:manualLayout>
          <c:xMode val="edge"/>
          <c:yMode val="edge"/>
          <c:x val="0.72564353258393033"/>
          <c:y val="0.51370895949081685"/>
          <c:w val="6.6260382735710013E-2"/>
          <c:h val="0.18247439194272261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747273570885661E-2"/>
          <c:y val="2.846166045793045E-2"/>
          <c:w val="0.82518405725977129"/>
          <c:h val="0.87437900719336203"/>
        </c:manualLayout>
      </c:layout>
      <c:scatterChart>
        <c:scatterStyle val="lineMarker"/>
        <c:varyColors val="0"/>
        <c:ser>
          <c:idx val="0"/>
          <c:order val="0"/>
          <c:tx>
            <c:v>outside temperature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'HVACTemplate-5ZoneFanCoil'!$B$26:$B$49</c:f>
              <c:numCache>
                <c:formatCode>General</c:formatCode>
                <c:ptCount val="24"/>
                <c:pt idx="0">
                  <c:v>13.862500000000001</c:v>
                </c:pt>
                <c:pt idx="1">
                  <c:v>13.05</c:v>
                </c:pt>
                <c:pt idx="2">
                  <c:v>12.7125</c:v>
                </c:pt>
                <c:pt idx="3">
                  <c:v>12.35</c:v>
                </c:pt>
                <c:pt idx="4">
                  <c:v>12.574999999999999</c:v>
                </c:pt>
                <c:pt idx="5">
                  <c:v>13.112500000000001</c:v>
                </c:pt>
                <c:pt idx="6">
                  <c:v>13.675000000000001</c:v>
                </c:pt>
                <c:pt idx="7">
                  <c:v>14.15</c:v>
                </c:pt>
                <c:pt idx="8">
                  <c:v>14.487500000000001</c:v>
                </c:pt>
                <c:pt idx="9">
                  <c:v>14.85</c:v>
                </c:pt>
                <c:pt idx="10">
                  <c:v>15.6875</c:v>
                </c:pt>
                <c:pt idx="11">
                  <c:v>16.787500000000001</c:v>
                </c:pt>
                <c:pt idx="12">
                  <c:v>17.887499999999999</c:v>
                </c:pt>
                <c:pt idx="13">
                  <c:v>18.425000000000001</c:v>
                </c:pt>
                <c:pt idx="14">
                  <c:v>18.625</c:v>
                </c:pt>
                <c:pt idx="15">
                  <c:v>18.824999999999999</c:v>
                </c:pt>
                <c:pt idx="16">
                  <c:v>18.212499999999999</c:v>
                </c:pt>
                <c:pt idx="17">
                  <c:v>17.112500000000001</c:v>
                </c:pt>
                <c:pt idx="18">
                  <c:v>16.012499999999999</c:v>
                </c:pt>
                <c:pt idx="19">
                  <c:v>15.6</c:v>
                </c:pt>
                <c:pt idx="20">
                  <c:v>15.6</c:v>
                </c:pt>
                <c:pt idx="21">
                  <c:v>15.6</c:v>
                </c:pt>
                <c:pt idx="22">
                  <c:v>15.35</c:v>
                </c:pt>
                <c:pt idx="23">
                  <c:v>14.95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1230528"/>
        <c:axId val="122326976"/>
      </c:scatterChart>
      <c:valAx>
        <c:axId val="13123052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Time(Hourly)</a:t>
                </a:r>
                <a:endParaRPr lang="zh-CN" altLang="en-US" sz="1400"/>
              </a:p>
            </c:rich>
          </c:tx>
          <c:layout/>
          <c:overlay val="0"/>
        </c:title>
        <c:majorTickMark val="none"/>
        <c:minorTickMark val="none"/>
        <c:tickLblPos val="nextTo"/>
        <c:crossAx val="122326976"/>
        <c:crosses val="autoZero"/>
        <c:crossBetween val="midCat"/>
      </c:valAx>
      <c:valAx>
        <c:axId val="122326976"/>
        <c:scaling>
          <c:orientation val="minMax"/>
          <c:min val="8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Temperature</a:t>
                </a:r>
                <a:endParaRPr lang="zh-CN" altLang="en-US" sz="140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131230528"/>
        <c:crosses val="autoZero"/>
        <c:crossBetween val="midCat"/>
      </c:valAx>
      <c:spPr>
        <a:ln>
          <a:solidFill>
            <a:schemeClr val="tx1"/>
          </a:solidFill>
        </a:ln>
      </c:spPr>
    </c:plotArea>
    <c:legend>
      <c:legendPos val="r"/>
      <c:layout>
        <c:manualLayout>
          <c:xMode val="edge"/>
          <c:yMode val="edge"/>
          <c:x val="0.6069408363930211"/>
          <c:y val="0.54801830552194541"/>
          <c:w val="0.20987599047285951"/>
          <c:h val="0.18247439194272261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747273570885661E-2"/>
          <c:y val="2.846166045793045E-2"/>
          <c:w val="0.82518405725977129"/>
          <c:h val="0.87437900719336203"/>
        </c:manualLayout>
      </c:layout>
      <c:scatterChart>
        <c:scatterStyle val="lineMarker"/>
        <c:varyColors val="0"/>
        <c:ser>
          <c:idx val="0"/>
          <c:order val="0"/>
          <c:tx>
            <c:v>space1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'HVACTemplate-5ZoneFanCoil'!$D$26:$D$49</c:f>
              <c:numCache>
                <c:formatCode>General</c:formatCode>
                <c:ptCount val="24"/>
                <c:pt idx="0">
                  <c:v>22.064899950000001</c:v>
                </c:pt>
                <c:pt idx="1">
                  <c:v>21.838879250000002</c:v>
                </c:pt>
                <c:pt idx="2">
                  <c:v>21.70808478</c:v>
                </c:pt>
                <c:pt idx="3">
                  <c:v>21.603408300000002</c:v>
                </c:pt>
                <c:pt idx="4">
                  <c:v>21.545486310000001</c:v>
                </c:pt>
                <c:pt idx="5">
                  <c:v>21.573672519999999</c:v>
                </c:pt>
                <c:pt idx="6">
                  <c:v>21.70605003</c:v>
                </c:pt>
                <c:pt idx="7">
                  <c:v>22.98256666</c:v>
                </c:pt>
                <c:pt idx="8">
                  <c:v>23.322522110000001</c:v>
                </c:pt>
                <c:pt idx="9">
                  <c:v>23.957778359999999</c:v>
                </c:pt>
                <c:pt idx="10">
                  <c:v>23.999425670000001</c:v>
                </c:pt>
                <c:pt idx="11">
                  <c:v>24.000380830000001</c:v>
                </c:pt>
                <c:pt idx="12">
                  <c:v>24.001156989999998</c:v>
                </c:pt>
                <c:pt idx="13">
                  <c:v>23.999855140000001</c:v>
                </c:pt>
                <c:pt idx="14">
                  <c:v>24.000279679999998</c:v>
                </c:pt>
                <c:pt idx="15">
                  <c:v>24.000335799999998</c:v>
                </c:pt>
                <c:pt idx="16">
                  <c:v>23.999013550000001</c:v>
                </c:pt>
                <c:pt idx="17">
                  <c:v>23.999316390000001</c:v>
                </c:pt>
                <c:pt idx="18">
                  <c:v>23.940678330000001</c:v>
                </c:pt>
                <c:pt idx="19">
                  <c:v>23.136838180000002</c:v>
                </c:pt>
                <c:pt idx="20">
                  <c:v>23.00013599</c:v>
                </c:pt>
                <c:pt idx="21">
                  <c:v>22.871874739999999</c:v>
                </c:pt>
                <c:pt idx="22">
                  <c:v>22.53678575</c:v>
                </c:pt>
                <c:pt idx="23">
                  <c:v>22.300323930000001</c:v>
                </c:pt>
              </c:numCache>
            </c:numRef>
          </c:yVal>
          <c:smooth val="0"/>
        </c:ser>
        <c:ser>
          <c:idx val="1"/>
          <c:order val="1"/>
          <c:tx>
            <c:v>space2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'HVACTemplate-5ZoneFanCoil'!$E$26:$E$49</c:f>
              <c:numCache>
                <c:formatCode>General</c:formatCode>
                <c:ptCount val="24"/>
                <c:pt idx="0">
                  <c:v>22.12586993</c:v>
                </c:pt>
                <c:pt idx="1">
                  <c:v>21.912945830000002</c:v>
                </c:pt>
                <c:pt idx="2">
                  <c:v>21.77685297</c:v>
                </c:pt>
                <c:pt idx="3">
                  <c:v>21.667025370000001</c:v>
                </c:pt>
                <c:pt idx="4">
                  <c:v>21.601503959999999</c:v>
                </c:pt>
                <c:pt idx="5">
                  <c:v>21.651666429999999</c:v>
                </c:pt>
                <c:pt idx="6">
                  <c:v>21.935847330000001</c:v>
                </c:pt>
                <c:pt idx="7">
                  <c:v>22.977827560000001</c:v>
                </c:pt>
                <c:pt idx="8">
                  <c:v>23.786144579999998</c:v>
                </c:pt>
                <c:pt idx="9">
                  <c:v>23.9985067</c:v>
                </c:pt>
                <c:pt idx="10">
                  <c:v>24.000635519999999</c:v>
                </c:pt>
                <c:pt idx="11">
                  <c:v>24.001216830000001</c:v>
                </c:pt>
                <c:pt idx="12">
                  <c:v>24.00076078</c:v>
                </c:pt>
                <c:pt idx="13">
                  <c:v>23.99985904</c:v>
                </c:pt>
                <c:pt idx="14">
                  <c:v>23.999898420000001</c:v>
                </c:pt>
                <c:pt idx="15">
                  <c:v>24.000497509999999</c:v>
                </c:pt>
                <c:pt idx="16">
                  <c:v>23.999646009999999</c:v>
                </c:pt>
                <c:pt idx="17">
                  <c:v>24.00096383</c:v>
                </c:pt>
                <c:pt idx="18">
                  <c:v>23.985895679999999</c:v>
                </c:pt>
                <c:pt idx="19">
                  <c:v>23.25715301</c:v>
                </c:pt>
                <c:pt idx="20">
                  <c:v>23.002617099999998</c:v>
                </c:pt>
                <c:pt idx="21">
                  <c:v>22.93882996</c:v>
                </c:pt>
                <c:pt idx="22">
                  <c:v>22.602009750000001</c:v>
                </c:pt>
                <c:pt idx="23">
                  <c:v>22.355118439999998</c:v>
                </c:pt>
              </c:numCache>
            </c:numRef>
          </c:yVal>
          <c:smooth val="0"/>
        </c:ser>
        <c:ser>
          <c:idx val="2"/>
          <c:order val="2"/>
          <c:tx>
            <c:v>space3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'HVACTemplate-5ZoneFanCoil'!$F$26:$F$49</c:f>
              <c:numCache>
                <c:formatCode>General</c:formatCode>
                <c:ptCount val="24"/>
                <c:pt idx="0">
                  <c:v>22.052523140000002</c:v>
                </c:pt>
                <c:pt idx="1">
                  <c:v>21.83523263</c:v>
                </c:pt>
                <c:pt idx="2">
                  <c:v>21.703945229999999</c:v>
                </c:pt>
                <c:pt idx="3">
                  <c:v>21.59748578</c:v>
                </c:pt>
                <c:pt idx="4">
                  <c:v>21.540803560000001</c:v>
                </c:pt>
                <c:pt idx="5">
                  <c:v>21.611044140000001</c:v>
                </c:pt>
                <c:pt idx="6">
                  <c:v>21.917748750000001</c:v>
                </c:pt>
                <c:pt idx="7">
                  <c:v>22.987424440000002</c:v>
                </c:pt>
                <c:pt idx="8">
                  <c:v>23.77266156</c:v>
                </c:pt>
                <c:pt idx="9">
                  <c:v>23.998342350000001</c:v>
                </c:pt>
                <c:pt idx="10">
                  <c:v>24.000396110000001</c:v>
                </c:pt>
                <c:pt idx="11">
                  <c:v>24.000726910000001</c:v>
                </c:pt>
                <c:pt idx="12">
                  <c:v>24.000235450000002</c:v>
                </c:pt>
                <c:pt idx="13">
                  <c:v>24.000487339999999</c:v>
                </c:pt>
                <c:pt idx="14">
                  <c:v>24.00006402</c:v>
                </c:pt>
                <c:pt idx="15">
                  <c:v>23.99960991</c:v>
                </c:pt>
                <c:pt idx="16">
                  <c:v>23.999637310000001</c:v>
                </c:pt>
                <c:pt idx="17">
                  <c:v>23.99973039</c:v>
                </c:pt>
                <c:pt idx="18">
                  <c:v>23.958658419999999</c:v>
                </c:pt>
                <c:pt idx="19">
                  <c:v>23.156245890000001</c:v>
                </c:pt>
                <c:pt idx="20">
                  <c:v>23.000040179999999</c:v>
                </c:pt>
                <c:pt idx="21">
                  <c:v>22.861340049999999</c:v>
                </c:pt>
                <c:pt idx="22">
                  <c:v>22.51614378</c:v>
                </c:pt>
                <c:pt idx="23">
                  <c:v>22.278949730000001</c:v>
                </c:pt>
              </c:numCache>
            </c:numRef>
          </c:yVal>
          <c:smooth val="0"/>
        </c:ser>
        <c:ser>
          <c:idx val="3"/>
          <c:order val="3"/>
          <c:tx>
            <c:v>space4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'HVACTemplate-5ZoneFanCoil'!$G$26:$G$49</c:f>
              <c:numCache>
                <c:formatCode>General</c:formatCode>
                <c:ptCount val="24"/>
                <c:pt idx="0">
                  <c:v>22.144871080000001</c:v>
                </c:pt>
                <c:pt idx="1">
                  <c:v>21.92144995</c:v>
                </c:pt>
                <c:pt idx="2">
                  <c:v>21.780637259999999</c:v>
                </c:pt>
                <c:pt idx="3">
                  <c:v>21.668652600000001</c:v>
                </c:pt>
                <c:pt idx="4">
                  <c:v>21.600481309999999</c:v>
                </c:pt>
                <c:pt idx="5">
                  <c:v>21.63650204</c:v>
                </c:pt>
                <c:pt idx="6">
                  <c:v>21.82842531</c:v>
                </c:pt>
                <c:pt idx="7">
                  <c:v>22.96903051</c:v>
                </c:pt>
                <c:pt idx="8">
                  <c:v>23.479366899999999</c:v>
                </c:pt>
                <c:pt idx="9">
                  <c:v>23.969254190000001</c:v>
                </c:pt>
                <c:pt idx="10">
                  <c:v>23.998463279999999</c:v>
                </c:pt>
                <c:pt idx="11">
                  <c:v>24.000503500000001</c:v>
                </c:pt>
                <c:pt idx="12">
                  <c:v>24.000050819999998</c:v>
                </c:pt>
                <c:pt idx="13">
                  <c:v>23.999734740000001</c:v>
                </c:pt>
                <c:pt idx="14">
                  <c:v>23.999534090000001</c:v>
                </c:pt>
                <c:pt idx="15">
                  <c:v>24.001578649999999</c:v>
                </c:pt>
                <c:pt idx="16">
                  <c:v>24.00005655</c:v>
                </c:pt>
                <c:pt idx="17">
                  <c:v>23.999838520000001</c:v>
                </c:pt>
                <c:pt idx="18">
                  <c:v>24.000385390000002</c:v>
                </c:pt>
                <c:pt idx="19">
                  <c:v>23.519621109999999</c:v>
                </c:pt>
                <c:pt idx="20">
                  <c:v>23.035822580000001</c:v>
                </c:pt>
                <c:pt idx="21">
                  <c:v>23.024741259999999</c:v>
                </c:pt>
                <c:pt idx="22">
                  <c:v>22.66168708</c:v>
                </c:pt>
                <c:pt idx="23">
                  <c:v>22.39095597</c:v>
                </c:pt>
              </c:numCache>
            </c:numRef>
          </c:yVal>
          <c:smooth val="0"/>
        </c:ser>
        <c:ser>
          <c:idx val="4"/>
          <c:order val="4"/>
          <c:tx>
            <c:v>space5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'HVACTemplate-5ZoneFanCoil'!$H$26:$H$49</c:f>
              <c:numCache>
                <c:formatCode>General</c:formatCode>
                <c:ptCount val="24"/>
                <c:pt idx="0">
                  <c:v>22.878979690000001</c:v>
                </c:pt>
                <c:pt idx="1">
                  <c:v>22.698734730000002</c:v>
                </c:pt>
                <c:pt idx="2">
                  <c:v>22.605879659999999</c:v>
                </c:pt>
                <c:pt idx="3">
                  <c:v>22.53117512</c:v>
                </c:pt>
                <c:pt idx="4">
                  <c:v>22.473544650000001</c:v>
                </c:pt>
                <c:pt idx="5">
                  <c:v>22.43553047</c:v>
                </c:pt>
                <c:pt idx="6">
                  <c:v>22.42595322</c:v>
                </c:pt>
                <c:pt idx="7">
                  <c:v>22.994522119999999</c:v>
                </c:pt>
                <c:pt idx="8">
                  <c:v>23.472709269999999</c:v>
                </c:pt>
                <c:pt idx="9">
                  <c:v>23.980978740000001</c:v>
                </c:pt>
                <c:pt idx="10">
                  <c:v>24.000276499999998</c:v>
                </c:pt>
                <c:pt idx="11">
                  <c:v>23.99963279</c:v>
                </c:pt>
                <c:pt idx="12">
                  <c:v>23.99908464</c:v>
                </c:pt>
                <c:pt idx="13">
                  <c:v>23.999843200000001</c:v>
                </c:pt>
                <c:pt idx="14">
                  <c:v>24.000928550000001</c:v>
                </c:pt>
                <c:pt idx="15">
                  <c:v>24.000031320000002</c:v>
                </c:pt>
                <c:pt idx="16">
                  <c:v>23.998936010000001</c:v>
                </c:pt>
                <c:pt idx="17">
                  <c:v>24.000474789999998</c:v>
                </c:pt>
                <c:pt idx="18">
                  <c:v>23.98581708</c:v>
                </c:pt>
                <c:pt idx="19">
                  <c:v>23.20962579</c:v>
                </c:pt>
                <c:pt idx="20">
                  <c:v>23.000617429999998</c:v>
                </c:pt>
                <c:pt idx="21">
                  <c:v>23.382643869999999</c:v>
                </c:pt>
                <c:pt idx="22">
                  <c:v>23.305556129999999</c:v>
                </c:pt>
                <c:pt idx="23">
                  <c:v>23.078201279999998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2327552"/>
        <c:axId val="122328704"/>
      </c:scatterChart>
      <c:valAx>
        <c:axId val="122327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Time(Hourly)</a:t>
                </a:r>
                <a:endParaRPr lang="zh-CN" altLang="en-US" sz="1400"/>
              </a:p>
            </c:rich>
          </c:tx>
          <c:layout/>
          <c:overlay val="0"/>
        </c:title>
        <c:majorTickMark val="none"/>
        <c:minorTickMark val="none"/>
        <c:tickLblPos val="nextTo"/>
        <c:crossAx val="122328704"/>
        <c:crosses val="autoZero"/>
        <c:crossBetween val="midCat"/>
      </c:valAx>
      <c:valAx>
        <c:axId val="12232870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Temperature</a:t>
                </a:r>
                <a:endParaRPr lang="zh-CN" altLang="en-US" sz="140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122327552"/>
        <c:crosses val="autoZero"/>
        <c:crossBetween val="midCat"/>
      </c:valAx>
      <c:spPr>
        <a:ln>
          <a:solidFill>
            <a:schemeClr val="tx1"/>
          </a:solidFill>
        </a:ln>
      </c:spPr>
    </c:plotArea>
    <c:legend>
      <c:legendPos val="r"/>
      <c:layout>
        <c:manualLayout>
          <c:xMode val="edge"/>
          <c:yMode val="edge"/>
          <c:x val="0.57323513253634317"/>
          <c:y val="0.62874617853636561"/>
          <c:w val="6.6260382735710013E-2"/>
          <c:h val="0.18247439194272261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747273570885661E-2"/>
          <c:y val="2.846166045793045E-2"/>
          <c:w val="0.82518405725977129"/>
          <c:h val="0.87437900719336203"/>
        </c:manualLayout>
      </c:layout>
      <c:scatterChart>
        <c:scatterStyle val="lineMarker"/>
        <c:varyColors val="0"/>
        <c:ser>
          <c:idx val="0"/>
          <c:order val="0"/>
          <c:tx>
            <c:v>space1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'HVACTemplate-5ZoneFanCoil'!$AN$2:$AN$25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50.141349570000003</c:v>
                </c:pt>
                <c:pt idx="8">
                  <c:v>242.76309989999999</c:v>
                </c:pt>
                <c:pt idx="9">
                  <c:v>1068.372711</c:v>
                </c:pt>
                <c:pt idx="10">
                  <c:v>1411.191421</c:v>
                </c:pt>
                <c:pt idx="11">
                  <c:v>1643.5608520000001</c:v>
                </c:pt>
                <c:pt idx="12">
                  <c:v>1610.2577220000001</c:v>
                </c:pt>
                <c:pt idx="13">
                  <c:v>2005.2107189999999</c:v>
                </c:pt>
                <c:pt idx="14">
                  <c:v>2039.0984129999999</c:v>
                </c:pt>
                <c:pt idx="15">
                  <c:v>2437.7133250000002</c:v>
                </c:pt>
                <c:pt idx="16">
                  <c:v>1585.6518140000001</c:v>
                </c:pt>
                <c:pt idx="17">
                  <c:v>1395.1518610000001</c:v>
                </c:pt>
                <c:pt idx="18">
                  <c:v>613.66259130000003</c:v>
                </c:pt>
                <c:pt idx="19">
                  <c:v>73.804769719999996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v>space2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'HVACTemplate-5ZoneFanCoil'!$AO$2:$AO$25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209.6119324</c:v>
                </c:pt>
                <c:pt idx="9">
                  <c:v>623.35118980000004</c:v>
                </c:pt>
                <c:pt idx="10">
                  <c:v>863.23368430000005</c:v>
                </c:pt>
                <c:pt idx="11">
                  <c:v>907.94657989999996</c:v>
                </c:pt>
                <c:pt idx="12">
                  <c:v>786.61771759999999</c:v>
                </c:pt>
                <c:pt idx="13">
                  <c:v>832.737391</c:v>
                </c:pt>
                <c:pt idx="14">
                  <c:v>754.09595479999996</c:v>
                </c:pt>
                <c:pt idx="15">
                  <c:v>712.72709459999999</c:v>
                </c:pt>
                <c:pt idx="16">
                  <c:v>619.5544572</c:v>
                </c:pt>
                <c:pt idx="17">
                  <c:v>583.86748609999995</c:v>
                </c:pt>
                <c:pt idx="18">
                  <c:v>242.79345140000001</c:v>
                </c:pt>
                <c:pt idx="19">
                  <c:v>17.763940340000001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v>space3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'HVACTemplate-5ZoneFanCoil'!$AP$2:$AP$25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45.01792493</c:v>
                </c:pt>
                <c:pt idx="8">
                  <c:v>320.23722450000002</c:v>
                </c:pt>
                <c:pt idx="9">
                  <c:v>1171.514398</c:v>
                </c:pt>
                <c:pt idx="10">
                  <c:v>1467.461953</c:v>
                </c:pt>
                <c:pt idx="11">
                  <c:v>1538.589142</c:v>
                </c:pt>
                <c:pt idx="12">
                  <c:v>1385.8605580000001</c:v>
                </c:pt>
                <c:pt idx="13">
                  <c:v>1572.5252599999999</c:v>
                </c:pt>
                <c:pt idx="14">
                  <c:v>1602.22765</c:v>
                </c:pt>
                <c:pt idx="15">
                  <c:v>1553.0478149999999</c:v>
                </c:pt>
                <c:pt idx="16">
                  <c:v>1339.441564</c:v>
                </c:pt>
                <c:pt idx="17">
                  <c:v>1215.97299</c:v>
                </c:pt>
                <c:pt idx="18">
                  <c:v>491.03785809999999</c:v>
                </c:pt>
                <c:pt idx="19">
                  <c:v>21.963614589999999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3"/>
          <c:order val="3"/>
          <c:tx>
            <c:v>space4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'HVACTemplate-5ZoneFanCoil'!$AQ$2:$AQ$25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118.3453852</c:v>
                </c:pt>
                <c:pt idx="9">
                  <c:v>508.98712239999998</c:v>
                </c:pt>
                <c:pt idx="10">
                  <c:v>650.18292229999997</c:v>
                </c:pt>
                <c:pt idx="11">
                  <c:v>689.53313060000005</c:v>
                </c:pt>
                <c:pt idx="12">
                  <c:v>628.16409859999999</c:v>
                </c:pt>
                <c:pt idx="13">
                  <c:v>713.59567990000005</c:v>
                </c:pt>
                <c:pt idx="14">
                  <c:v>731.60433320000004</c:v>
                </c:pt>
                <c:pt idx="15">
                  <c:v>739.64775970000005</c:v>
                </c:pt>
                <c:pt idx="16">
                  <c:v>623.14057839999998</c:v>
                </c:pt>
                <c:pt idx="17">
                  <c:v>592.22750980000001</c:v>
                </c:pt>
                <c:pt idx="18">
                  <c:v>253.05311169999999</c:v>
                </c:pt>
                <c:pt idx="19">
                  <c:v>22.95865972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4"/>
          <c:order val="4"/>
          <c:tx>
            <c:v>space5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'HVACTemplate-5ZoneFanCoil'!$AR$2:$AR$25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8.3727255070000002</c:v>
                </c:pt>
                <c:pt idx="8">
                  <c:v>1533.4467090000001</c:v>
                </c:pt>
                <c:pt idx="9">
                  <c:v>2636.1578519999998</c:v>
                </c:pt>
                <c:pt idx="10">
                  <c:v>2890.3346940000001</c:v>
                </c:pt>
                <c:pt idx="11">
                  <c:v>2783.2022750000001</c:v>
                </c:pt>
                <c:pt idx="12">
                  <c:v>2317.2857439999998</c:v>
                </c:pt>
                <c:pt idx="13">
                  <c:v>2825.6378690000001</c:v>
                </c:pt>
                <c:pt idx="14">
                  <c:v>2936.4465829999999</c:v>
                </c:pt>
                <c:pt idx="15">
                  <c:v>2870.0807479999999</c:v>
                </c:pt>
                <c:pt idx="16">
                  <c:v>2646.735995</c:v>
                </c:pt>
                <c:pt idx="17">
                  <c:v>2605.351991</c:v>
                </c:pt>
                <c:pt idx="18">
                  <c:v>1483.870441</c:v>
                </c:pt>
                <c:pt idx="19">
                  <c:v>691.46373419999998</c:v>
                </c:pt>
                <c:pt idx="20">
                  <c:v>564.05572470000004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9095616"/>
        <c:axId val="99096768"/>
      </c:scatterChart>
      <c:valAx>
        <c:axId val="9909561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Time(Hourly)</a:t>
                </a:r>
                <a:endParaRPr lang="zh-CN" altLang="en-US" sz="1400"/>
              </a:p>
            </c:rich>
          </c:tx>
          <c:layout/>
          <c:overlay val="0"/>
        </c:title>
        <c:majorTickMark val="none"/>
        <c:minorTickMark val="none"/>
        <c:tickLblPos val="nextTo"/>
        <c:crossAx val="99096768"/>
        <c:crosses val="autoZero"/>
        <c:crossBetween val="midCat"/>
      </c:valAx>
      <c:valAx>
        <c:axId val="99096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Sensible</a:t>
                </a:r>
                <a:r>
                  <a:rPr lang="en-US" altLang="zh-CN" sz="1400" baseline="0"/>
                  <a:t> Cooling Rate (w)</a:t>
                </a:r>
                <a:endParaRPr lang="zh-CN" altLang="en-US" sz="140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99095616"/>
        <c:crosses val="autoZero"/>
        <c:crossBetween val="midCat"/>
      </c:valAx>
      <c:spPr>
        <a:ln>
          <a:solidFill>
            <a:schemeClr val="tx1"/>
          </a:solidFill>
        </a:ln>
      </c:spPr>
    </c:plotArea>
    <c:legend>
      <c:legendPos val="r"/>
      <c:layout>
        <c:manualLayout>
          <c:xMode val="edge"/>
          <c:yMode val="edge"/>
          <c:x val="0.70805794796305499"/>
          <c:y val="0.5177453531415378"/>
          <c:w val="6.6260382735710013E-2"/>
          <c:h val="0.18247439194272261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747273570885661E-2"/>
          <c:y val="2.846166045793045E-2"/>
          <c:w val="0.82518405725977129"/>
          <c:h val="0.87437900719336203"/>
        </c:manualLayout>
      </c:layout>
      <c:scatterChart>
        <c:scatterStyle val="lineMarker"/>
        <c:varyColors val="0"/>
        <c:ser>
          <c:idx val="0"/>
          <c:order val="0"/>
          <c:tx>
            <c:v>space1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'HVACTemplate-5ZoneFanCoil'!$AT$2:$AT$25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1910.949323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2.696469827</c:v>
                </c:pt>
                <c:pt idx="20">
                  <c:v>69.294626289999997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v>space2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'HVACTemplate-5ZoneFanCoil'!$AU$2:$AU$25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810.560788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5.3376986180000001</c:v>
                </c:pt>
                <c:pt idx="20">
                  <c:v>44.431746390000001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v>space3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'HVACTemplate-5ZoneFanCoil'!$AV$2:$AV$25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1879.7662580000001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25.660830189999999</c:v>
                </c:pt>
                <c:pt idx="20">
                  <c:v>110.6369363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3"/>
          <c:order val="3"/>
          <c:tx>
            <c:v>space4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'HVACTemplate-5ZoneFanCoil'!$AW$2:$AW$25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853.50892769999996</c:v>
                </c:pt>
                <c:pt idx="8">
                  <c:v>0.88194089600000003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3.6610000120000001</c:v>
                </c:pt>
                <c:pt idx="20">
                  <c:v>40.777890589999998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4"/>
          <c:order val="4"/>
          <c:tx>
            <c:v>space5</c:v>
          </c:tx>
          <c:spPr>
            <a:ln w="28575">
              <a:noFill/>
            </a:ln>
          </c:spPr>
          <c:xVal>
            <c:strRef>
              <c:f>'HVACTemplate-5ZoneFanCoil'!$A$2:$A$25</c:f>
              <c:strCache>
                <c:ptCount val="24"/>
                <c:pt idx="0">
                  <c:v> 01/14  01:00:00</c:v>
                </c:pt>
                <c:pt idx="1">
                  <c:v> 01/14  02:00:00</c:v>
                </c:pt>
                <c:pt idx="2">
                  <c:v> 01/14  03:00:00</c:v>
                </c:pt>
                <c:pt idx="3">
                  <c:v> 01/14  04:00:00</c:v>
                </c:pt>
                <c:pt idx="4">
                  <c:v> 01/14  05:00:00</c:v>
                </c:pt>
                <c:pt idx="5">
                  <c:v> 01/14  06:00:00</c:v>
                </c:pt>
                <c:pt idx="6">
                  <c:v> 01/14  07:00:00</c:v>
                </c:pt>
                <c:pt idx="7">
                  <c:v> 01/14  08:00:00</c:v>
                </c:pt>
                <c:pt idx="8">
                  <c:v> 01/14  09:00:00</c:v>
                </c:pt>
                <c:pt idx="9">
                  <c:v> 01/14  10:00:00</c:v>
                </c:pt>
                <c:pt idx="10">
                  <c:v> 01/14  11:00:00</c:v>
                </c:pt>
                <c:pt idx="11">
                  <c:v> 01/14  12:00:00</c:v>
                </c:pt>
                <c:pt idx="12">
                  <c:v> 01/14  13:00:00</c:v>
                </c:pt>
                <c:pt idx="13">
                  <c:v> 01/14  14:00:00</c:v>
                </c:pt>
                <c:pt idx="14">
                  <c:v> 01/14  15:00:00</c:v>
                </c:pt>
                <c:pt idx="15">
                  <c:v> 01/14  16:00:00</c:v>
                </c:pt>
                <c:pt idx="16">
                  <c:v> 01/14  17:00:00</c:v>
                </c:pt>
                <c:pt idx="17">
                  <c:v> 01/14  18:00:00</c:v>
                </c:pt>
                <c:pt idx="18">
                  <c:v> 01/14  19:00:00</c:v>
                </c:pt>
                <c:pt idx="19">
                  <c:v> 01/14  20:00:00</c:v>
                </c:pt>
                <c:pt idx="20">
                  <c:v> 01/14  21:00:00</c:v>
                </c:pt>
                <c:pt idx="21">
                  <c:v> 01/14  22:00:00</c:v>
                </c:pt>
                <c:pt idx="22">
                  <c:v> 01/14  23:00:00</c:v>
                </c:pt>
                <c:pt idx="23">
                  <c:v> 01/14  24:00:00</c:v>
                </c:pt>
              </c:strCache>
            </c:strRef>
          </c:xVal>
          <c:yVal>
            <c:numRef>
              <c:f>'HVACTemplate-5ZoneFanCoil'!$AX$2:$AX$25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1737.857659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1234560"/>
        <c:axId val="132137536"/>
      </c:scatterChart>
      <c:valAx>
        <c:axId val="1312345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Time(Hourly)</a:t>
                </a:r>
                <a:endParaRPr lang="zh-CN" altLang="en-US" sz="1400"/>
              </a:p>
            </c:rich>
          </c:tx>
          <c:layout/>
          <c:overlay val="0"/>
        </c:title>
        <c:majorTickMark val="none"/>
        <c:minorTickMark val="none"/>
        <c:tickLblPos val="nextTo"/>
        <c:crossAx val="132137536"/>
        <c:crosses val="autoZero"/>
        <c:crossBetween val="midCat"/>
      </c:valAx>
      <c:valAx>
        <c:axId val="1321375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Sensible</a:t>
                </a:r>
                <a:r>
                  <a:rPr lang="en-US" altLang="zh-CN" sz="1400" baseline="0"/>
                  <a:t> heating Rate (w)</a:t>
                </a:r>
                <a:endParaRPr lang="zh-CN" altLang="en-US" sz="140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131234560"/>
        <c:crosses val="autoZero"/>
        <c:crossBetween val="midCat"/>
      </c:valAx>
      <c:spPr>
        <a:ln>
          <a:solidFill>
            <a:schemeClr val="tx1"/>
          </a:solidFill>
        </a:ln>
      </c:spPr>
    </c:plotArea>
    <c:legend>
      <c:legendPos val="r"/>
      <c:layout>
        <c:manualLayout>
          <c:xMode val="edge"/>
          <c:yMode val="edge"/>
          <c:x val="0.70805794796305499"/>
          <c:y val="0.5177453531415378"/>
          <c:w val="6.6260382735710013E-2"/>
          <c:h val="0.18247439194272261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747273570885661E-2"/>
          <c:y val="2.846166045793045E-2"/>
          <c:w val="0.82518405725977129"/>
          <c:h val="0.87437900719336203"/>
        </c:manualLayout>
      </c:layout>
      <c:scatterChart>
        <c:scatterStyle val="lineMarker"/>
        <c:varyColors val="0"/>
        <c:ser>
          <c:idx val="0"/>
          <c:order val="0"/>
          <c:tx>
            <c:v>space1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'HVACTemplate-5ZoneFanCoil'!$AN$26:$AN$49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62.898232219999997</c:v>
                </c:pt>
                <c:pt idx="8">
                  <c:v>1122.289685</c:v>
                </c:pt>
                <c:pt idx="9">
                  <c:v>1609.555613</c:v>
                </c:pt>
                <c:pt idx="10">
                  <c:v>2005.3187740000001</c:v>
                </c:pt>
                <c:pt idx="11">
                  <c:v>2152.3790909999998</c:v>
                </c:pt>
                <c:pt idx="12">
                  <c:v>2016.9576930000001</c:v>
                </c:pt>
                <c:pt idx="13">
                  <c:v>2411.9783130000001</c:v>
                </c:pt>
                <c:pt idx="14">
                  <c:v>2613.670443</c:v>
                </c:pt>
                <c:pt idx="15">
                  <c:v>2557.7988909999999</c:v>
                </c:pt>
                <c:pt idx="16">
                  <c:v>2249.4464210000001</c:v>
                </c:pt>
                <c:pt idx="17">
                  <c:v>1993.0227239999999</c:v>
                </c:pt>
                <c:pt idx="18">
                  <c:v>1040.110723</c:v>
                </c:pt>
                <c:pt idx="19">
                  <c:v>822.47490530000005</c:v>
                </c:pt>
                <c:pt idx="20">
                  <c:v>575.75727159999997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v>space2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'HVACTemplate-5ZoneFanCoil'!$AO$26:$AO$49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47.984591960000003</c:v>
                </c:pt>
                <c:pt idx="8">
                  <c:v>647.66472610000005</c:v>
                </c:pt>
                <c:pt idx="9">
                  <c:v>1062.4963600000001</c:v>
                </c:pt>
                <c:pt idx="10">
                  <c:v>1399.387469</c:v>
                </c:pt>
                <c:pt idx="11">
                  <c:v>1452.9649910000001</c:v>
                </c:pt>
                <c:pt idx="12">
                  <c:v>1209.9526510000001</c:v>
                </c:pt>
                <c:pt idx="13">
                  <c:v>1263.574296</c:v>
                </c:pt>
                <c:pt idx="14">
                  <c:v>1291.532741</c:v>
                </c:pt>
                <c:pt idx="15">
                  <c:v>1225.638794</c:v>
                </c:pt>
                <c:pt idx="16">
                  <c:v>1081.0517809999999</c:v>
                </c:pt>
                <c:pt idx="17">
                  <c:v>964.56174899999996</c:v>
                </c:pt>
                <c:pt idx="18">
                  <c:v>499.94628799999998</c:v>
                </c:pt>
                <c:pt idx="19">
                  <c:v>377.89159949999998</c:v>
                </c:pt>
                <c:pt idx="20">
                  <c:v>276.11125800000002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v>space3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'HVACTemplate-5ZoneFanCoil'!$AP$26:$AP$49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116.542441</c:v>
                </c:pt>
                <c:pt idx="8">
                  <c:v>1311.072508</c:v>
                </c:pt>
                <c:pt idx="9">
                  <c:v>1986.097021</c:v>
                </c:pt>
                <c:pt idx="10">
                  <c:v>2341.8450819999998</c:v>
                </c:pt>
                <c:pt idx="11">
                  <c:v>2465.9590360000002</c:v>
                </c:pt>
                <c:pt idx="12">
                  <c:v>2239.1957130000001</c:v>
                </c:pt>
                <c:pt idx="13">
                  <c:v>2579.4071220000001</c:v>
                </c:pt>
                <c:pt idx="14">
                  <c:v>2727.6487470000002</c:v>
                </c:pt>
                <c:pt idx="15">
                  <c:v>2626.085865</c:v>
                </c:pt>
                <c:pt idx="16">
                  <c:v>2325.2200579999999</c:v>
                </c:pt>
                <c:pt idx="17">
                  <c:v>2082.7881929999999</c:v>
                </c:pt>
                <c:pt idx="18">
                  <c:v>1071.8680400000001</c:v>
                </c:pt>
                <c:pt idx="19">
                  <c:v>828.43308379999996</c:v>
                </c:pt>
                <c:pt idx="20">
                  <c:v>576.81987000000004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3"/>
          <c:order val="3"/>
          <c:tx>
            <c:v>space4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'HVACTemplate-5ZoneFanCoil'!$AQ$26:$AQ$49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17.036740479999999</c:v>
                </c:pt>
                <c:pt idx="8">
                  <c:v>533.17727990000003</c:v>
                </c:pt>
                <c:pt idx="9">
                  <c:v>803.47357199999999</c:v>
                </c:pt>
                <c:pt idx="10">
                  <c:v>1004.274239</c:v>
                </c:pt>
                <c:pt idx="11">
                  <c:v>1098.8934240000001</c:v>
                </c:pt>
                <c:pt idx="12">
                  <c:v>1020.884926</c:v>
                </c:pt>
                <c:pt idx="13">
                  <c:v>1288.9718459999999</c:v>
                </c:pt>
                <c:pt idx="14">
                  <c:v>1627.0022630000001</c:v>
                </c:pt>
                <c:pt idx="15">
                  <c:v>1847.687218</c:v>
                </c:pt>
                <c:pt idx="16">
                  <c:v>1711.2716539999999</c:v>
                </c:pt>
                <c:pt idx="17">
                  <c:v>1433.1060359999999</c:v>
                </c:pt>
                <c:pt idx="18">
                  <c:v>688.86927460000004</c:v>
                </c:pt>
                <c:pt idx="19">
                  <c:v>402.84979060000001</c:v>
                </c:pt>
                <c:pt idx="20">
                  <c:v>318.4803776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4"/>
          <c:order val="4"/>
          <c:tx>
            <c:v>space5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'HVACTemplate-5ZoneFanCoil'!$AR$26:$AR$49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109.8380978</c:v>
                </c:pt>
                <c:pt idx="8">
                  <c:v>2074.1445979999999</c:v>
                </c:pt>
                <c:pt idx="9">
                  <c:v>2967.0260520000002</c:v>
                </c:pt>
                <c:pt idx="10">
                  <c:v>3268.0494899999999</c:v>
                </c:pt>
                <c:pt idx="11">
                  <c:v>3201.0524559999999</c:v>
                </c:pt>
                <c:pt idx="12">
                  <c:v>2757.549172</c:v>
                </c:pt>
                <c:pt idx="13">
                  <c:v>3338.6597569999999</c:v>
                </c:pt>
                <c:pt idx="14">
                  <c:v>3624.1523739999998</c:v>
                </c:pt>
                <c:pt idx="15">
                  <c:v>3577.2835540000001</c:v>
                </c:pt>
                <c:pt idx="16">
                  <c:v>3302.197377</c:v>
                </c:pt>
                <c:pt idx="17">
                  <c:v>3248.4680680000001</c:v>
                </c:pt>
                <c:pt idx="18">
                  <c:v>1929.984604</c:v>
                </c:pt>
                <c:pt idx="19">
                  <c:v>1680.2233590000001</c:v>
                </c:pt>
                <c:pt idx="20">
                  <c:v>1401.6522669999999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2144448"/>
        <c:axId val="137904128"/>
      </c:scatterChart>
      <c:valAx>
        <c:axId val="13214444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Time(Hourly)</a:t>
                </a:r>
                <a:endParaRPr lang="zh-CN" altLang="en-US" sz="1400"/>
              </a:p>
            </c:rich>
          </c:tx>
          <c:layout/>
          <c:overlay val="0"/>
        </c:title>
        <c:majorTickMark val="none"/>
        <c:minorTickMark val="none"/>
        <c:tickLblPos val="nextTo"/>
        <c:crossAx val="137904128"/>
        <c:crosses val="autoZero"/>
        <c:crossBetween val="midCat"/>
      </c:valAx>
      <c:valAx>
        <c:axId val="13790412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Sensible</a:t>
                </a:r>
                <a:r>
                  <a:rPr lang="en-US" altLang="zh-CN" sz="1400" baseline="0"/>
                  <a:t> Cooling Rate (w)</a:t>
                </a:r>
                <a:endParaRPr lang="zh-CN" altLang="en-US" sz="140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132144448"/>
        <c:crosses val="autoZero"/>
        <c:crossBetween val="midCat"/>
      </c:valAx>
      <c:spPr>
        <a:ln>
          <a:solidFill>
            <a:schemeClr val="tx1"/>
          </a:solidFill>
        </a:ln>
      </c:spPr>
    </c:plotArea>
    <c:legend>
      <c:legendPos val="r"/>
      <c:layout>
        <c:manualLayout>
          <c:xMode val="edge"/>
          <c:yMode val="edge"/>
          <c:x val="0.70805794796305499"/>
          <c:y val="0.5177453531415378"/>
          <c:w val="6.6260382735710013E-2"/>
          <c:h val="0.18247439194272261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747273570885661E-2"/>
          <c:y val="2.846166045793045E-2"/>
          <c:w val="0.82518405725977129"/>
          <c:h val="0.87437900719336203"/>
        </c:manualLayout>
      </c:layout>
      <c:scatterChart>
        <c:scatterStyle val="lineMarker"/>
        <c:varyColors val="0"/>
        <c:ser>
          <c:idx val="0"/>
          <c:order val="0"/>
          <c:tx>
            <c:v>space1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'HVACTemplate-5ZoneFanCoil'!$AT$26:$AT$49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347.28390830000001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v>space2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'HVACTemplate-5ZoneFanCoil'!$AU$26:$AU$49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60.363453790000001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v>space3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'HVACTemplate-5ZoneFanCoil'!$AV$26:$AV$49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166.39844239999999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3"/>
          <c:order val="3"/>
          <c:tx>
            <c:v>space4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'HVACTemplate-5ZoneFanCoil'!$AW$26:$AW$49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99.663968729999993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ser>
          <c:idx val="4"/>
          <c:order val="4"/>
          <c:tx>
            <c:v>space5</c:v>
          </c:tx>
          <c:spPr>
            <a:ln w="28575">
              <a:noFill/>
            </a:ln>
          </c:spPr>
          <c:xVal>
            <c:strRef>
              <c:f>'HVACTemplate-5ZoneFanCoil'!$A$26:$A$49</c:f>
              <c:strCache>
                <c:ptCount val="24"/>
                <c:pt idx="0">
                  <c:v> 07/07  01:00:00</c:v>
                </c:pt>
                <c:pt idx="1">
                  <c:v> 07/07  02:00:00</c:v>
                </c:pt>
                <c:pt idx="2">
                  <c:v> 07/07  03:00:00</c:v>
                </c:pt>
                <c:pt idx="3">
                  <c:v> 07/07  04:00:00</c:v>
                </c:pt>
                <c:pt idx="4">
                  <c:v> 07/07  05:00:00</c:v>
                </c:pt>
                <c:pt idx="5">
                  <c:v> 07/07  06:00:00</c:v>
                </c:pt>
                <c:pt idx="6">
                  <c:v> 07/07  07:00:00</c:v>
                </c:pt>
                <c:pt idx="7">
                  <c:v> 07/07  08:00:00</c:v>
                </c:pt>
                <c:pt idx="8">
                  <c:v> 07/07  09:00:00</c:v>
                </c:pt>
                <c:pt idx="9">
                  <c:v> 07/07  10:00:00</c:v>
                </c:pt>
                <c:pt idx="10">
                  <c:v> 07/07  11:00:00</c:v>
                </c:pt>
                <c:pt idx="11">
                  <c:v> 07/07  12:00:00</c:v>
                </c:pt>
                <c:pt idx="12">
                  <c:v> 07/07  13:00:00</c:v>
                </c:pt>
                <c:pt idx="13">
                  <c:v> 07/07  14:00:00</c:v>
                </c:pt>
                <c:pt idx="14">
                  <c:v> 07/07  15:00:00</c:v>
                </c:pt>
                <c:pt idx="15">
                  <c:v> 07/07  16:00:00</c:v>
                </c:pt>
                <c:pt idx="16">
                  <c:v> 07/07  17:00:00</c:v>
                </c:pt>
                <c:pt idx="17">
                  <c:v> 07/07  18:00:00</c:v>
                </c:pt>
                <c:pt idx="18">
                  <c:v> 07/07  19:00:00</c:v>
                </c:pt>
                <c:pt idx="19">
                  <c:v> 07/07  20:00:00</c:v>
                </c:pt>
                <c:pt idx="20">
                  <c:v> 07/07  21:00:00</c:v>
                </c:pt>
                <c:pt idx="21">
                  <c:v> 07/07  22:00:00</c:v>
                </c:pt>
                <c:pt idx="22">
                  <c:v> 07/07  23:00:00</c:v>
                </c:pt>
                <c:pt idx="23">
                  <c:v> 07/07  24:00:00</c:v>
                </c:pt>
              </c:strCache>
            </c:strRef>
          </c:xVal>
          <c:yVal>
            <c:numRef>
              <c:f>'HVACTemplate-5ZoneFanCoil'!$AX$26:$AX$49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262.96723450000002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7909312"/>
        <c:axId val="137909888"/>
      </c:scatterChart>
      <c:valAx>
        <c:axId val="1379093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Time(Hourly)</a:t>
                </a:r>
                <a:endParaRPr lang="zh-CN" altLang="en-US" sz="1400"/>
              </a:p>
            </c:rich>
          </c:tx>
          <c:layout/>
          <c:overlay val="0"/>
        </c:title>
        <c:majorTickMark val="none"/>
        <c:minorTickMark val="none"/>
        <c:tickLblPos val="nextTo"/>
        <c:crossAx val="137909888"/>
        <c:crosses val="autoZero"/>
        <c:crossBetween val="midCat"/>
      </c:valAx>
      <c:valAx>
        <c:axId val="13790988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altLang="zh-CN" sz="1400"/>
                  <a:t>Sensible</a:t>
                </a:r>
                <a:r>
                  <a:rPr lang="en-US" altLang="zh-CN" sz="1400" baseline="0"/>
                  <a:t> heating Rate (w)</a:t>
                </a:r>
                <a:endParaRPr lang="zh-CN" altLang="en-US" sz="1400"/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crossAx val="137909312"/>
        <c:crosses val="autoZero"/>
        <c:crossBetween val="midCat"/>
      </c:valAx>
      <c:spPr>
        <a:ln>
          <a:solidFill>
            <a:schemeClr val="tx1"/>
          </a:solidFill>
        </a:ln>
      </c:spPr>
    </c:plotArea>
    <c:legend>
      <c:legendPos val="r"/>
      <c:layout>
        <c:manualLayout>
          <c:xMode val="edge"/>
          <c:yMode val="edge"/>
          <c:x val="0.78865854414206749"/>
          <c:y val="0.55609109282338753"/>
          <c:w val="6.6260382735710013E-2"/>
          <c:h val="0.18247439194272261"/>
        </c:manualLayout>
      </c:layout>
      <c:overlay val="0"/>
    </c:legend>
    <c:plotVisOnly val="1"/>
    <c:dispBlanksAs val="gap"/>
    <c:showDLblsOverMax val="0"/>
  </c:chart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0.40766</cdr:x>
      <cdr:y>0.04362</cdr:y>
    </cdr:from>
    <cdr:to>
      <cdr:x>0.72353</cdr:x>
      <cdr:y>0.1292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468999" y="266053"/>
          <a:ext cx="2687934" cy="5218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400" dirty="0"/>
            <a:t>Jan</a:t>
          </a:r>
          <a:r>
            <a:rPr lang="en-US" sz="1400" baseline="0" dirty="0"/>
            <a:t> 14  Outside Temperature</a:t>
          </a:r>
          <a:endParaRPr lang="en-US" sz="14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0.3172</cdr:x>
      <cdr:y>0.04228</cdr:y>
    </cdr:from>
    <cdr:to>
      <cdr:x>0.63345</cdr:x>
      <cdr:y>0.10928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748919" y="266053"/>
          <a:ext cx="2740654" cy="421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400" dirty="0"/>
            <a:t>Jan </a:t>
          </a:r>
          <a:r>
            <a:rPr lang="en-US" sz="1400" dirty="0" smtClean="0"/>
            <a:t>14 Room Temperature</a:t>
          </a:r>
          <a:endParaRPr lang="en-US" sz="1400" dirty="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0.13435</cdr:x>
      <cdr:y>0.07006</cdr:y>
    </cdr:from>
    <cdr:to>
      <cdr:x>0.4165</cdr:x>
      <cdr:y>0.13706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164300" y="440888"/>
          <a:ext cx="2445173" cy="421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400"/>
            <a:t>July 7 Outside Temperature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0.3172</cdr:x>
      <cdr:y>0.04228</cdr:y>
    </cdr:from>
    <cdr:to>
      <cdr:x>0.65007</cdr:x>
      <cdr:y>0.10928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748919" y="266053"/>
          <a:ext cx="2884670" cy="421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400" dirty="0"/>
            <a:t>July </a:t>
          </a:r>
          <a:r>
            <a:rPr lang="en-US" sz="1400" dirty="0" smtClean="0"/>
            <a:t>7 Room Temperature</a:t>
          </a:r>
          <a:endParaRPr lang="en-US" sz="1400" dirty="0"/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0.33248</cdr:x>
      <cdr:y>0.04815</cdr:y>
    </cdr:from>
    <cdr:to>
      <cdr:x>0.59727</cdr:x>
      <cdr:y>0.11515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881308" y="303027"/>
          <a:ext cx="2294778" cy="421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400"/>
            <a:t>Jan 14 sensible cooling rate</a:t>
          </a: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0.33248</cdr:x>
      <cdr:y>0.04815</cdr:y>
    </cdr:from>
    <cdr:to>
      <cdr:x>0.59727</cdr:x>
      <cdr:y>0.11515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881308" y="303027"/>
          <a:ext cx="2294778" cy="421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400"/>
            <a:t>Jan 14 sensible heating rate</a:t>
          </a: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0.33393</cdr:x>
      <cdr:y>0.04018</cdr:y>
    </cdr:from>
    <cdr:to>
      <cdr:x>0.59872</cdr:x>
      <cdr:y>0.10718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893868" y="252865"/>
          <a:ext cx="2294720" cy="421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400"/>
            <a:t>July 7 sensible cooling rate</a:t>
          </a: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0.39756</cdr:x>
      <cdr:y>0.05611</cdr:y>
    </cdr:from>
    <cdr:to>
      <cdr:x>0.66235</cdr:x>
      <cdr:y>0.12311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3445347" y="353106"/>
          <a:ext cx="2294721" cy="421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400"/>
            <a:t>July 7 sensible heating rate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2868E-2339-4353-B1BD-D3BDA734B2AD}" type="datetimeFigureOut">
              <a:rPr lang="en-US" smtClean="0"/>
              <a:t>5/18/2015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FB598-6BED-4AB4-9037-9B8C7906A7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5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3FB598-6BED-4AB4-9037-9B8C7906A7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13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2015/5/18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1952625"/>
            <a:ext cx="8829675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7854" y="1093386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HVAC 5 </a:t>
            </a:r>
            <a:r>
              <a:rPr lang="en-US" dirty="0"/>
              <a:t>Z</a:t>
            </a:r>
            <a:r>
              <a:rPr lang="en-US" altLang="zh-CN" dirty="0" smtClean="0"/>
              <a:t>one Fan Coil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87624" y="5348884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This model has 5 zones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702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04" y="1124744"/>
            <a:ext cx="7848872" cy="4028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043608" y="5768389"/>
            <a:ext cx="69640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https://energyplus.net/sites/default/files/docs/site_v8.3.0/InputOutputReference/02-HVACTemplates/</a:t>
            </a:r>
          </a:p>
        </p:txBody>
      </p:sp>
    </p:spTree>
    <p:extLst>
      <p:ext uri="{BB962C8B-B14F-4D97-AF65-F5344CB8AC3E}">
        <p14:creationId xmlns:p14="http://schemas.microsoft.com/office/powerpoint/2010/main" val="9938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831765"/>
              </p:ext>
            </p:extLst>
          </p:nvPr>
        </p:nvGraphicFramePr>
        <p:xfrm>
          <a:off x="238905" y="282627"/>
          <a:ext cx="8509559" cy="6098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302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599831"/>
              </p:ext>
            </p:extLst>
          </p:nvPr>
        </p:nvGraphicFramePr>
        <p:xfrm>
          <a:off x="238905" y="282627"/>
          <a:ext cx="8666189" cy="6292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7597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>
            <a:graphicFrameLocks noGrp="1"/>
          </p:cNvGraphicFramePr>
          <p:nvPr/>
        </p:nvGraphicFramePr>
        <p:xfrm>
          <a:off x="238905" y="282627"/>
          <a:ext cx="8666189" cy="6292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8372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142525"/>
              </p:ext>
            </p:extLst>
          </p:nvPr>
        </p:nvGraphicFramePr>
        <p:xfrm>
          <a:off x="238905" y="282627"/>
          <a:ext cx="8666189" cy="6292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9417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power for the input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9552" y="1628800"/>
            <a:ext cx="79928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For HVAC system, there are different loops, such as air loop, water loop and gas loop. So we need to decide which power need to be considered for our model.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69842" y="3068960"/>
            <a:ext cx="82089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For the air system:</a:t>
            </a:r>
          </a:p>
          <a:p>
            <a:endParaRPr lang="en-US" b="1" dirty="0" smtClean="0"/>
          </a:p>
          <a:p>
            <a:r>
              <a:rPr lang="en-US" b="1" dirty="0"/>
              <a:t>Zone Air System Sensible Cooling </a:t>
            </a:r>
            <a:r>
              <a:rPr lang="en-US" b="1" dirty="0" smtClean="0"/>
              <a:t>Rate (W): </a:t>
            </a:r>
            <a:r>
              <a:rPr lang="en-US" dirty="0"/>
              <a:t>Overall sensible cooling energy to the zone from the HVAC </a:t>
            </a:r>
            <a:r>
              <a:rPr lang="en-US" dirty="0" smtClean="0"/>
              <a:t>system</a:t>
            </a:r>
          </a:p>
          <a:p>
            <a:r>
              <a:rPr lang="en-US" b="1" dirty="0"/>
              <a:t>Zone/Sys Sensible Heating Rate [W</a:t>
            </a:r>
            <a:r>
              <a:rPr lang="en-US" b="1" dirty="0" smtClean="0"/>
              <a:t>]: </a:t>
            </a:r>
            <a:r>
              <a:rPr lang="en-US" dirty="0"/>
              <a:t>Overall sensible heating energy to the zone from the HVAC system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5107" y="6211668"/>
            <a:ext cx="8748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http://www.designbuilder.co.uk/helpv3/Content/Calculation_of_DesignBuilder_Output_from_EnergyPlus_Report_Variables.htm</a:t>
            </a:r>
          </a:p>
        </p:txBody>
      </p:sp>
    </p:spTree>
    <p:extLst>
      <p:ext uri="{BB962C8B-B14F-4D97-AF65-F5344CB8AC3E}">
        <p14:creationId xmlns:p14="http://schemas.microsoft.com/office/powerpoint/2010/main" val="1323253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Loops in HVAC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49" y="1268760"/>
            <a:ext cx="4039121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55576" y="5888519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Plant and Condenser loop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409643"/>
            <a:ext cx="4162425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587079" y="5660049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Demand and supply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414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Loops in HVAC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343734"/>
            <a:ext cx="3954653" cy="338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55576" y="5363924"/>
            <a:ext cx="2891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Single duct air loop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271089"/>
            <a:ext cx="4644008" cy="3861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304047" y="5516324"/>
            <a:ext cx="2891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Dual duct air loop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755576" y="6203689"/>
            <a:ext cx="8496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http://www.designbuilder.co.uk/helpv3/Content/Detailed%20HVAC/Understanding%20HVAC%20Loops.htm</a:t>
            </a:r>
          </a:p>
        </p:txBody>
      </p:sp>
    </p:spTree>
    <p:extLst>
      <p:ext uri="{BB962C8B-B14F-4D97-AF65-F5344CB8AC3E}">
        <p14:creationId xmlns:p14="http://schemas.microsoft.com/office/powerpoint/2010/main" val="153053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>
            <a:graphicFrameLocks noGrp="1"/>
          </p:cNvGraphicFramePr>
          <p:nvPr/>
        </p:nvGraphicFramePr>
        <p:xfrm>
          <a:off x="238905" y="282627"/>
          <a:ext cx="8666189" cy="6292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13882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>
            <a:graphicFrameLocks noGrp="1"/>
          </p:cNvGraphicFramePr>
          <p:nvPr/>
        </p:nvGraphicFramePr>
        <p:xfrm>
          <a:off x="238905" y="282627"/>
          <a:ext cx="8666189" cy="6292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59696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>
            <a:graphicFrameLocks noGrp="1"/>
          </p:cNvGraphicFramePr>
          <p:nvPr/>
        </p:nvGraphicFramePr>
        <p:xfrm>
          <a:off x="238905" y="282627"/>
          <a:ext cx="8666189" cy="6292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52646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/>
          <p:cNvGraphicFramePr>
            <a:graphicFrameLocks noGrp="1"/>
          </p:cNvGraphicFramePr>
          <p:nvPr/>
        </p:nvGraphicFramePr>
        <p:xfrm>
          <a:off x="238905" y="282627"/>
          <a:ext cx="8666189" cy="6292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6200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206</Words>
  <Application>Microsoft Office PowerPoint</Application>
  <PresentationFormat>全屏显示(4:3)</PresentationFormat>
  <Paragraphs>42</Paragraphs>
  <Slides>13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Select power for the input</vt:lpstr>
      <vt:lpstr>Loops in HVAC</vt:lpstr>
      <vt:lpstr>Loops in HVAC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Shujuan Wang</dc:creator>
  <cp:lastModifiedBy>Shujuan Wang</cp:lastModifiedBy>
  <cp:revision>9</cp:revision>
  <dcterms:created xsi:type="dcterms:W3CDTF">2015-05-09T23:32:02Z</dcterms:created>
  <dcterms:modified xsi:type="dcterms:W3CDTF">2015-05-18T22:47:31Z</dcterms:modified>
</cp:coreProperties>
</file>