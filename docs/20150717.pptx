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1" r:id="rId15"/>
    <p:sldId id="270" r:id="rId16"/>
    <p:sldId id="272" r:id="rId17"/>
    <p:sldId id="273" r:id="rId18"/>
    <p:sldId id="274" r:id="rId19"/>
    <p:sldId id="275" r:id="rId20"/>
    <p:sldId id="276" r:id="rId21"/>
    <p:sldId id="260"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mn-cs"/>
      </a:defRPr>
    </a:lvl1pPr>
    <a:lvl2pPr marL="457200" algn="l" rtl="0" fontAlgn="base">
      <a:spcBef>
        <a:spcPct val="0"/>
      </a:spcBef>
      <a:spcAft>
        <a:spcPct val="0"/>
      </a:spcAft>
      <a:defRPr kern="1200">
        <a:solidFill>
          <a:schemeClr val="tx1"/>
        </a:solidFill>
        <a:latin typeface="Arial" charset="0"/>
        <a:ea typeface="ＭＳ Ｐゴシック" charset="0"/>
        <a:cs typeface="+mn-cs"/>
      </a:defRPr>
    </a:lvl2pPr>
    <a:lvl3pPr marL="914400" algn="l" rtl="0" fontAlgn="base">
      <a:spcBef>
        <a:spcPct val="0"/>
      </a:spcBef>
      <a:spcAft>
        <a:spcPct val="0"/>
      </a:spcAft>
      <a:defRPr kern="1200">
        <a:solidFill>
          <a:schemeClr val="tx1"/>
        </a:solidFill>
        <a:latin typeface="Arial" charset="0"/>
        <a:ea typeface="ＭＳ Ｐゴシック" charset="0"/>
        <a:cs typeface="+mn-cs"/>
      </a:defRPr>
    </a:lvl3pPr>
    <a:lvl4pPr marL="1371600" algn="l" rtl="0" fontAlgn="base">
      <a:spcBef>
        <a:spcPct val="0"/>
      </a:spcBef>
      <a:spcAft>
        <a:spcPct val="0"/>
      </a:spcAft>
      <a:defRPr kern="1200">
        <a:solidFill>
          <a:schemeClr val="tx1"/>
        </a:solidFill>
        <a:latin typeface="Arial" charset="0"/>
        <a:ea typeface="ＭＳ Ｐゴシック" charset="0"/>
        <a:cs typeface="+mn-cs"/>
      </a:defRPr>
    </a:lvl4pPr>
    <a:lvl5pPr marL="1828800" algn="l" rtl="0" fontAlgn="base">
      <a:spcBef>
        <a:spcPct val="0"/>
      </a:spcBef>
      <a:spcAft>
        <a:spcPct val="0"/>
      </a:spcAft>
      <a:defRPr kern="1200">
        <a:solidFill>
          <a:schemeClr val="tx1"/>
        </a:solidFill>
        <a:latin typeface="Arial" charset="0"/>
        <a:ea typeface="ＭＳ Ｐゴシック" charset="0"/>
        <a:cs typeface="+mn-cs"/>
      </a:defRPr>
    </a:lvl5pPr>
    <a:lvl6pPr marL="2286000" algn="l" defTabSz="457200" rtl="0" eaLnBrk="1" latinLnBrk="0" hangingPunct="1">
      <a:defRPr kern="1200">
        <a:solidFill>
          <a:schemeClr val="tx1"/>
        </a:solidFill>
        <a:latin typeface="Arial" charset="0"/>
        <a:ea typeface="ＭＳ Ｐゴシック" charset="0"/>
        <a:cs typeface="+mn-cs"/>
      </a:defRPr>
    </a:lvl6pPr>
    <a:lvl7pPr marL="2743200" algn="l" defTabSz="457200" rtl="0" eaLnBrk="1" latinLnBrk="0" hangingPunct="1">
      <a:defRPr kern="1200">
        <a:solidFill>
          <a:schemeClr val="tx1"/>
        </a:solidFill>
        <a:latin typeface="Arial" charset="0"/>
        <a:ea typeface="ＭＳ Ｐゴシック" charset="0"/>
        <a:cs typeface="+mn-cs"/>
      </a:defRPr>
    </a:lvl7pPr>
    <a:lvl8pPr marL="3200400" algn="l" defTabSz="457200" rtl="0" eaLnBrk="1" latinLnBrk="0" hangingPunct="1">
      <a:defRPr kern="1200">
        <a:solidFill>
          <a:schemeClr val="tx1"/>
        </a:solidFill>
        <a:latin typeface="Arial" charset="0"/>
        <a:ea typeface="ＭＳ Ｐゴシック" charset="0"/>
        <a:cs typeface="+mn-cs"/>
      </a:defRPr>
    </a:lvl8pPr>
    <a:lvl9pPr marL="3657600" algn="l" defTabSz="457200" rtl="0" eaLnBrk="1" latinLnBrk="0" hangingPunct="1">
      <a:defRPr kern="1200">
        <a:solidFill>
          <a:schemeClr val="tx1"/>
        </a:solidFill>
        <a:latin typeface="Arial" charset="0"/>
        <a:ea typeface="ＭＳ Ｐゴシック" charset="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6CC0"/>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4" d="100"/>
          <a:sy n="124" d="100"/>
        </p:scale>
        <p:origin x="-223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printerSettings" Target="printerSettings/printerSettings1.bin"/><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161" name="Picture 41" descr="ppt_titlepage_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123" name="Rectangle 3"/>
          <p:cNvSpPr>
            <a:spLocks noGrp="1" noChangeArrowheads="1"/>
          </p:cNvSpPr>
          <p:nvPr>
            <p:ph type="ctrTitle"/>
          </p:nvPr>
        </p:nvSpPr>
        <p:spPr>
          <a:xfrm>
            <a:off x="533400" y="762000"/>
            <a:ext cx="8077200" cy="2133600"/>
          </a:xfrm>
        </p:spPr>
        <p:txBody>
          <a:bodyPr/>
          <a:lstStyle>
            <a:lvl1pPr>
              <a:defRPr sz="4800"/>
            </a:lvl1pPr>
          </a:lstStyle>
          <a:p>
            <a:pPr lvl="0"/>
            <a:r>
              <a:rPr lang="en-US" noProof="0" smtClean="0"/>
              <a:t>Click to edit Master title style</a:t>
            </a:r>
          </a:p>
        </p:txBody>
      </p:sp>
      <p:sp>
        <p:nvSpPr>
          <p:cNvPr id="5124" name="Rectangle 4"/>
          <p:cNvSpPr>
            <a:spLocks noGrp="1" noChangeArrowheads="1"/>
          </p:cNvSpPr>
          <p:nvPr>
            <p:ph type="subTitle" idx="1"/>
          </p:nvPr>
        </p:nvSpPr>
        <p:spPr>
          <a:xfrm>
            <a:off x="533400" y="3124200"/>
            <a:ext cx="8077200" cy="2362200"/>
          </a:xfrm>
        </p:spPr>
        <p:txBody>
          <a:bodyPr/>
          <a:lstStyle>
            <a:lvl1pPr marL="0" indent="0">
              <a:buFont typeface="Wingdings" charset="0"/>
              <a:buNone/>
              <a:defRPr sz="3200">
                <a:solidFill>
                  <a:srgbClr val="2D6CC0"/>
                </a:solidFill>
                <a:effectLst>
                  <a:outerShdw blurRad="38100" dist="38100" dir="2700000" algn="tl">
                    <a:srgbClr val="DDDDDD"/>
                  </a:outerShdw>
                </a:effectLst>
              </a:defRPr>
            </a:lvl1pPr>
          </a:lstStyle>
          <a:p>
            <a:pPr lvl="0"/>
            <a:r>
              <a:rPr lang="en-US" noProof="0" smtClean="0"/>
              <a:t>Click to edit Master subtitle style</a:t>
            </a:r>
          </a:p>
        </p:txBody>
      </p:sp>
      <p:sp>
        <p:nvSpPr>
          <p:cNvPr id="5125" name="Rectangle 5"/>
          <p:cNvSpPr>
            <a:spLocks noGrp="1" noChangeArrowheads="1"/>
          </p:cNvSpPr>
          <p:nvPr>
            <p:ph type="dt" sz="half" idx="2"/>
          </p:nvPr>
        </p:nvSpPr>
        <p:spPr/>
        <p:txBody>
          <a:bodyPr/>
          <a:lstStyle>
            <a:lvl1pPr>
              <a:defRPr/>
            </a:lvl1pPr>
          </a:lstStyle>
          <a:p>
            <a:endParaRPr lang="en-US"/>
          </a:p>
        </p:txBody>
      </p:sp>
      <p:sp>
        <p:nvSpPr>
          <p:cNvPr id="5126" name="Rectangle 6"/>
          <p:cNvSpPr>
            <a:spLocks noGrp="1" noChangeArrowheads="1"/>
          </p:cNvSpPr>
          <p:nvPr>
            <p:ph type="ftr" sz="quarter" idx="3"/>
          </p:nvPr>
        </p:nvSpPr>
        <p:spPr/>
        <p:txBody>
          <a:bodyPr/>
          <a:lstStyle>
            <a:lvl1pPr>
              <a:defRPr/>
            </a:lvl1pPr>
          </a:lstStyle>
          <a:p>
            <a:endParaRPr lang="en-US"/>
          </a:p>
        </p:txBody>
      </p:sp>
      <p:sp>
        <p:nvSpPr>
          <p:cNvPr id="5127" name="Rectangle 7"/>
          <p:cNvSpPr>
            <a:spLocks noGrp="1" noChangeArrowheads="1"/>
          </p:cNvSpPr>
          <p:nvPr>
            <p:ph type="sldNum" sz="quarter" idx="4"/>
          </p:nvPr>
        </p:nvSpPr>
        <p:spPr/>
        <p:txBody>
          <a:bodyPr/>
          <a:lstStyle>
            <a:lvl1pPr>
              <a:defRPr/>
            </a:lvl1pPr>
          </a:lstStyle>
          <a:p>
            <a:fld id="{AF89A290-D386-6843-AAFE-E3B36B314114}" type="slidenum">
              <a:rPr lang="en-US"/>
              <a:pPr/>
              <a:t>‹#›</a:t>
            </a:fld>
            <a:endParaRPr lang="en-US"/>
          </a:p>
        </p:txBody>
      </p:sp>
    </p:spTree>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542D6C5-2892-7B44-9CD7-E858EC4EA101}" type="slidenum">
              <a:rPr lang="en-US"/>
              <a:pPr/>
              <a:t>‹#›</a:t>
            </a:fld>
            <a:endParaRPr lang="en-US"/>
          </a:p>
        </p:txBody>
      </p:sp>
    </p:spTree>
    <p:extLst>
      <p:ext uri="{BB962C8B-B14F-4D97-AF65-F5344CB8AC3E}">
        <p14:creationId xmlns:p14="http://schemas.microsoft.com/office/powerpoint/2010/main" val="1391086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3C1EA8C-4516-384D-B365-FAB6E8AA0E9D}" type="slidenum">
              <a:rPr lang="en-US"/>
              <a:pPr/>
              <a:t>‹#›</a:t>
            </a:fld>
            <a:endParaRPr lang="en-US"/>
          </a:p>
        </p:txBody>
      </p:sp>
    </p:spTree>
    <p:extLst>
      <p:ext uri="{BB962C8B-B14F-4D97-AF65-F5344CB8AC3E}">
        <p14:creationId xmlns:p14="http://schemas.microsoft.com/office/powerpoint/2010/main" val="3396666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240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240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2C151C4-D253-814D-A0B2-56833BC87ACA}" type="slidenum">
              <a:rPr lang="en-US"/>
              <a:pPr/>
              <a:t>‹#›</a:t>
            </a:fld>
            <a:endParaRPr lang="en-US"/>
          </a:p>
        </p:txBody>
      </p:sp>
    </p:spTree>
    <p:extLst>
      <p:ext uri="{BB962C8B-B14F-4D97-AF65-F5344CB8AC3E}">
        <p14:creationId xmlns:p14="http://schemas.microsoft.com/office/powerpoint/2010/main" val="1516985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C5D230B6-B640-0942-B749-71581A71D1D7}" type="slidenum">
              <a:rPr lang="en-US"/>
              <a:pPr/>
              <a:t>‹#›</a:t>
            </a:fld>
            <a:endParaRPr lang="en-US"/>
          </a:p>
        </p:txBody>
      </p:sp>
    </p:spTree>
    <p:extLst>
      <p:ext uri="{BB962C8B-B14F-4D97-AF65-F5344CB8AC3E}">
        <p14:creationId xmlns:p14="http://schemas.microsoft.com/office/powerpoint/2010/main" val="3488805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9A83DB19-C8D5-774F-B072-D4F3B53E28F2}" type="slidenum">
              <a:rPr lang="en-US"/>
              <a:pPr/>
              <a:t>‹#›</a:t>
            </a:fld>
            <a:endParaRPr lang="en-US"/>
          </a:p>
        </p:txBody>
      </p:sp>
    </p:spTree>
    <p:extLst>
      <p:ext uri="{BB962C8B-B14F-4D97-AF65-F5344CB8AC3E}">
        <p14:creationId xmlns:p14="http://schemas.microsoft.com/office/powerpoint/2010/main" val="403346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3426616D-9606-2B4B-B19D-8295C562E894}" type="slidenum">
              <a:rPr lang="en-US"/>
              <a:pPr/>
              <a:t>‹#›</a:t>
            </a:fld>
            <a:endParaRPr lang="en-US"/>
          </a:p>
        </p:txBody>
      </p:sp>
    </p:spTree>
    <p:extLst>
      <p:ext uri="{BB962C8B-B14F-4D97-AF65-F5344CB8AC3E}">
        <p14:creationId xmlns:p14="http://schemas.microsoft.com/office/powerpoint/2010/main" val="400360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5A8E26C-4292-324D-A008-8DD960AD6FF1}" type="slidenum">
              <a:rPr lang="en-US"/>
              <a:pPr/>
              <a:t>‹#›</a:t>
            </a:fld>
            <a:endParaRPr lang="en-US"/>
          </a:p>
        </p:txBody>
      </p:sp>
    </p:spTree>
    <p:extLst>
      <p:ext uri="{BB962C8B-B14F-4D97-AF65-F5344CB8AC3E}">
        <p14:creationId xmlns:p14="http://schemas.microsoft.com/office/powerpoint/2010/main" val="3084834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4B6FB87-1516-8B47-A5E2-8C8F3FDF01E5}" type="slidenum">
              <a:rPr lang="en-US"/>
              <a:pPr/>
              <a:t>‹#›</a:t>
            </a:fld>
            <a:endParaRPr lang="en-US"/>
          </a:p>
        </p:txBody>
      </p:sp>
    </p:spTree>
    <p:extLst>
      <p:ext uri="{BB962C8B-B14F-4D97-AF65-F5344CB8AC3E}">
        <p14:creationId xmlns:p14="http://schemas.microsoft.com/office/powerpoint/2010/main" val="2653624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E7B7824-AD9C-DD43-BEEA-0C86602DCCF0}" type="slidenum">
              <a:rPr lang="en-US"/>
              <a:pPr/>
              <a:t>‹#›</a:t>
            </a:fld>
            <a:endParaRPr lang="en-US"/>
          </a:p>
        </p:txBody>
      </p:sp>
    </p:spTree>
    <p:extLst>
      <p:ext uri="{BB962C8B-B14F-4D97-AF65-F5344CB8AC3E}">
        <p14:creationId xmlns:p14="http://schemas.microsoft.com/office/powerpoint/2010/main" val="1609643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85800"/>
            <a:ext cx="2057400" cy="5562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685800"/>
            <a:ext cx="6019800" cy="5562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766D67B-559C-5043-90E1-BCFD560F28D9}" type="slidenum">
              <a:rPr lang="en-US"/>
              <a:pPr/>
              <a:t>‹#›</a:t>
            </a:fld>
            <a:endParaRPr lang="en-US"/>
          </a:p>
        </p:txBody>
      </p:sp>
    </p:spTree>
    <p:extLst>
      <p:ext uri="{BB962C8B-B14F-4D97-AF65-F5344CB8AC3E}">
        <p14:creationId xmlns:p14="http://schemas.microsoft.com/office/powerpoint/2010/main" val="138929001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 Id="rId15" Type="http://schemas.openxmlformats.org/officeDocument/2006/relationships/image" Target="../media/image3.png"/><Relationship Id="rId16"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36" name="Picture 40" descr="ppt_generic_backgrpun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099" name="Rectangle 3"/>
          <p:cNvSpPr>
            <a:spLocks noGrp="1" noChangeArrowheads="1"/>
          </p:cNvSpPr>
          <p:nvPr>
            <p:ph type="title"/>
          </p:nvPr>
        </p:nvSpPr>
        <p:spPr bwMode="auto">
          <a:xfrm>
            <a:off x="457200" y="685800"/>
            <a:ext cx="8229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4100" name="Rectangle 4"/>
          <p:cNvSpPr>
            <a:spLocks noGrp="1" noChangeArrowheads="1"/>
          </p:cNvSpPr>
          <p:nvPr>
            <p:ph type="body" idx="1"/>
          </p:nvPr>
        </p:nvSpPr>
        <p:spPr bwMode="auto">
          <a:xfrm>
            <a:off x="457200" y="1524000"/>
            <a:ext cx="82296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1" name="Rectangle 5"/>
          <p:cNvSpPr>
            <a:spLocks noGrp="1" noChangeArrowheads="1"/>
          </p:cNvSpPr>
          <p:nvPr>
            <p:ph type="dt" sz="half" idx="2"/>
          </p:nvPr>
        </p:nvSpPr>
        <p:spPr bwMode="auto">
          <a:xfrm>
            <a:off x="457200" y="6400800"/>
            <a:ext cx="213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000"/>
            </a:lvl1pPr>
          </a:lstStyle>
          <a:p>
            <a:endParaRPr lang="en-US"/>
          </a:p>
        </p:txBody>
      </p:sp>
      <p:sp>
        <p:nvSpPr>
          <p:cNvPr id="4102" name="Rectangle 6"/>
          <p:cNvSpPr>
            <a:spLocks noGrp="1" noChangeArrowheads="1"/>
          </p:cNvSpPr>
          <p:nvPr>
            <p:ph type="ftr" sz="quarter" idx="3"/>
          </p:nvPr>
        </p:nvSpPr>
        <p:spPr bwMode="auto">
          <a:xfrm>
            <a:off x="3124200" y="6400800"/>
            <a:ext cx="2895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a:defRPr sz="1000"/>
            </a:lvl1pPr>
          </a:lstStyle>
          <a:p>
            <a:endParaRPr lang="en-US"/>
          </a:p>
        </p:txBody>
      </p:sp>
      <p:sp>
        <p:nvSpPr>
          <p:cNvPr id="4103" name="Rectangle 7"/>
          <p:cNvSpPr>
            <a:spLocks noGrp="1" noChangeArrowheads="1"/>
          </p:cNvSpPr>
          <p:nvPr>
            <p:ph type="sldNum" sz="quarter" idx="4"/>
          </p:nvPr>
        </p:nvSpPr>
        <p:spPr bwMode="auto">
          <a:xfrm>
            <a:off x="6553200" y="6400800"/>
            <a:ext cx="213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000"/>
            </a:lvl1pPr>
          </a:lstStyle>
          <a:p>
            <a:fld id="{D20C3B6D-A181-5841-895F-5B175A3168CD}"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iming>
    <p:tnLst>
      <p:par>
        <p:cTn xmlns:p14="http://schemas.microsoft.com/office/powerpoint/2010/main" id="1" dur="indefinite" restart="never" nodeType="tmRoot"/>
      </p:par>
    </p:tnLst>
  </p:timing>
  <p:txStyles>
    <p:titleStyle>
      <a:lvl1pPr algn="l" rtl="0" fontAlgn="base">
        <a:spcBef>
          <a:spcPct val="0"/>
        </a:spcBef>
        <a:spcAft>
          <a:spcPct val="0"/>
        </a:spcAft>
        <a:defRPr sz="3900" b="1">
          <a:solidFill>
            <a:schemeClr val="tx1"/>
          </a:solidFill>
          <a:latin typeface="+mj-lt"/>
          <a:ea typeface="+mj-ea"/>
          <a:cs typeface="+mj-cs"/>
        </a:defRPr>
      </a:lvl1pPr>
      <a:lvl2pPr algn="l" rtl="0" fontAlgn="base">
        <a:spcBef>
          <a:spcPct val="0"/>
        </a:spcBef>
        <a:spcAft>
          <a:spcPct val="0"/>
        </a:spcAft>
        <a:defRPr sz="3900" b="1">
          <a:solidFill>
            <a:schemeClr val="tx1"/>
          </a:solidFill>
          <a:latin typeface="Arial" charset="0"/>
          <a:ea typeface="ＭＳ Ｐゴシック" charset="0"/>
        </a:defRPr>
      </a:lvl2pPr>
      <a:lvl3pPr algn="l" rtl="0" fontAlgn="base">
        <a:spcBef>
          <a:spcPct val="0"/>
        </a:spcBef>
        <a:spcAft>
          <a:spcPct val="0"/>
        </a:spcAft>
        <a:defRPr sz="3900" b="1">
          <a:solidFill>
            <a:schemeClr val="tx1"/>
          </a:solidFill>
          <a:latin typeface="Arial" charset="0"/>
          <a:ea typeface="ＭＳ Ｐゴシック" charset="0"/>
        </a:defRPr>
      </a:lvl3pPr>
      <a:lvl4pPr algn="l" rtl="0" fontAlgn="base">
        <a:spcBef>
          <a:spcPct val="0"/>
        </a:spcBef>
        <a:spcAft>
          <a:spcPct val="0"/>
        </a:spcAft>
        <a:defRPr sz="3900" b="1">
          <a:solidFill>
            <a:schemeClr val="tx1"/>
          </a:solidFill>
          <a:latin typeface="Arial" charset="0"/>
          <a:ea typeface="ＭＳ Ｐゴシック" charset="0"/>
        </a:defRPr>
      </a:lvl4pPr>
      <a:lvl5pPr algn="l" rtl="0" fontAlgn="base">
        <a:spcBef>
          <a:spcPct val="0"/>
        </a:spcBef>
        <a:spcAft>
          <a:spcPct val="0"/>
        </a:spcAft>
        <a:defRPr sz="3900" b="1">
          <a:solidFill>
            <a:schemeClr val="tx1"/>
          </a:solidFill>
          <a:latin typeface="Arial" charset="0"/>
          <a:ea typeface="ＭＳ Ｐゴシック" charset="0"/>
        </a:defRPr>
      </a:lvl5pPr>
      <a:lvl6pPr marL="457200" algn="l" rtl="0" fontAlgn="base">
        <a:spcBef>
          <a:spcPct val="0"/>
        </a:spcBef>
        <a:spcAft>
          <a:spcPct val="0"/>
        </a:spcAft>
        <a:defRPr sz="3900" b="1">
          <a:solidFill>
            <a:schemeClr val="tx1"/>
          </a:solidFill>
          <a:latin typeface="Arial" charset="0"/>
          <a:ea typeface="ＭＳ Ｐゴシック" charset="0"/>
        </a:defRPr>
      </a:lvl6pPr>
      <a:lvl7pPr marL="914400" algn="l" rtl="0" fontAlgn="base">
        <a:spcBef>
          <a:spcPct val="0"/>
        </a:spcBef>
        <a:spcAft>
          <a:spcPct val="0"/>
        </a:spcAft>
        <a:defRPr sz="3900" b="1">
          <a:solidFill>
            <a:schemeClr val="tx1"/>
          </a:solidFill>
          <a:latin typeface="Arial" charset="0"/>
          <a:ea typeface="ＭＳ Ｐゴシック" charset="0"/>
        </a:defRPr>
      </a:lvl7pPr>
      <a:lvl8pPr marL="1371600" algn="l" rtl="0" fontAlgn="base">
        <a:spcBef>
          <a:spcPct val="0"/>
        </a:spcBef>
        <a:spcAft>
          <a:spcPct val="0"/>
        </a:spcAft>
        <a:defRPr sz="3900" b="1">
          <a:solidFill>
            <a:schemeClr val="tx1"/>
          </a:solidFill>
          <a:latin typeface="Arial" charset="0"/>
          <a:ea typeface="ＭＳ Ｐゴシック" charset="0"/>
        </a:defRPr>
      </a:lvl8pPr>
      <a:lvl9pPr marL="1828800" algn="l" rtl="0" fontAlgn="base">
        <a:spcBef>
          <a:spcPct val="0"/>
        </a:spcBef>
        <a:spcAft>
          <a:spcPct val="0"/>
        </a:spcAft>
        <a:defRPr sz="3900" b="1">
          <a:solidFill>
            <a:schemeClr val="tx1"/>
          </a:solidFill>
          <a:latin typeface="Arial" charset="0"/>
          <a:ea typeface="ＭＳ Ｐゴシック" charset="0"/>
        </a:defRPr>
      </a:lvl9pPr>
    </p:titleStyle>
    <p:bodyStyle>
      <a:lvl1pPr marL="342900" indent="-342900" algn="l" rtl="0" fontAlgn="base">
        <a:spcBef>
          <a:spcPct val="20000"/>
        </a:spcBef>
        <a:spcAft>
          <a:spcPct val="0"/>
        </a:spcAft>
        <a:buClr>
          <a:schemeClr val="tx2"/>
        </a:buClr>
        <a:buSzPct val="70000"/>
        <a:buFont typeface="Wingdings" charset="0"/>
        <a:buBlip>
          <a:blip r:embed="rId14"/>
        </a:buBlip>
        <a:defRPr sz="30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charset="0"/>
        <a:buBlip>
          <a:blip r:embed="rId15"/>
        </a:buBlip>
        <a:defRPr sz="2600">
          <a:solidFill>
            <a:schemeClr val="tx1"/>
          </a:solidFill>
          <a:latin typeface="+mn-lt"/>
          <a:ea typeface="+mn-ea"/>
        </a:defRPr>
      </a:lvl2pPr>
      <a:lvl3pPr marL="987425" indent="-293688" algn="l" rtl="0" fontAlgn="base">
        <a:spcBef>
          <a:spcPct val="20000"/>
        </a:spcBef>
        <a:spcAft>
          <a:spcPct val="0"/>
        </a:spcAft>
        <a:buClr>
          <a:schemeClr val="accent1"/>
        </a:buClr>
        <a:buSzPct val="70000"/>
        <a:buFont typeface="Wingdings" charset="0"/>
        <a:buBlip>
          <a:blip r:embed="rId16"/>
        </a:buBlip>
        <a:defRPr sz="2300">
          <a:solidFill>
            <a:schemeClr val="tx1"/>
          </a:solidFill>
          <a:latin typeface="+mn-lt"/>
          <a:ea typeface="+mn-ea"/>
        </a:defRPr>
      </a:lvl3pPr>
      <a:lvl4pPr marL="1281113" indent="-292100" algn="l" rtl="0" fontAlgn="base">
        <a:spcBef>
          <a:spcPct val="20000"/>
        </a:spcBef>
        <a:spcAft>
          <a:spcPct val="0"/>
        </a:spcAft>
        <a:buClr>
          <a:schemeClr val="tx2"/>
        </a:buClr>
        <a:buSzPct val="75000"/>
        <a:buFont typeface="Wingdings" charset="0"/>
        <a:buBlip>
          <a:blip r:embed="rId15"/>
        </a:buBlip>
        <a:defRPr sz="2000">
          <a:solidFill>
            <a:schemeClr val="tx1"/>
          </a:solidFill>
          <a:latin typeface="+mn-lt"/>
          <a:ea typeface="+mn-ea"/>
        </a:defRPr>
      </a:lvl4pPr>
      <a:lvl5pPr marL="1598613" indent="-315913" algn="l" rtl="0" fontAlgn="base">
        <a:spcBef>
          <a:spcPct val="20000"/>
        </a:spcBef>
        <a:spcAft>
          <a:spcPct val="0"/>
        </a:spcAft>
        <a:buClr>
          <a:schemeClr val="folHlink"/>
        </a:buClr>
        <a:buSzPct val="80000"/>
        <a:buFont typeface="Wingdings" charset="0"/>
        <a:buBlip>
          <a:blip r:embed="rId16"/>
        </a:buBlip>
        <a:defRPr sz="2000">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charset="0"/>
        <a:buBlip>
          <a:blip r:embed="rId16"/>
        </a:buBlip>
        <a:defRPr sz="2000">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charset="0"/>
        <a:buBlip>
          <a:blip r:embed="rId16"/>
        </a:buBlip>
        <a:defRPr sz="2000">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charset="0"/>
        <a:buBlip>
          <a:blip r:embed="rId16"/>
        </a:buBlip>
        <a:defRPr sz="2000">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charset="0"/>
        <a:buBlip>
          <a:blip r:embed="rId16"/>
        </a:buBlip>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emf"/><Relationship Id="rId3" Type="http://schemas.openxmlformats.org/officeDocument/2006/relationships/image" Target="../media/image23.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p:txBody>
          <a:bodyPr/>
          <a:lstStyle/>
          <a:p>
            <a:r>
              <a:rPr lang="en-US" dirty="0" smtClean="0"/>
              <a:t>Building Thermal Modeling for Energy-Efficient Smart Building Control</a:t>
            </a:r>
            <a:endParaRPr lang="en-US" dirty="0"/>
          </a:p>
        </p:txBody>
      </p:sp>
      <p:sp>
        <p:nvSpPr>
          <p:cNvPr id="28675" name="Rectangle 3"/>
          <p:cNvSpPr>
            <a:spLocks noGrp="1" noChangeArrowheads="1"/>
          </p:cNvSpPr>
          <p:nvPr>
            <p:ph type="subTitle" idx="1"/>
          </p:nvPr>
        </p:nvSpPr>
        <p:spPr/>
        <p:txBody>
          <a:bodyPr/>
          <a:lstStyle/>
          <a:p>
            <a:r>
              <a:rPr lang="en-US" dirty="0" smtClean="0"/>
              <a:t>Daniel Quach</a:t>
            </a:r>
          </a:p>
          <a:p>
            <a:r>
              <a:rPr lang="en-US" dirty="0" smtClean="0"/>
              <a:t>Professor: Dr. Sheldon Tan</a:t>
            </a:r>
          </a:p>
          <a:p>
            <a:endParaRPr lang="en-US" dirty="0"/>
          </a:p>
          <a:p>
            <a:r>
              <a:rPr lang="en-US" dirty="0" smtClean="0"/>
              <a:t>7/17/2015</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r>
              <a:rPr lang="en-US" dirty="0" smtClean="0"/>
              <a:t>EnergyPlus Review</a:t>
            </a:r>
          </a:p>
          <a:p>
            <a:r>
              <a:rPr lang="en-US" dirty="0" smtClean="0"/>
              <a:t>Initial Results with no extra factors</a:t>
            </a:r>
          </a:p>
          <a:p>
            <a:r>
              <a:rPr lang="en-US" dirty="0" smtClean="0"/>
              <a:t>Results with extra factors</a:t>
            </a:r>
          </a:p>
          <a:p>
            <a:r>
              <a:rPr lang="en-US" dirty="0" smtClean="0"/>
              <a:t>Optimization and Final </a:t>
            </a:r>
            <a:r>
              <a:rPr lang="en-US" dirty="0"/>
              <a:t>R</a:t>
            </a:r>
            <a:r>
              <a:rPr lang="en-US" dirty="0" smtClean="0"/>
              <a:t>esults</a:t>
            </a:r>
          </a:p>
        </p:txBody>
      </p:sp>
    </p:spTree>
    <p:extLst>
      <p:ext uri="{BB962C8B-B14F-4D97-AF65-F5344CB8AC3E}">
        <p14:creationId xmlns:p14="http://schemas.microsoft.com/office/powerpoint/2010/main" val="1244206207"/>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EnergyPlus</a:t>
            </a:r>
            <a:endParaRPr lang="en-US" dirty="0"/>
          </a:p>
        </p:txBody>
      </p:sp>
      <p:sp>
        <p:nvSpPr>
          <p:cNvPr id="3" name="Content Placeholder 2"/>
          <p:cNvSpPr>
            <a:spLocks noGrp="1"/>
          </p:cNvSpPr>
          <p:nvPr>
            <p:ph idx="1"/>
          </p:nvPr>
        </p:nvSpPr>
        <p:spPr/>
        <p:txBody>
          <a:bodyPr/>
          <a:lstStyle/>
          <a:p>
            <a:r>
              <a:rPr lang="en-US" dirty="0" smtClean="0"/>
              <a:t>Software package by U.S.</a:t>
            </a:r>
            <a:br>
              <a:rPr lang="en-US" dirty="0" smtClean="0"/>
            </a:br>
            <a:r>
              <a:rPr lang="en-US" dirty="0" smtClean="0"/>
              <a:t>Dept. of Energy used for</a:t>
            </a:r>
            <a:br>
              <a:rPr lang="en-US" dirty="0" smtClean="0"/>
            </a:br>
            <a:r>
              <a:rPr lang="en-US" dirty="0" smtClean="0"/>
              <a:t>modeling thermal behavior,</a:t>
            </a:r>
            <a:br>
              <a:rPr lang="en-US" dirty="0" smtClean="0"/>
            </a:br>
            <a:r>
              <a:rPr lang="en-US" dirty="0" smtClean="0"/>
              <a:t>energy, and water use.</a:t>
            </a:r>
          </a:p>
          <a:p>
            <a:r>
              <a:rPr lang="en-US" dirty="0" smtClean="0"/>
              <a:t>Capable of modifying</a:t>
            </a:r>
            <a:br>
              <a:rPr lang="en-US" dirty="0" smtClean="0"/>
            </a:br>
            <a:r>
              <a:rPr lang="en-US" dirty="0" smtClean="0"/>
              <a:t>specific settings for each zone</a:t>
            </a:r>
          </a:p>
          <a:p>
            <a:pPr lvl="1"/>
            <a:r>
              <a:rPr lang="en-US" dirty="0" smtClean="0"/>
              <a:t>Thermal zones, Space type, Schedule, Outdoor Air, People, Lights, Electric Equipment, Surfaces, etc.</a:t>
            </a:r>
          </a:p>
        </p:txBody>
      </p:sp>
      <p:pic>
        <p:nvPicPr>
          <p:cNvPr id="4" name="Picture 3" descr="5zone-b.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2362200"/>
            <a:ext cx="3428655" cy="1676400"/>
          </a:xfrm>
          <a:prstGeom prst="rect">
            <a:avLst/>
          </a:prstGeom>
        </p:spPr>
      </p:pic>
      <p:pic>
        <p:nvPicPr>
          <p:cNvPr id="5" name="Picture 4" descr="5zone-a.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1066800"/>
            <a:ext cx="3496236" cy="1143000"/>
          </a:xfrm>
          <a:prstGeom prst="rect">
            <a:avLst/>
          </a:prstGeom>
        </p:spPr>
      </p:pic>
    </p:spTree>
    <p:extLst>
      <p:ext uri="{BB962C8B-B14F-4D97-AF65-F5344CB8AC3E}">
        <p14:creationId xmlns:p14="http://schemas.microsoft.com/office/powerpoint/2010/main" val="387449860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Setting </a:t>
            </a:r>
            <a:r>
              <a:rPr lang="en-US" dirty="0"/>
              <a:t>F</a:t>
            </a:r>
            <a:r>
              <a:rPr lang="en-US" dirty="0" smtClean="0"/>
              <a:t>or </a:t>
            </a:r>
            <a:r>
              <a:rPr lang="en-US" dirty="0"/>
              <a:t>E</a:t>
            </a:r>
            <a:r>
              <a:rPr lang="en-US" dirty="0" smtClean="0"/>
              <a:t>ach Thermal Zone</a:t>
            </a: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828800"/>
            <a:ext cx="9048750" cy="42859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4227763"/>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 The Model</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1679355"/>
            <a:ext cx="6816724" cy="5062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7594784"/>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EnergyPlus Results</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1785938"/>
            <a:ext cx="7070725" cy="482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椭圆 3"/>
          <p:cNvSpPr/>
          <p:nvPr/>
        </p:nvSpPr>
        <p:spPr>
          <a:xfrm>
            <a:off x="622300" y="6286500"/>
            <a:ext cx="927100" cy="4953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椭圆 5"/>
          <p:cNvSpPr/>
          <p:nvPr/>
        </p:nvSpPr>
        <p:spPr>
          <a:xfrm>
            <a:off x="6527800" y="1917700"/>
            <a:ext cx="1663700" cy="49530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直接箭头连接符 6"/>
          <p:cNvCxnSpPr/>
          <p:nvPr/>
        </p:nvCxnSpPr>
        <p:spPr>
          <a:xfrm flipH="1">
            <a:off x="7359650" y="1320800"/>
            <a:ext cx="146050" cy="59690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943724" y="699869"/>
            <a:ext cx="2082800" cy="646331"/>
          </a:xfrm>
          <a:prstGeom prst="rect">
            <a:avLst/>
          </a:prstGeom>
          <a:noFill/>
        </p:spPr>
        <p:txBody>
          <a:bodyPr wrap="square" rtlCol="0">
            <a:spAutoFit/>
          </a:bodyPr>
          <a:lstStyle/>
          <a:p>
            <a:r>
              <a:rPr lang="en-US" dirty="0" smtClean="0"/>
              <a:t>Use this to get more results</a:t>
            </a:r>
            <a:endParaRPr lang="en-US" dirty="0"/>
          </a:p>
        </p:txBody>
      </p:sp>
    </p:spTree>
    <p:extLst>
      <p:ext uri="{BB962C8B-B14F-4D97-AF65-F5344CB8AC3E}">
        <p14:creationId xmlns:p14="http://schemas.microsoft.com/office/powerpoint/2010/main" val="398424448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EnergyPlus Results</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135" y="2066925"/>
            <a:ext cx="6181725" cy="3409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69181028"/>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Method</a:t>
            </a:r>
            <a:endParaRPr lang="en-US" dirty="0"/>
          </a:p>
        </p:txBody>
      </p:sp>
      <p:sp>
        <p:nvSpPr>
          <p:cNvPr id="3" name="Content Placeholder 2"/>
          <p:cNvSpPr>
            <a:spLocks noGrp="1"/>
          </p:cNvSpPr>
          <p:nvPr>
            <p:ph idx="1"/>
          </p:nvPr>
        </p:nvSpPr>
        <p:spPr/>
        <p:txBody>
          <a:bodyPr/>
          <a:lstStyle/>
          <a:p>
            <a:r>
              <a:rPr lang="en-US" dirty="0" smtClean="0"/>
              <a:t>Implemented using MATLAB with System Identification Toolbox</a:t>
            </a:r>
          </a:p>
          <a:p>
            <a:r>
              <a:rPr lang="en-US" dirty="0" smtClean="0"/>
              <a:t>Used EnergyPlus to simulate model and generate inputs and ‘golden’ outputs</a:t>
            </a:r>
          </a:p>
          <a:p>
            <a:pPr lvl="5"/>
            <a:endParaRPr lang="en-US" dirty="0"/>
          </a:p>
          <a:p>
            <a:r>
              <a:rPr lang="en-US" dirty="0" smtClean="0"/>
              <a:t>Inputs: </a:t>
            </a:r>
          </a:p>
          <a:p>
            <a:pPr lvl="1"/>
            <a:r>
              <a:rPr lang="en-US" dirty="0" smtClean="0"/>
              <a:t>Ambient temperature, HVAC data, light, electrical equipment, people</a:t>
            </a:r>
          </a:p>
          <a:p>
            <a:r>
              <a:rPr lang="en-US" dirty="0" smtClean="0"/>
              <a:t>Output: </a:t>
            </a:r>
          </a:p>
          <a:p>
            <a:pPr lvl="1"/>
            <a:r>
              <a:rPr lang="en-US" dirty="0" smtClean="0"/>
              <a:t>Zone room temperature</a:t>
            </a:r>
            <a:endParaRPr lang="en-US" dirty="0"/>
          </a:p>
        </p:txBody>
      </p:sp>
    </p:spTree>
    <p:extLst>
      <p:ext uri="{BB962C8B-B14F-4D97-AF65-F5344CB8AC3E}">
        <p14:creationId xmlns:p14="http://schemas.microsoft.com/office/powerpoint/2010/main" val="104370519"/>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Results (no extra factors)</a:t>
            </a:r>
            <a:endParaRPr lang="en-US" dirty="0"/>
          </a:p>
        </p:txBody>
      </p:sp>
      <p:sp>
        <p:nvSpPr>
          <p:cNvPr id="3" name="Content Placeholder 2"/>
          <p:cNvSpPr>
            <a:spLocks noGrp="1"/>
          </p:cNvSpPr>
          <p:nvPr>
            <p:ph idx="1"/>
          </p:nvPr>
        </p:nvSpPr>
        <p:spPr/>
        <p:txBody>
          <a:bodyPr/>
          <a:lstStyle/>
          <a:p>
            <a:r>
              <a:rPr lang="en-US" dirty="0" smtClean="0"/>
              <a:t>Order for system identification: 50</a:t>
            </a:r>
          </a:p>
          <a:p>
            <a:endParaRPr lang="en-US" dirty="0" smtClean="0"/>
          </a:p>
          <a:p>
            <a:endParaRPr lang="en-US" dirty="0"/>
          </a:p>
          <a:p>
            <a:endParaRPr lang="en-US" dirty="0" smtClean="0"/>
          </a:p>
          <a:p>
            <a:r>
              <a:rPr lang="en-US" dirty="0" smtClean="0"/>
              <a:t>Legend:</a:t>
            </a:r>
          </a:p>
          <a:p>
            <a:pPr lvl="1"/>
            <a:r>
              <a:rPr lang="en-US" dirty="0" smtClean="0"/>
              <a:t>Blue lines are EnergyPlus results</a:t>
            </a:r>
          </a:p>
          <a:p>
            <a:pPr lvl="1"/>
            <a:r>
              <a:rPr lang="en-US" dirty="0" smtClean="0"/>
              <a:t>Red lines are our estimated results</a:t>
            </a:r>
          </a:p>
          <a:p>
            <a:r>
              <a:rPr lang="en-US" sz="2000" dirty="0" smtClean="0"/>
              <a:t>Note: see results between 400 and 500. There is some extra effect that causes the golden result to be strange. Our system does not handle it well for both training (testing) and validation phases.</a:t>
            </a:r>
          </a:p>
        </p:txBody>
      </p:sp>
      <p:pic>
        <p:nvPicPr>
          <p:cNvPr id="4" name="Content Placeholder 5"/>
          <p:cNvPicPr>
            <a:picLocks noChangeAspect="1"/>
          </p:cNvPicPr>
          <p:nvPr/>
        </p:nvPicPr>
        <p:blipFill>
          <a:blip r:embed="rId2"/>
          <a:srcRect l="-14380" r="-14380"/>
          <a:stretch>
            <a:fillRect/>
          </a:stretch>
        </p:blipFill>
        <p:spPr bwMode="auto">
          <a:xfrm>
            <a:off x="5257800" y="2057400"/>
            <a:ext cx="4123931" cy="2268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pic>
    </p:spTree>
    <p:extLst>
      <p:ext uri="{BB962C8B-B14F-4D97-AF65-F5344CB8AC3E}">
        <p14:creationId xmlns:p14="http://schemas.microsoft.com/office/powerpoint/2010/main" val="3498172152"/>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Results (Training Phase)</a:t>
            </a:r>
            <a:endParaRPr lang="en-US" dirty="0"/>
          </a:p>
        </p:txBody>
      </p:sp>
      <p:pic>
        <p:nvPicPr>
          <p:cNvPr id="4" name="Content Placeholder 3" descr="initial_o50_testing_phase.eps"/>
          <p:cNvPicPr>
            <a:picLocks noGrp="1" noChangeAspect="1"/>
          </p:cNvPicPr>
          <p:nvPr>
            <p:ph idx="1"/>
          </p:nvPr>
        </p:nvPicPr>
        <p:blipFill>
          <a:blip r:embed="rId2">
            <a:extLst>
              <a:ext uri="{28A0092B-C50C-407E-A947-70E740481C1C}">
                <a14:useLocalDpi xmlns:a14="http://schemas.microsoft.com/office/drawing/2010/main" val="0"/>
              </a:ext>
            </a:extLst>
          </a:blip>
          <a:srcRect t="-99" b="-99"/>
          <a:stretch>
            <a:fillRect/>
          </a:stretch>
        </p:blipFill>
        <p:spPr>
          <a:xfrm>
            <a:off x="-762000" y="1825625"/>
            <a:ext cx="10515600" cy="4351338"/>
          </a:xfrm>
        </p:spPr>
      </p:pic>
    </p:spTree>
    <p:extLst>
      <p:ext uri="{BB962C8B-B14F-4D97-AF65-F5344CB8AC3E}">
        <p14:creationId xmlns:p14="http://schemas.microsoft.com/office/powerpoint/2010/main" val="4013816295"/>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Results (Validation Phase)</a:t>
            </a:r>
            <a:endParaRPr lang="en-US" dirty="0"/>
          </a:p>
        </p:txBody>
      </p:sp>
      <p:pic>
        <p:nvPicPr>
          <p:cNvPr id="4" name="Content Placeholder 3" descr="initial_o50_validation_phase.eps"/>
          <p:cNvPicPr>
            <a:picLocks noGrp="1" noChangeAspect="1"/>
          </p:cNvPicPr>
          <p:nvPr>
            <p:ph idx="1"/>
          </p:nvPr>
        </p:nvPicPr>
        <p:blipFill>
          <a:blip r:embed="rId2">
            <a:extLst>
              <a:ext uri="{28A0092B-C50C-407E-A947-70E740481C1C}">
                <a14:useLocalDpi xmlns:a14="http://schemas.microsoft.com/office/drawing/2010/main" val="0"/>
              </a:ext>
            </a:extLst>
          </a:blip>
          <a:srcRect l="54" r="54"/>
          <a:stretch>
            <a:fillRect/>
          </a:stretch>
        </p:blipFill>
        <p:spPr>
          <a:xfrm>
            <a:off x="-762000" y="1825625"/>
            <a:ext cx="10515600" cy="4351338"/>
          </a:xfrm>
        </p:spPr>
      </p:pic>
    </p:spTree>
    <p:extLst>
      <p:ext uri="{BB962C8B-B14F-4D97-AF65-F5344CB8AC3E}">
        <p14:creationId xmlns:p14="http://schemas.microsoft.com/office/powerpoint/2010/main" val="4053094098"/>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with extra factors</a:t>
            </a:r>
            <a:endParaRPr lang="en-US" dirty="0"/>
          </a:p>
        </p:txBody>
      </p:sp>
      <p:sp>
        <p:nvSpPr>
          <p:cNvPr id="3" name="Content Placeholder 2"/>
          <p:cNvSpPr>
            <a:spLocks noGrp="1"/>
          </p:cNvSpPr>
          <p:nvPr>
            <p:ph idx="1"/>
          </p:nvPr>
        </p:nvSpPr>
        <p:spPr/>
        <p:txBody>
          <a:bodyPr/>
          <a:lstStyle/>
          <a:p>
            <a:r>
              <a:rPr lang="en-US" dirty="0" smtClean="0"/>
              <a:t>Specifications</a:t>
            </a:r>
          </a:p>
          <a:p>
            <a:pPr lvl="1"/>
            <a:r>
              <a:rPr lang="en-US" sz="2000" dirty="0" smtClean="0"/>
              <a:t>Input: </a:t>
            </a:r>
          </a:p>
          <a:p>
            <a:pPr lvl="2"/>
            <a:r>
              <a:rPr lang="en-US" sz="1900" dirty="0" smtClean="0"/>
              <a:t>Ambient temperature, Custom scheduler, Light Heating Rate</a:t>
            </a:r>
          </a:p>
          <a:p>
            <a:pPr lvl="1"/>
            <a:r>
              <a:rPr lang="en-US" sz="2000" dirty="0" smtClean="0"/>
              <a:t>Output:</a:t>
            </a:r>
          </a:p>
          <a:p>
            <a:pPr lvl="2"/>
            <a:r>
              <a:rPr lang="en-US" sz="1900" dirty="0" smtClean="0"/>
              <a:t>Zone room temperatures</a:t>
            </a:r>
          </a:p>
          <a:p>
            <a:pPr lvl="1"/>
            <a:r>
              <a:rPr lang="en-US" sz="2000" dirty="0" smtClean="0"/>
              <a:t>Order for system </a:t>
            </a:r>
            <a:br>
              <a:rPr lang="en-US" sz="2000" dirty="0" smtClean="0"/>
            </a:br>
            <a:r>
              <a:rPr lang="en-US" sz="2000" dirty="0" smtClean="0"/>
              <a:t>identification: 90</a:t>
            </a:r>
          </a:p>
          <a:p>
            <a:endParaRPr lang="en-US" sz="2400" dirty="0"/>
          </a:p>
          <a:p>
            <a:r>
              <a:rPr lang="en-US" sz="2400" dirty="0" smtClean="0"/>
              <a:t>Legend:</a:t>
            </a:r>
          </a:p>
          <a:p>
            <a:pPr lvl="1"/>
            <a:r>
              <a:rPr lang="en-US" sz="2000" dirty="0" smtClean="0"/>
              <a:t>Blue lines are EnergyPlus </a:t>
            </a:r>
            <a:br>
              <a:rPr lang="en-US" sz="2000" dirty="0" smtClean="0"/>
            </a:br>
            <a:r>
              <a:rPr lang="en-US" sz="2000" dirty="0" smtClean="0"/>
              <a:t>results</a:t>
            </a:r>
          </a:p>
          <a:p>
            <a:pPr lvl="1"/>
            <a:r>
              <a:rPr lang="en-US" sz="2000" dirty="0" smtClean="0"/>
              <a:t>Red lines are our estimated </a:t>
            </a:r>
            <a:br>
              <a:rPr lang="en-US" sz="2000" dirty="0" smtClean="0"/>
            </a:br>
            <a:r>
              <a:rPr lang="en-US" sz="2000" dirty="0" smtClean="0"/>
              <a:t>results</a:t>
            </a:r>
          </a:p>
          <a:p>
            <a:endParaRPr lang="en-US" dirty="0"/>
          </a:p>
        </p:txBody>
      </p:sp>
      <p:pic>
        <p:nvPicPr>
          <p:cNvPr id="4" name="Picture 3"/>
          <p:cNvPicPr>
            <a:picLocks noChangeAspect="1"/>
          </p:cNvPicPr>
          <p:nvPr/>
        </p:nvPicPr>
        <p:blipFill>
          <a:blip r:embed="rId2"/>
          <a:stretch>
            <a:fillRect/>
          </a:stretch>
        </p:blipFill>
        <p:spPr>
          <a:xfrm>
            <a:off x="4648200" y="3124200"/>
            <a:ext cx="4899113" cy="3384657"/>
          </a:xfrm>
          <a:prstGeom prst="rect">
            <a:avLst/>
          </a:prstGeom>
        </p:spPr>
      </p:pic>
    </p:spTree>
    <p:extLst>
      <p:ext uri="{BB962C8B-B14F-4D97-AF65-F5344CB8AC3E}">
        <p14:creationId xmlns:p14="http://schemas.microsoft.com/office/powerpoint/2010/main" val="110244115"/>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(Training Phase)</a:t>
            </a:r>
            <a:endParaRPr lang="en-US" dirty="0"/>
          </a:p>
        </p:txBody>
      </p:sp>
      <p:pic>
        <p:nvPicPr>
          <p:cNvPr id="4" name="Picture 3" descr="20150623-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930" y="1592728"/>
            <a:ext cx="10813930" cy="5189072"/>
          </a:xfrm>
          <a:prstGeom prst="rect">
            <a:avLst/>
          </a:prstGeom>
        </p:spPr>
      </p:pic>
    </p:spTree>
    <p:extLst>
      <p:ext uri="{BB962C8B-B14F-4D97-AF65-F5344CB8AC3E}">
        <p14:creationId xmlns:p14="http://schemas.microsoft.com/office/powerpoint/2010/main" val="864275192"/>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(Validation Phase)</a:t>
            </a:r>
            <a:endParaRPr lang="en-US" dirty="0"/>
          </a:p>
        </p:txBody>
      </p:sp>
      <p:pic>
        <p:nvPicPr>
          <p:cNvPr id="5" name="Picture 4" descr="20150623-validation.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609128"/>
            <a:ext cx="10744200" cy="5155612"/>
          </a:xfrm>
          <a:prstGeom prst="rect">
            <a:avLst/>
          </a:prstGeom>
        </p:spPr>
      </p:pic>
    </p:spTree>
    <p:extLst>
      <p:ext uri="{BB962C8B-B14F-4D97-AF65-F5344CB8AC3E}">
        <p14:creationId xmlns:p14="http://schemas.microsoft.com/office/powerpoint/2010/main" val="3932438152"/>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a:t>
            </a:r>
            <a:endParaRPr lang="en-US" dirty="0"/>
          </a:p>
        </p:txBody>
      </p:sp>
      <p:sp>
        <p:nvSpPr>
          <p:cNvPr id="3" name="Content Placeholder 2"/>
          <p:cNvSpPr>
            <a:spLocks noGrp="1"/>
          </p:cNvSpPr>
          <p:nvPr>
            <p:ph idx="1"/>
          </p:nvPr>
        </p:nvSpPr>
        <p:spPr/>
        <p:txBody>
          <a:bodyPr/>
          <a:lstStyle/>
          <a:p>
            <a:r>
              <a:rPr lang="en-US" dirty="0" smtClean="0"/>
              <a:t>Testing phase seems to build the model accurately, even with light heat as a factor.</a:t>
            </a:r>
          </a:p>
          <a:p>
            <a:endParaRPr lang="en-US" dirty="0"/>
          </a:p>
        </p:txBody>
      </p:sp>
      <p:sp>
        <p:nvSpPr>
          <p:cNvPr id="5" name="TextBox 4"/>
          <p:cNvSpPr txBox="1"/>
          <p:nvPr/>
        </p:nvSpPr>
        <p:spPr>
          <a:xfrm>
            <a:off x="3276600" y="2743200"/>
            <a:ext cx="5867400" cy="1200329"/>
          </a:xfrm>
          <a:prstGeom prst="rect">
            <a:avLst/>
          </a:prstGeom>
          <a:noFill/>
        </p:spPr>
        <p:txBody>
          <a:bodyPr wrap="square" rtlCol="0">
            <a:spAutoFit/>
          </a:bodyPr>
          <a:lstStyle/>
          <a:p>
            <a:r>
              <a:rPr lang="en-US" dirty="0" smtClean="0"/>
              <a:t>Example below:</a:t>
            </a:r>
          </a:p>
          <a:p>
            <a:r>
              <a:rPr lang="en-US" dirty="0" smtClean="0"/>
              <a:t>Actual schedule(blue) : 4-</a:t>
            </a:r>
            <a:r>
              <a:rPr lang="en-US" u="sng" dirty="0" smtClean="0"/>
              <a:t>2</a:t>
            </a:r>
            <a:r>
              <a:rPr lang="en-US" dirty="0" smtClean="0"/>
              <a:t>-5-</a:t>
            </a:r>
            <a:r>
              <a:rPr lang="en-US" u="sng" dirty="0" smtClean="0"/>
              <a:t>2</a:t>
            </a:r>
            <a:r>
              <a:rPr lang="en-US" dirty="0" smtClean="0"/>
              <a:t>-5-</a:t>
            </a:r>
            <a:r>
              <a:rPr lang="en-US" u="sng" dirty="0" smtClean="0"/>
              <a:t>1</a:t>
            </a:r>
            <a:r>
              <a:rPr lang="en-US" dirty="0" smtClean="0"/>
              <a:t>-4-</a:t>
            </a:r>
            <a:r>
              <a:rPr lang="en-US" u="sng" dirty="0" smtClean="0"/>
              <a:t>2</a:t>
            </a:r>
            <a:r>
              <a:rPr lang="en-US" dirty="0" smtClean="0"/>
              <a:t>-5-</a:t>
            </a:r>
            <a:r>
              <a:rPr lang="en-US" u="sng" dirty="0" smtClean="0"/>
              <a:t>2</a:t>
            </a:r>
            <a:r>
              <a:rPr lang="en-US" dirty="0" smtClean="0"/>
              <a:t>-5-</a:t>
            </a:r>
            <a:r>
              <a:rPr lang="en-US" u="sng" dirty="0" smtClean="0"/>
              <a:t>2</a:t>
            </a:r>
            <a:r>
              <a:rPr lang="en-US" dirty="0" smtClean="0"/>
              <a:t>-…</a:t>
            </a:r>
          </a:p>
          <a:p>
            <a:r>
              <a:rPr lang="en-US" dirty="0" smtClean="0"/>
              <a:t>Estimated schedule(red)  : 2-</a:t>
            </a:r>
            <a:r>
              <a:rPr lang="en-US" u="sng" dirty="0" smtClean="0"/>
              <a:t>2</a:t>
            </a:r>
            <a:r>
              <a:rPr lang="en-US" dirty="0" smtClean="0"/>
              <a:t>-5-</a:t>
            </a:r>
            <a:r>
              <a:rPr lang="en-US" u="sng" dirty="0" smtClean="0"/>
              <a:t>2</a:t>
            </a:r>
            <a:r>
              <a:rPr lang="en-US" dirty="0" smtClean="0"/>
              <a:t>-5-</a:t>
            </a:r>
            <a:r>
              <a:rPr lang="en-US" u="sng" dirty="0" smtClean="0"/>
              <a:t>2</a:t>
            </a:r>
            <a:r>
              <a:rPr lang="en-US" dirty="0" smtClean="0"/>
              <a:t>-5-</a:t>
            </a:r>
            <a:r>
              <a:rPr lang="en-US" u="sng" dirty="0" smtClean="0"/>
              <a:t>2</a:t>
            </a:r>
            <a:r>
              <a:rPr lang="en-US" dirty="0" smtClean="0"/>
              <a:t>-5-</a:t>
            </a:r>
            <a:r>
              <a:rPr lang="en-US" u="sng" dirty="0" smtClean="0"/>
              <a:t>2</a:t>
            </a:r>
            <a:r>
              <a:rPr lang="en-US" dirty="0" smtClean="0"/>
              <a:t>-5-</a:t>
            </a:r>
            <a:r>
              <a:rPr lang="en-US" u="sng" dirty="0" smtClean="0"/>
              <a:t>2</a:t>
            </a:r>
            <a:r>
              <a:rPr lang="en-US" dirty="0" smtClean="0"/>
              <a:t>-…</a:t>
            </a:r>
          </a:p>
          <a:p>
            <a:r>
              <a:rPr lang="en-US" dirty="0"/>
              <a:t>(Underlined numbers are weekend days</a:t>
            </a:r>
            <a:r>
              <a:rPr lang="en-US" dirty="0" smtClean="0"/>
              <a:t>)</a:t>
            </a:r>
            <a:endParaRPr lang="en-US" dirty="0"/>
          </a:p>
        </p:txBody>
      </p:sp>
      <p:pic>
        <p:nvPicPr>
          <p:cNvPr id="6" name="Picture 5"/>
          <p:cNvPicPr>
            <a:picLocks noChangeAspect="1"/>
          </p:cNvPicPr>
          <p:nvPr/>
        </p:nvPicPr>
        <p:blipFill>
          <a:blip r:embed="rId2"/>
          <a:stretch>
            <a:fillRect/>
          </a:stretch>
        </p:blipFill>
        <p:spPr>
          <a:xfrm>
            <a:off x="0" y="4396576"/>
            <a:ext cx="9180305" cy="1394624"/>
          </a:xfrm>
          <a:prstGeom prst="rect">
            <a:avLst/>
          </a:prstGeom>
        </p:spPr>
      </p:pic>
    </p:spTree>
    <p:extLst>
      <p:ext uri="{BB962C8B-B14F-4D97-AF65-F5344CB8AC3E}">
        <p14:creationId xmlns:p14="http://schemas.microsoft.com/office/powerpoint/2010/main" val="2298829734"/>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Optimization and Final Results</a:t>
            </a:r>
            <a:endParaRPr lang="en-US" dirty="0"/>
          </a:p>
        </p:txBody>
      </p:sp>
      <p:sp>
        <p:nvSpPr>
          <p:cNvPr id="3" name="Content Placeholder 2"/>
          <p:cNvSpPr>
            <a:spLocks noGrp="1"/>
          </p:cNvSpPr>
          <p:nvPr>
            <p:ph idx="1"/>
          </p:nvPr>
        </p:nvSpPr>
        <p:spPr/>
        <p:txBody>
          <a:bodyPr/>
          <a:lstStyle/>
          <a:p>
            <a:r>
              <a:rPr lang="en-US" dirty="0" smtClean="0"/>
              <a:t>Done various optimization which includes selecting a proper order.</a:t>
            </a:r>
          </a:p>
          <a:p>
            <a:r>
              <a:rPr lang="en-US" dirty="0" smtClean="0"/>
              <a:t>For this order study, the best order seen below is 37. After many trials, we found an acceptable order.</a:t>
            </a:r>
          </a:p>
          <a:p>
            <a:endParaRPr lang="en-US" dirty="0"/>
          </a:p>
        </p:txBody>
      </p:sp>
      <p:pic>
        <p:nvPicPr>
          <p:cNvPr id="4" name="Picture 3" descr="order_study.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2800" y="3657600"/>
            <a:ext cx="4064000" cy="3048000"/>
          </a:xfrm>
          <a:prstGeom prst="rect">
            <a:avLst/>
          </a:prstGeom>
        </p:spPr>
      </p:pic>
    </p:spTree>
    <p:extLst>
      <p:ext uri="{BB962C8B-B14F-4D97-AF65-F5344CB8AC3E}">
        <p14:creationId xmlns:p14="http://schemas.microsoft.com/office/powerpoint/2010/main" val="1543006143"/>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Results (Training Phase)</a:t>
            </a:r>
            <a:endParaRPr lang="en-US" dirty="0"/>
          </a:p>
        </p:txBody>
      </p:sp>
      <p:sp>
        <p:nvSpPr>
          <p:cNvPr id="3" name="Content Placeholder 2"/>
          <p:cNvSpPr>
            <a:spLocks noGrp="1"/>
          </p:cNvSpPr>
          <p:nvPr>
            <p:ph idx="1"/>
          </p:nvPr>
        </p:nvSpPr>
        <p:spPr/>
        <p:txBody>
          <a:bodyPr/>
          <a:lstStyle/>
          <a:p>
            <a:r>
              <a:rPr lang="en-US" sz="2200" dirty="0" smtClean="0"/>
              <a:t>For 5-zone building, only one zone and the first 500 hours shown below</a:t>
            </a:r>
          </a:p>
        </p:txBody>
      </p:sp>
      <p:pic>
        <p:nvPicPr>
          <p:cNvPr id="4" name="Picture 3" descr="5zone-testingphase-only-consider-ambient-tempera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516275"/>
            <a:ext cx="5321300" cy="4000500"/>
          </a:xfrm>
          <a:prstGeom prst="rect">
            <a:avLst/>
          </a:prstGeom>
        </p:spPr>
      </p:pic>
    </p:spTree>
    <p:extLst>
      <p:ext uri="{BB962C8B-B14F-4D97-AF65-F5344CB8AC3E}">
        <p14:creationId xmlns:p14="http://schemas.microsoft.com/office/powerpoint/2010/main" val="646796027"/>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Results (Validation Phase)</a:t>
            </a:r>
            <a:endParaRPr lang="en-US" dirty="0"/>
          </a:p>
        </p:txBody>
      </p:sp>
      <p:pic>
        <p:nvPicPr>
          <p:cNvPr id="4" name="Picture 3" descr="5zone-validationphase-only-consider-ambient-tempera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057400"/>
            <a:ext cx="5321300" cy="4000500"/>
          </a:xfrm>
          <a:prstGeom prst="rect">
            <a:avLst/>
          </a:prstGeom>
        </p:spPr>
      </p:pic>
    </p:spTree>
    <p:extLst>
      <p:ext uri="{BB962C8B-B14F-4D97-AF65-F5344CB8AC3E}">
        <p14:creationId xmlns:p14="http://schemas.microsoft.com/office/powerpoint/2010/main" val="3441178644"/>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Absolute and Relative Errors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57321858"/>
              </p:ext>
            </p:extLst>
          </p:nvPr>
        </p:nvGraphicFramePr>
        <p:xfrm>
          <a:off x="1752600" y="1627828"/>
          <a:ext cx="5867400" cy="2182172"/>
        </p:xfrm>
        <a:graphic>
          <a:graphicData uri="http://schemas.openxmlformats.org/drawingml/2006/table">
            <a:tbl>
              <a:tblPr firstRow="1" bandRow="1">
                <a:tableStyleId>{10A1B5D5-9B99-4C35-A422-299274C87663}</a:tableStyleId>
              </a:tblPr>
              <a:tblGrid>
                <a:gridCol w="762000"/>
                <a:gridCol w="1295400"/>
                <a:gridCol w="762000"/>
                <a:gridCol w="762000"/>
                <a:gridCol w="762000"/>
                <a:gridCol w="762000"/>
                <a:gridCol w="762000"/>
              </a:tblGrid>
              <a:tr h="304799">
                <a:tc gridSpan="7">
                  <a:txBody>
                    <a:bodyPr/>
                    <a:lstStyle/>
                    <a:p>
                      <a:pPr algn="ctr" fontAlgn="b"/>
                      <a:r>
                        <a:rPr lang="en-US" sz="1100" u="none" strike="noStrike" dirty="0">
                          <a:effectLst/>
                        </a:rPr>
                        <a:t>Five zone with HVAC only considering ambient temperature</a:t>
                      </a:r>
                      <a:endParaRPr lang="en-US" sz="1100" b="1" i="0" u="none" strike="noStrike" dirty="0">
                        <a:solidFill>
                          <a:srgbClr val="000000"/>
                        </a:solidFill>
                        <a:effectLst/>
                        <a:latin typeface="Calibri"/>
                      </a:endParaRPr>
                    </a:p>
                  </a:txBody>
                  <a:tcPr marL="12700" marR="12700" marT="1270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08597">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12700" marR="12700" marT="12700" marB="0" anchor="b"/>
                </a:tc>
                <a:tc>
                  <a:txBody>
                    <a:bodyPr/>
                    <a:lstStyle/>
                    <a:p>
                      <a:pPr algn="l" fontAlgn="b"/>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1</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2</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a:effectLst/>
                        </a:rPr>
                        <a:t>SPACE 3</a:t>
                      </a:r>
                      <a:endParaRPr lang="en-US" sz="1100" b="0" i="0" u="sng" strike="noStrike">
                        <a:solidFill>
                          <a:srgbClr val="000000"/>
                        </a:solidFill>
                        <a:effectLst/>
                        <a:latin typeface="Calibri"/>
                      </a:endParaRPr>
                    </a:p>
                  </a:txBody>
                  <a:tcPr marL="12700" marR="12700" marT="12700" marB="0" anchor="b"/>
                </a:tc>
                <a:tc>
                  <a:txBody>
                    <a:bodyPr/>
                    <a:lstStyle/>
                    <a:p>
                      <a:pPr algn="ctr" fontAlgn="b"/>
                      <a:r>
                        <a:rPr lang="en-US" sz="1100" u="sng" strike="noStrike">
                          <a:effectLst/>
                        </a:rPr>
                        <a:t>SPACE 4</a:t>
                      </a:r>
                      <a:endParaRPr lang="en-US" sz="1100" b="0" i="0" u="sng" strike="noStrike">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5</a:t>
                      </a:r>
                      <a:endParaRPr lang="en-US" sz="1100" b="0" i="0" u="sng" strike="noStrike" dirty="0">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dirty="0">
                          <a:effectLst/>
                        </a:rPr>
                        <a:t>Testing</a:t>
                      </a:r>
                      <a:endParaRPr lang="en-US" sz="1100" b="1" i="0" u="none" strike="noStrike" dirty="0">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0.0150</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0.0165</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0.0138</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0.0136</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0.0120</a:t>
                      </a:r>
                      <a:endParaRPr lang="en-US" sz="1100" b="0" i="0" u="none" strike="noStrike" dirty="0">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0.0879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0.0825</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0.0958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0.0927</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0.0900</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0.3078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0.3372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0.2752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0.2739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0.2482</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1.8780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1.7701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2.0544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1.9978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1.9546</a:t>
                      </a:r>
                      <a:endParaRPr lang="en-US" sz="1100" b="0" i="0" u="none" strike="noStrike">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a:effectLst/>
                        </a:rPr>
                        <a:t>Validation</a:t>
                      </a:r>
                      <a:endParaRPr lang="en-US" sz="1100" b="1" i="0" u="none" strike="noStrike">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0.0267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0.0290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0.0187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0.0199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0.0166</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0.1510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0.1868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0.1438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0.1463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0.1375</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0.5707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0.6267</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0.3874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0.4157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0.3538</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2.7525</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4.1471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3.2361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3.3607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3.1209</a:t>
                      </a:r>
                      <a:endParaRPr lang="en-US" sz="1100" b="0" i="0" u="none" strike="noStrike" dirty="0">
                        <a:solidFill>
                          <a:srgbClr val="000000"/>
                        </a:solidFill>
                        <a:effectLst/>
                        <a:latin typeface="Calibri"/>
                      </a:endParaRPr>
                    </a:p>
                  </a:txBody>
                  <a:tcPr marL="12700" marR="12700" marT="12700" marB="0" anchor="b"/>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933910022"/>
              </p:ext>
            </p:extLst>
          </p:nvPr>
        </p:nvGraphicFramePr>
        <p:xfrm>
          <a:off x="1752600" y="4142426"/>
          <a:ext cx="5867400" cy="2182174"/>
        </p:xfrm>
        <a:graphic>
          <a:graphicData uri="http://schemas.openxmlformats.org/drawingml/2006/table">
            <a:tbl>
              <a:tblPr firstRow="1" bandRow="1">
                <a:tableStyleId>{10A1B5D5-9B99-4C35-A422-299274C87663}</a:tableStyleId>
              </a:tblPr>
              <a:tblGrid>
                <a:gridCol w="762000"/>
                <a:gridCol w="1295400"/>
                <a:gridCol w="762000"/>
                <a:gridCol w="762000"/>
                <a:gridCol w="762000"/>
                <a:gridCol w="762000"/>
                <a:gridCol w="762000"/>
              </a:tblGrid>
              <a:tr h="304801">
                <a:tc gridSpan="7">
                  <a:txBody>
                    <a:bodyPr/>
                    <a:lstStyle/>
                    <a:p>
                      <a:pPr algn="ctr" fontAlgn="b"/>
                      <a:r>
                        <a:rPr lang="en-US" sz="1100" u="none" strike="noStrike" dirty="0">
                          <a:effectLst/>
                        </a:rPr>
                        <a:t>Five zone with HVAC and considering extra factors</a:t>
                      </a:r>
                      <a:endParaRPr lang="en-US" sz="1100" b="1" i="0" u="none" strike="noStrike" dirty="0">
                        <a:solidFill>
                          <a:srgbClr val="000000"/>
                        </a:solidFill>
                        <a:effectLst/>
                        <a:latin typeface="Calibri"/>
                      </a:endParaRPr>
                    </a:p>
                  </a:txBody>
                  <a:tcPr marL="12700" marR="12700" marT="1270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08597">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12700" marR="12700" marT="12700" marB="0" anchor="b"/>
                </a:tc>
                <a:tc>
                  <a:txBody>
                    <a:bodyPr/>
                    <a:lstStyle/>
                    <a:p>
                      <a:pPr algn="l" fontAlgn="b"/>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1</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2</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3</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4</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5</a:t>
                      </a:r>
                      <a:endParaRPr lang="en-US" sz="1100" b="0" i="0" u="sng" strike="noStrike" dirty="0">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dirty="0">
                          <a:effectLst/>
                        </a:rPr>
                        <a:t>Testing</a:t>
                      </a:r>
                      <a:endParaRPr lang="en-US" sz="1100" b="1" i="0" u="none" strike="noStrike" dirty="0">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0.0153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0.0167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0.0132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0.0139</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0.0088</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0.0792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0.0948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0.0759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0.0788</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0.0598</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0.3297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0.3620</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0.2742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0.2919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0.1900</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1.7938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2.0272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1.6310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1.6794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1.3117</a:t>
                      </a:r>
                      <a:endParaRPr lang="en-US" sz="1100" b="0" i="0" u="none" strike="noStrike">
                        <a:solidFill>
                          <a:srgbClr val="000000"/>
                        </a:solidFill>
                        <a:effectLst/>
                        <a:latin typeface="Calibri"/>
                      </a:endParaRPr>
                    </a:p>
                  </a:txBody>
                  <a:tcPr marL="12700" marR="12700" marT="12700" marB="0" anchor="b"/>
                </a:tc>
              </a:tr>
              <a:tr h="208597">
                <a:tc rowSpan="4">
                  <a:txBody>
                    <a:bodyPr/>
                    <a:lstStyle/>
                    <a:p>
                      <a:pPr algn="ctr" fontAlgn="ctr"/>
                      <a:r>
                        <a:rPr lang="en-US" sz="1100" u="none" strike="noStrike">
                          <a:effectLst/>
                        </a:rPr>
                        <a:t>Validation</a:t>
                      </a:r>
                      <a:endParaRPr lang="en-US" sz="1100" b="1" i="0" u="none" strike="noStrike">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0.0320</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0.0333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0.0187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0.0203</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0.0145</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0.1594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0.1690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0.0786</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0.0930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0.0650</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0.7247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0.7520</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0.3947</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0.4352</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0.3187</a:t>
                      </a:r>
                      <a:endParaRPr lang="en-US" sz="1100" b="0" i="0" u="none" strike="noStrike">
                        <a:solidFill>
                          <a:srgbClr val="000000"/>
                        </a:solidFill>
                        <a:effectLst/>
                        <a:latin typeface="Calibri"/>
                      </a:endParaRPr>
                    </a:p>
                  </a:txBody>
                  <a:tcPr marL="12700" marR="12700" marT="12700" marB="0" anchor="b"/>
                </a:tc>
              </a:tr>
              <a:tr h="208597">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4.3228</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4.6669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1.6876</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2.0009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1.4297</a:t>
                      </a:r>
                      <a:endParaRPr lang="en-US" sz="1100" b="0" i="0" u="none" strike="noStrike" dirty="0">
                        <a:solidFill>
                          <a:srgbClr val="000000"/>
                        </a:solidFill>
                        <a:effectLst/>
                        <a:latin typeface="Calibri"/>
                      </a:endParaRPr>
                    </a:p>
                  </a:txBody>
                  <a:tcPr marL="12700" marR="12700" marT="12700" marB="0" anchor="b"/>
                </a:tc>
              </a:tr>
            </a:tbl>
          </a:graphicData>
        </a:graphic>
      </p:graphicFrame>
    </p:spTree>
    <p:extLst>
      <p:ext uri="{BB962C8B-B14F-4D97-AF65-F5344CB8AC3E}">
        <p14:creationId xmlns:p14="http://schemas.microsoft.com/office/powerpoint/2010/main" val="3252561539"/>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2-Zone Results</a:t>
            </a:r>
            <a:endParaRPr lang="en-US" dirty="0"/>
          </a:p>
        </p:txBody>
      </p:sp>
      <p:pic>
        <p:nvPicPr>
          <p:cNvPr id="6" name="Picture 5" descr="2zone-testingphase-consider-all-factor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530" y="1595667"/>
            <a:ext cx="4263070" cy="3204933"/>
          </a:xfrm>
          <a:prstGeom prst="rect">
            <a:avLst/>
          </a:prstGeom>
        </p:spPr>
      </p:pic>
      <p:pic>
        <p:nvPicPr>
          <p:cNvPr id="7" name="Picture 6" descr="2zone-validationphase-consider-all-factor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8200" y="3429000"/>
            <a:ext cx="4267200" cy="3208038"/>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270547495"/>
              </p:ext>
            </p:extLst>
          </p:nvPr>
        </p:nvGraphicFramePr>
        <p:xfrm>
          <a:off x="5105400" y="810705"/>
          <a:ext cx="3429000" cy="2465895"/>
        </p:xfrm>
        <a:graphic>
          <a:graphicData uri="http://schemas.openxmlformats.org/drawingml/2006/table">
            <a:tbl>
              <a:tblPr firstRow="1" bandRow="1">
                <a:tableStyleId>{10A1B5D5-9B99-4C35-A422-299274C87663}</a:tableStyleId>
              </a:tblPr>
              <a:tblGrid>
                <a:gridCol w="646981"/>
                <a:gridCol w="1410419"/>
                <a:gridCol w="685800"/>
                <a:gridCol w="685800"/>
              </a:tblGrid>
              <a:tr h="304797">
                <a:tc gridSpan="4">
                  <a:txBody>
                    <a:bodyPr/>
                    <a:lstStyle/>
                    <a:p>
                      <a:pPr algn="ctr" fontAlgn="b"/>
                      <a:r>
                        <a:rPr lang="en-US" sz="1100" u="none" strike="noStrike" dirty="0">
                          <a:effectLst/>
                        </a:rPr>
                        <a:t>Two zone with HVAC and extra factors</a:t>
                      </a:r>
                      <a:endParaRPr lang="en-US" sz="1100" b="1" i="0" u="none" strike="noStrike" dirty="0">
                        <a:solidFill>
                          <a:srgbClr val="000000"/>
                        </a:solidFill>
                        <a:effectLst/>
                        <a:latin typeface="Calibri"/>
                      </a:endParaRPr>
                    </a:p>
                  </a:txBody>
                  <a:tcPr marL="12700" marR="12700" marT="12700" marB="0" anchor="b"/>
                </a:tc>
                <a:tc hMerge="1">
                  <a:txBody>
                    <a:bodyPr/>
                    <a:lstStyle/>
                    <a:p>
                      <a:endParaRPr lang="en-US"/>
                    </a:p>
                  </a:txBody>
                  <a:tcPr/>
                </a:tc>
                <a:tc hMerge="1">
                  <a:txBody>
                    <a:bodyPr/>
                    <a:lstStyle/>
                    <a:p>
                      <a:endParaRPr lang="en-US"/>
                    </a:p>
                  </a:txBody>
                  <a:tcPr/>
                </a:tc>
                <a:tc hMerge="1">
                  <a:txBody>
                    <a:bodyPr/>
                    <a:lstStyle/>
                    <a:p>
                      <a:endParaRPr lang="en-US"/>
                    </a:p>
                  </a:txBody>
                  <a:tcPr/>
                </a:tc>
              </a:tr>
              <a:tr h="240122">
                <a:tc>
                  <a:txBody>
                    <a:bodyPr/>
                    <a:lstStyle/>
                    <a:p>
                      <a:pPr algn="l" fontAlgn="b"/>
                      <a:r>
                        <a:rPr lang="en-US" sz="1100" u="none" strike="noStrike">
                          <a:effectLst/>
                        </a:rPr>
                        <a:t> </a:t>
                      </a:r>
                      <a:endParaRPr lang="en-US" sz="1100" b="0" i="0" u="none" strike="noStrike">
                        <a:solidFill>
                          <a:srgbClr val="000000"/>
                        </a:solidFill>
                        <a:effectLst/>
                        <a:latin typeface="Calibri"/>
                      </a:endParaRPr>
                    </a:p>
                  </a:txBody>
                  <a:tcPr marL="12700" marR="12700" marT="12700" marB="0" anchor="b"/>
                </a:tc>
                <a:tc>
                  <a:txBody>
                    <a:bodyPr/>
                    <a:lstStyle/>
                    <a:p>
                      <a:pPr algn="l" fontAlgn="b"/>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sng" strike="noStrike" dirty="0">
                          <a:effectLst/>
                        </a:rPr>
                        <a:t>SPACE 1</a:t>
                      </a:r>
                      <a:endParaRPr lang="en-US" sz="1100" b="0" i="0" u="sng" strike="noStrike" dirty="0">
                        <a:solidFill>
                          <a:srgbClr val="000000"/>
                        </a:solidFill>
                        <a:effectLst/>
                        <a:latin typeface="Calibri"/>
                      </a:endParaRPr>
                    </a:p>
                  </a:txBody>
                  <a:tcPr marL="12700" marR="12700" marT="12700" marB="0" anchor="b"/>
                </a:tc>
                <a:tc>
                  <a:txBody>
                    <a:bodyPr/>
                    <a:lstStyle/>
                    <a:p>
                      <a:pPr algn="ctr" fontAlgn="b"/>
                      <a:r>
                        <a:rPr lang="en-US" sz="1100" u="sng" strike="noStrike">
                          <a:effectLst/>
                        </a:rPr>
                        <a:t>SPACE 2</a:t>
                      </a:r>
                      <a:endParaRPr lang="en-US" sz="1100" b="0" i="0" u="sng" strike="noStrike">
                        <a:solidFill>
                          <a:srgbClr val="000000"/>
                        </a:solidFill>
                        <a:effectLst/>
                        <a:latin typeface="Calibri"/>
                      </a:endParaRPr>
                    </a:p>
                  </a:txBody>
                  <a:tcPr marL="12700" marR="12700" marT="12700" marB="0" anchor="b"/>
                </a:tc>
              </a:tr>
              <a:tr h="240122">
                <a:tc rowSpan="4">
                  <a:txBody>
                    <a:bodyPr/>
                    <a:lstStyle/>
                    <a:p>
                      <a:pPr algn="ctr" fontAlgn="ctr"/>
                      <a:r>
                        <a:rPr lang="en-US" sz="1100" u="none" strike="noStrike" dirty="0">
                          <a:effectLst/>
                        </a:rPr>
                        <a:t>Testing</a:t>
                      </a:r>
                      <a:endParaRPr lang="en-US" sz="1100" b="1" i="0" u="none" strike="noStrike" dirty="0">
                        <a:solidFill>
                          <a:srgbClr val="000000"/>
                        </a:solidFill>
                        <a:effectLst/>
                        <a:latin typeface="Calibri"/>
                      </a:endParaRPr>
                    </a:p>
                  </a:txBody>
                  <a:tcPr marL="12700" marR="12700" marT="12700" marB="0" anchor="ctr"/>
                </a:tc>
                <a:tc>
                  <a:txBody>
                    <a:bodyPr/>
                    <a:lstStyle/>
                    <a:p>
                      <a:pPr algn="l" fontAlgn="b"/>
                      <a:r>
                        <a:rPr lang="en-US" sz="1100" u="none" strike="noStrike" dirty="0">
                          <a:effectLst/>
                        </a:rPr>
                        <a:t>Relative RMS Error</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0.0021</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0.0022</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0.0128</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0.0144</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dirty="0">
                          <a:effectLst/>
                        </a:rPr>
                        <a:t>Absolute RMS Error</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a:effectLst/>
                        </a:rPr>
                        <a:t>0.0476</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0.0488</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0.2959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0.3235</a:t>
                      </a:r>
                      <a:endParaRPr lang="en-US" sz="1100" b="0" i="0" u="none" strike="noStrike">
                        <a:solidFill>
                          <a:srgbClr val="000000"/>
                        </a:solidFill>
                        <a:effectLst/>
                        <a:latin typeface="Calibri"/>
                      </a:endParaRPr>
                    </a:p>
                  </a:txBody>
                  <a:tcPr marL="12700" marR="12700" marT="12700" marB="0" anchor="b"/>
                </a:tc>
              </a:tr>
              <a:tr h="240122">
                <a:tc rowSpan="4">
                  <a:txBody>
                    <a:bodyPr/>
                    <a:lstStyle/>
                    <a:p>
                      <a:pPr algn="ctr" fontAlgn="ctr"/>
                      <a:r>
                        <a:rPr lang="en-US" sz="1100" u="none" strike="noStrike">
                          <a:effectLst/>
                        </a:rPr>
                        <a:t>Validation</a:t>
                      </a:r>
                      <a:endParaRPr lang="en-US" sz="1100" b="1" i="0" u="none" strike="noStrike">
                        <a:solidFill>
                          <a:srgbClr val="000000"/>
                        </a:solidFill>
                        <a:effectLst/>
                        <a:latin typeface="Calibri"/>
                      </a:endParaRPr>
                    </a:p>
                  </a:txBody>
                  <a:tcPr marL="12700" marR="12700" marT="12700" marB="0" anchor="ctr"/>
                </a:tc>
                <a:tc>
                  <a:txBody>
                    <a:bodyPr/>
                    <a:lstStyle/>
                    <a:p>
                      <a:pPr algn="l" fontAlgn="b"/>
                      <a:r>
                        <a:rPr lang="en-US" sz="1100" u="none" strike="noStrike">
                          <a:effectLst/>
                        </a:rPr>
                        <a:t>Relative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0.0041</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0.0060</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Relative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0.0214</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0.0229</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Absolute RMS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0.0939</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a:effectLst/>
                        </a:rPr>
                        <a:t>0.1338</a:t>
                      </a:r>
                      <a:endParaRPr lang="en-US" sz="1100" b="0" i="0" u="none" strike="noStrike">
                        <a:solidFill>
                          <a:srgbClr val="000000"/>
                        </a:solidFill>
                        <a:effectLst/>
                        <a:latin typeface="Calibri"/>
                      </a:endParaRPr>
                    </a:p>
                  </a:txBody>
                  <a:tcPr marL="12700" marR="12700" marT="12700" marB="0" anchor="b"/>
                </a:tc>
              </a:tr>
              <a:tr h="240122">
                <a:tc vMerge="1">
                  <a:txBody>
                    <a:bodyPr/>
                    <a:lstStyle/>
                    <a:p>
                      <a:endParaRPr lang="en-US"/>
                    </a:p>
                  </a:txBody>
                  <a:tcPr/>
                </a:tc>
                <a:tc>
                  <a:txBody>
                    <a:bodyPr/>
                    <a:lstStyle/>
                    <a:p>
                      <a:pPr algn="l" fontAlgn="b"/>
                      <a:r>
                        <a:rPr lang="en-US" sz="1100" u="none" strike="noStrike">
                          <a:effectLst/>
                        </a:rPr>
                        <a:t>Max Absolute Error</a:t>
                      </a:r>
                      <a:endParaRPr lang="en-US" sz="1100" b="0" i="0" u="none" strike="noStrike">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0.4912</a:t>
                      </a:r>
                      <a:endParaRPr lang="en-US" sz="1100" b="0" i="0" u="none" strike="noStrike" dirty="0">
                        <a:solidFill>
                          <a:srgbClr val="000000"/>
                        </a:solidFill>
                        <a:effectLst/>
                        <a:latin typeface="Calibri"/>
                      </a:endParaRPr>
                    </a:p>
                  </a:txBody>
                  <a:tcPr marL="12700" marR="12700" marT="12700" marB="0" anchor="b"/>
                </a:tc>
                <a:tc>
                  <a:txBody>
                    <a:bodyPr/>
                    <a:lstStyle/>
                    <a:p>
                      <a:pPr algn="ctr" fontAlgn="b"/>
                      <a:r>
                        <a:rPr lang="en-US" sz="1100" u="none" strike="noStrike" dirty="0">
                          <a:effectLst/>
                        </a:rPr>
                        <a:t>0.5164</a:t>
                      </a:r>
                      <a:endParaRPr lang="en-US" sz="1100" b="0" i="0" u="none" strike="noStrike" dirty="0">
                        <a:solidFill>
                          <a:srgbClr val="000000"/>
                        </a:solidFill>
                        <a:effectLst/>
                        <a:latin typeface="Calibri"/>
                      </a:endParaRPr>
                    </a:p>
                  </a:txBody>
                  <a:tcPr marL="12700" marR="12700" marT="12700" marB="0" anchor="b"/>
                </a:tc>
              </a:tr>
            </a:tbl>
          </a:graphicData>
        </a:graphic>
      </p:graphicFrame>
    </p:spTree>
    <p:extLst>
      <p:ext uri="{BB962C8B-B14F-4D97-AF65-F5344CB8AC3E}">
        <p14:creationId xmlns:p14="http://schemas.microsoft.com/office/powerpoint/2010/main" val="1683383673"/>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Tree>
    <p:extLst>
      <p:ext uri="{BB962C8B-B14F-4D97-AF65-F5344CB8AC3E}">
        <p14:creationId xmlns:p14="http://schemas.microsoft.com/office/powerpoint/2010/main" val="2758923384"/>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UCRTemplate1">
  <a:themeElements>
    <a:clrScheme name="UCRTemplate1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UCRTemplate1">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UCRTemplate1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UCRTemplate1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UCRTemplate1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UCRTemplate1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UCRTemplate1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UCRTemplate1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UCRTemplate1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UCRTemplate1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UCRTemplate1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UCRTemplate1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155</TotalTime>
  <Words>604</Words>
  <Application>Microsoft Macintosh PowerPoint</Application>
  <PresentationFormat>On-screen Show (4:3)</PresentationFormat>
  <Paragraphs>210</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Times New Roman</vt:lpstr>
      <vt:lpstr>Wingdings</vt:lpstr>
      <vt:lpstr>UCRTemplate1</vt:lpstr>
      <vt:lpstr>Building Thermal Modeling for Energy-Efficient Smart Building Control</vt:lpstr>
      <vt:lpstr>Summary</vt:lpstr>
      <vt:lpstr>EnergyPlus</vt:lpstr>
      <vt:lpstr>Setting For Each Thermal Zone</vt:lpstr>
      <vt:lpstr>Run The Model</vt:lpstr>
      <vt:lpstr>EnergyPlus Results</vt:lpstr>
      <vt:lpstr>EnergyPlus Results</vt:lpstr>
      <vt:lpstr>Proposed Method</vt:lpstr>
      <vt:lpstr>Initial Results (no extra factors)</vt:lpstr>
      <vt:lpstr>Initial Results (Training Phase)</vt:lpstr>
      <vt:lpstr>Initial Results (Validation Phase)</vt:lpstr>
      <vt:lpstr>Results with extra factors</vt:lpstr>
      <vt:lpstr>Results (Training Phase)</vt:lpstr>
      <vt:lpstr>Results (Validation Phase)</vt:lpstr>
      <vt:lpstr>Analysis</vt:lpstr>
      <vt:lpstr>Optimization and Final Results</vt:lpstr>
      <vt:lpstr>Final Results (Training Phase)</vt:lpstr>
      <vt:lpstr>Final Results (Validation Phase)</vt:lpstr>
      <vt:lpstr>Absolute and Relative Errors</vt:lpstr>
      <vt:lpstr>2-Zone Results</vt:lpstr>
      <vt:lpstr>Thank you!</vt:lpstr>
    </vt:vector>
  </TitlesOfParts>
  <Company>UC Riverside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Dawn Saenz</dc:creator>
  <cp:lastModifiedBy>Daniel Quach</cp:lastModifiedBy>
  <cp:revision>23</cp:revision>
  <dcterms:created xsi:type="dcterms:W3CDTF">2007-11-06T21:44:47Z</dcterms:created>
  <dcterms:modified xsi:type="dcterms:W3CDTF">2015-07-18T00:28:26Z</dcterms:modified>
</cp:coreProperties>
</file>