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5"/>
    <p:sldId id="262" r:id="rId6"/>
    <p:sldId id="259" r:id="rId7"/>
    <p:sldId id="263" r:id="rId8"/>
    <p:sldId id="264" r:id="rId9"/>
    <p:sldId id="260"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3" d="100"/>
          <a:sy n="113" d="100"/>
        </p:scale>
        <p:origin x="-192" y="-1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interSettings" Target="printerSettings/printerSettings1.bin"/><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0ABC6B5-E624-3D40-9DD5-970A07553E98}" type="datetimeFigureOut">
              <a:rPr lang="en-US" smtClean="0"/>
              <a:t>6/6/15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243FF-7025-F643-9FC0-853D2E4480F3}" type="slidenum">
              <a:rPr lang="en-US" smtClean="0"/>
              <a:t>‹#›</a:t>
            </a:fld>
            <a:endParaRPr lang="en-US"/>
          </a:p>
        </p:txBody>
      </p:sp>
    </p:spTree>
    <p:extLst>
      <p:ext uri="{BB962C8B-B14F-4D97-AF65-F5344CB8AC3E}">
        <p14:creationId xmlns:p14="http://schemas.microsoft.com/office/powerpoint/2010/main" val="1924167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ABC6B5-E624-3D40-9DD5-970A07553E98}" type="datetimeFigureOut">
              <a:rPr lang="en-US" smtClean="0"/>
              <a:t>6/6/15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243FF-7025-F643-9FC0-853D2E4480F3}" type="slidenum">
              <a:rPr lang="en-US" smtClean="0"/>
              <a:t>‹#›</a:t>
            </a:fld>
            <a:endParaRPr lang="en-US"/>
          </a:p>
        </p:txBody>
      </p:sp>
    </p:spTree>
    <p:extLst>
      <p:ext uri="{BB962C8B-B14F-4D97-AF65-F5344CB8AC3E}">
        <p14:creationId xmlns:p14="http://schemas.microsoft.com/office/powerpoint/2010/main" val="92852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ABC6B5-E624-3D40-9DD5-970A07553E98}" type="datetimeFigureOut">
              <a:rPr lang="en-US" smtClean="0"/>
              <a:t>6/6/15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243FF-7025-F643-9FC0-853D2E4480F3}" type="slidenum">
              <a:rPr lang="en-US" smtClean="0"/>
              <a:t>‹#›</a:t>
            </a:fld>
            <a:endParaRPr lang="en-US"/>
          </a:p>
        </p:txBody>
      </p:sp>
    </p:spTree>
    <p:extLst>
      <p:ext uri="{BB962C8B-B14F-4D97-AF65-F5344CB8AC3E}">
        <p14:creationId xmlns:p14="http://schemas.microsoft.com/office/powerpoint/2010/main" val="521613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0ABC6B5-E624-3D40-9DD5-970A07553E98}" type="datetimeFigureOut">
              <a:rPr lang="en-US" smtClean="0"/>
              <a:t>6/6/15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9243FF-7025-F643-9FC0-853D2E4480F3}" type="slidenum">
              <a:rPr lang="en-US" smtClean="0"/>
              <a:t>‹#›</a:t>
            </a:fld>
            <a:endParaRPr lang="en-US"/>
          </a:p>
        </p:txBody>
      </p:sp>
    </p:spTree>
    <p:extLst>
      <p:ext uri="{BB962C8B-B14F-4D97-AF65-F5344CB8AC3E}">
        <p14:creationId xmlns:p14="http://schemas.microsoft.com/office/powerpoint/2010/main" val="2556104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0ABC6B5-E624-3D40-9DD5-970A07553E98}" type="datetimeFigureOut">
              <a:rPr lang="en-US" smtClean="0"/>
              <a:t>6/6/15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9243FF-7025-F643-9FC0-853D2E4480F3}" type="slidenum">
              <a:rPr lang="en-US" smtClean="0"/>
              <a:t>‹#›</a:t>
            </a:fld>
            <a:endParaRPr lang="en-US"/>
          </a:p>
        </p:txBody>
      </p:sp>
    </p:spTree>
    <p:extLst>
      <p:ext uri="{BB962C8B-B14F-4D97-AF65-F5344CB8AC3E}">
        <p14:creationId xmlns:p14="http://schemas.microsoft.com/office/powerpoint/2010/main" val="1816686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0ABC6B5-E624-3D40-9DD5-970A07553E98}" type="datetimeFigureOut">
              <a:rPr lang="en-US" smtClean="0"/>
              <a:t>6/6/15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9243FF-7025-F643-9FC0-853D2E4480F3}" type="slidenum">
              <a:rPr lang="en-US" smtClean="0"/>
              <a:t>‹#›</a:t>
            </a:fld>
            <a:endParaRPr lang="en-US"/>
          </a:p>
        </p:txBody>
      </p:sp>
    </p:spTree>
    <p:extLst>
      <p:ext uri="{BB962C8B-B14F-4D97-AF65-F5344CB8AC3E}">
        <p14:creationId xmlns:p14="http://schemas.microsoft.com/office/powerpoint/2010/main" val="1765595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ABC6B5-E624-3D40-9DD5-970A07553E98}" type="datetimeFigureOut">
              <a:rPr lang="en-US" smtClean="0"/>
              <a:t>6/6/15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9243FF-7025-F643-9FC0-853D2E4480F3}" type="slidenum">
              <a:rPr lang="en-US" smtClean="0"/>
              <a:t>‹#›</a:t>
            </a:fld>
            <a:endParaRPr lang="en-US"/>
          </a:p>
        </p:txBody>
      </p:sp>
    </p:spTree>
    <p:extLst>
      <p:ext uri="{BB962C8B-B14F-4D97-AF65-F5344CB8AC3E}">
        <p14:creationId xmlns:p14="http://schemas.microsoft.com/office/powerpoint/2010/main" val="1149824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ABC6B5-E624-3D40-9DD5-970A07553E98}" type="datetimeFigureOut">
              <a:rPr lang="en-US" smtClean="0"/>
              <a:t>6/6/15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9243FF-7025-F643-9FC0-853D2E4480F3}" type="slidenum">
              <a:rPr lang="en-US" smtClean="0"/>
              <a:t>‹#›</a:t>
            </a:fld>
            <a:endParaRPr lang="en-US"/>
          </a:p>
        </p:txBody>
      </p:sp>
    </p:spTree>
    <p:extLst>
      <p:ext uri="{BB962C8B-B14F-4D97-AF65-F5344CB8AC3E}">
        <p14:creationId xmlns:p14="http://schemas.microsoft.com/office/powerpoint/2010/main" val="2349625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ABC6B5-E624-3D40-9DD5-970A07553E98}" type="datetimeFigureOut">
              <a:rPr lang="en-US" smtClean="0"/>
              <a:t>6/6/15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9243FF-7025-F643-9FC0-853D2E4480F3}" type="slidenum">
              <a:rPr lang="en-US" smtClean="0"/>
              <a:t>‹#›</a:t>
            </a:fld>
            <a:endParaRPr lang="en-US"/>
          </a:p>
        </p:txBody>
      </p:sp>
    </p:spTree>
    <p:extLst>
      <p:ext uri="{BB962C8B-B14F-4D97-AF65-F5344CB8AC3E}">
        <p14:creationId xmlns:p14="http://schemas.microsoft.com/office/powerpoint/2010/main" val="3560560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ABC6B5-E624-3D40-9DD5-970A07553E98}" type="datetimeFigureOut">
              <a:rPr lang="en-US" smtClean="0"/>
              <a:t>6/6/15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243FF-7025-F643-9FC0-853D2E4480F3}" type="slidenum">
              <a:rPr lang="en-US" smtClean="0"/>
              <a:t>‹#›</a:t>
            </a:fld>
            <a:endParaRPr lang="en-US"/>
          </a:p>
        </p:txBody>
      </p:sp>
    </p:spTree>
    <p:extLst>
      <p:ext uri="{BB962C8B-B14F-4D97-AF65-F5344CB8AC3E}">
        <p14:creationId xmlns:p14="http://schemas.microsoft.com/office/powerpoint/2010/main" val="3960528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0ABC6B5-E624-3D40-9DD5-970A07553E98}" type="datetimeFigureOut">
              <a:rPr lang="en-US" smtClean="0"/>
              <a:t>6/6/15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9243FF-7025-F643-9FC0-853D2E4480F3}" type="slidenum">
              <a:rPr lang="en-US" smtClean="0"/>
              <a:t>‹#›</a:t>
            </a:fld>
            <a:endParaRPr lang="en-US"/>
          </a:p>
        </p:txBody>
      </p:sp>
    </p:spTree>
    <p:extLst>
      <p:ext uri="{BB962C8B-B14F-4D97-AF65-F5344CB8AC3E}">
        <p14:creationId xmlns:p14="http://schemas.microsoft.com/office/powerpoint/2010/main" val="11721718"/>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ABC6B5-E624-3D40-9DD5-970A07553E98}" type="datetimeFigureOut">
              <a:rPr lang="en-US" smtClean="0"/>
              <a:t>6/6/15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9243FF-7025-F643-9FC0-853D2E4480F3}" type="slidenum">
              <a:rPr lang="en-US" smtClean="0"/>
              <a:t>‹#›</a:t>
            </a:fld>
            <a:endParaRPr lang="en-US"/>
          </a:p>
        </p:txBody>
      </p:sp>
    </p:spTree>
    <p:extLst>
      <p:ext uri="{BB962C8B-B14F-4D97-AF65-F5344CB8AC3E}">
        <p14:creationId xmlns:p14="http://schemas.microsoft.com/office/powerpoint/2010/main" val="3308877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Energy Plus / Smart Building Project Update</a:t>
            </a:r>
            <a:endParaRPr lang="en-US" dirty="0"/>
          </a:p>
        </p:txBody>
      </p:sp>
      <p:sp>
        <p:nvSpPr>
          <p:cNvPr id="3" name="Subtitle 2"/>
          <p:cNvSpPr>
            <a:spLocks noGrp="1"/>
          </p:cNvSpPr>
          <p:nvPr>
            <p:ph type="subTitle" idx="1"/>
          </p:nvPr>
        </p:nvSpPr>
        <p:spPr/>
        <p:txBody>
          <a:bodyPr/>
          <a:lstStyle/>
          <a:p>
            <a:r>
              <a:rPr lang="en-US" dirty="0" smtClean="0"/>
              <a:t>Daniel Quach</a:t>
            </a:r>
          </a:p>
          <a:p>
            <a:r>
              <a:rPr lang="en-US" dirty="0" smtClean="0"/>
              <a:t>6/6/2015</a:t>
            </a:r>
          </a:p>
        </p:txBody>
      </p:sp>
    </p:spTree>
    <p:extLst>
      <p:ext uri="{BB962C8B-B14F-4D97-AF65-F5344CB8AC3E}">
        <p14:creationId xmlns:p14="http://schemas.microsoft.com/office/powerpoint/2010/main" val="4181625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lstStyle/>
          <a:p>
            <a:r>
              <a:rPr lang="en-US" dirty="0" smtClean="0"/>
              <a:t>Initial Results</a:t>
            </a:r>
          </a:p>
          <a:p>
            <a:r>
              <a:rPr lang="en-US" dirty="0" smtClean="0"/>
              <a:t>Results 2 : Included work day / work style characteristics</a:t>
            </a:r>
          </a:p>
          <a:p>
            <a:r>
              <a:rPr lang="en-US" dirty="0" smtClean="0"/>
              <a:t>Results 3 : Modified part 2 and increased order</a:t>
            </a:r>
            <a:endParaRPr lang="en-US" dirty="0"/>
          </a:p>
        </p:txBody>
      </p:sp>
    </p:spTree>
    <p:extLst>
      <p:ext uri="{BB962C8B-B14F-4D97-AF65-F5344CB8AC3E}">
        <p14:creationId xmlns:p14="http://schemas.microsoft.com/office/powerpoint/2010/main" val="2023907949"/>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36010" y="1314848"/>
            <a:ext cx="8642478" cy="5170646"/>
          </a:xfrm>
          <a:prstGeom prst="rect">
            <a:avLst/>
          </a:prstGeom>
          <a:noFill/>
        </p:spPr>
        <p:txBody>
          <a:bodyPr wrap="square" rtlCol="0">
            <a:spAutoFit/>
          </a:bodyPr>
          <a:lstStyle/>
          <a:p>
            <a:pPr marL="285750" indent="-285750">
              <a:buFont typeface="Arial"/>
              <a:buChar char="•"/>
            </a:pPr>
            <a:r>
              <a:rPr lang="en-US" sz="2400" dirty="0" smtClean="0"/>
              <a:t>Input : Outside Temperature </a:t>
            </a:r>
            <a:r>
              <a:rPr lang="en-US" sz="2000" dirty="0" smtClean="0"/>
              <a:t>( and Power Input for cases with HVAC on )</a:t>
            </a:r>
          </a:p>
          <a:p>
            <a:pPr marL="285750" indent="-285750">
              <a:buFont typeface="Arial"/>
              <a:buChar char="•"/>
            </a:pPr>
            <a:r>
              <a:rPr lang="en-US" sz="2400" dirty="0" smtClean="0"/>
              <a:t>Output : Indoor Room Temperature </a:t>
            </a:r>
            <a:r>
              <a:rPr lang="en-US" sz="2200" dirty="0" smtClean="0"/>
              <a:t>( Results show for 5 rooms )</a:t>
            </a:r>
          </a:p>
          <a:p>
            <a:pPr marL="285750" indent="-285750">
              <a:buFont typeface="Arial"/>
              <a:buChar char="•"/>
            </a:pPr>
            <a:r>
              <a:rPr lang="en-US" sz="2400" dirty="0" smtClean="0"/>
              <a:t>Order for system identification : 50</a:t>
            </a:r>
          </a:p>
          <a:p>
            <a:pPr marL="285750" indent="-285750">
              <a:buFont typeface="Arial"/>
              <a:buChar char="•"/>
            </a:pPr>
            <a:r>
              <a:rPr lang="en-US" sz="2400" dirty="0" smtClean="0"/>
              <a:t>Extra Modifications : None</a:t>
            </a:r>
          </a:p>
          <a:p>
            <a:pPr marL="285750" indent="-285750">
              <a:buFont typeface="Arial"/>
              <a:buChar char="•"/>
            </a:pPr>
            <a:endParaRPr lang="en-US" dirty="0" smtClean="0"/>
          </a:p>
          <a:p>
            <a:pPr marL="285750" indent="-285750">
              <a:buFont typeface="Arial"/>
              <a:buChar char="•"/>
            </a:pPr>
            <a:endParaRPr lang="en-US" dirty="0"/>
          </a:p>
          <a:p>
            <a:pPr marL="285750" indent="-285750">
              <a:buFont typeface="Arial"/>
              <a:buChar char="•"/>
            </a:pPr>
            <a:endParaRPr lang="en-US" dirty="0" smtClean="0"/>
          </a:p>
          <a:p>
            <a:pPr marL="285750" indent="-285750">
              <a:buFont typeface="Arial"/>
              <a:buChar char="•"/>
            </a:pPr>
            <a:endParaRPr lang="en-US" dirty="0"/>
          </a:p>
          <a:p>
            <a:pPr marL="285750" indent="-285750">
              <a:buFont typeface="Arial"/>
              <a:buChar char="•"/>
            </a:pPr>
            <a:endParaRPr lang="en-US" dirty="0" smtClean="0"/>
          </a:p>
          <a:p>
            <a:pPr marL="285750" indent="-285750">
              <a:buFont typeface="Arial"/>
              <a:buChar char="•"/>
            </a:pPr>
            <a:r>
              <a:rPr lang="en-US" sz="2400" dirty="0" smtClean="0"/>
              <a:t>Legend: </a:t>
            </a:r>
          </a:p>
          <a:p>
            <a:pPr marL="742950" lvl="1" indent="-285750">
              <a:buFont typeface="Arial"/>
              <a:buChar char="•"/>
            </a:pPr>
            <a:r>
              <a:rPr lang="en-US" sz="2400" dirty="0" smtClean="0"/>
              <a:t>Blue lines are results from </a:t>
            </a:r>
            <a:r>
              <a:rPr lang="en-US" sz="2400" dirty="0" err="1" smtClean="0"/>
              <a:t>energyplus</a:t>
            </a:r>
            <a:endParaRPr lang="en-US" sz="2400" dirty="0"/>
          </a:p>
          <a:p>
            <a:pPr marL="742950" lvl="1" indent="-285750">
              <a:buFont typeface="Arial"/>
              <a:buChar char="•"/>
            </a:pPr>
            <a:r>
              <a:rPr lang="en-US" sz="2400" dirty="0" smtClean="0"/>
              <a:t>Red Lines are results estimated from our system </a:t>
            </a:r>
            <a:endParaRPr lang="en-US" sz="2400" dirty="0"/>
          </a:p>
          <a:p>
            <a:pPr marL="285750" indent="-285750">
              <a:buFont typeface="Arial"/>
              <a:buChar char="•"/>
            </a:pPr>
            <a:r>
              <a:rPr lang="en-US" sz="2400" dirty="0" smtClean="0"/>
              <a:t>Note: See results between 400 and 500. There is some extra effect that causes the real result to be abnormal. Our system does not handle it well for both testing and validation phases.</a:t>
            </a:r>
            <a:endParaRPr lang="en-US" sz="2400" dirty="0"/>
          </a:p>
        </p:txBody>
      </p:sp>
      <p:sp>
        <p:nvSpPr>
          <p:cNvPr id="2" name="Title 1"/>
          <p:cNvSpPr>
            <a:spLocks noGrp="1"/>
          </p:cNvSpPr>
          <p:nvPr>
            <p:ph type="title"/>
          </p:nvPr>
        </p:nvSpPr>
        <p:spPr/>
        <p:txBody>
          <a:bodyPr/>
          <a:lstStyle/>
          <a:p>
            <a:r>
              <a:rPr lang="en-US" dirty="0" smtClean="0"/>
              <a:t>Initial Results</a:t>
            </a:r>
            <a:endParaRPr lang="en-US" dirty="0"/>
          </a:p>
        </p:txBody>
      </p:sp>
      <p:pic>
        <p:nvPicPr>
          <p:cNvPr id="6" name="Content Placeholder 5"/>
          <p:cNvPicPr>
            <a:picLocks noGrp="1" noChangeAspect="1"/>
          </p:cNvPicPr>
          <p:nvPr>
            <p:ph idx="1"/>
          </p:nvPr>
        </p:nvPicPr>
        <p:blipFill>
          <a:blip r:embed="rId2"/>
          <a:srcRect l="-14380" r="-14380"/>
          <a:stretch>
            <a:fillRect/>
          </a:stretch>
        </p:blipFill>
        <p:spPr>
          <a:xfrm>
            <a:off x="4889421" y="2284838"/>
            <a:ext cx="4123931" cy="2268003"/>
          </a:xfrm>
        </p:spPr>
      </p:pic>
    </p:spTree>
    <p:extLst>
      <p:ext uri="{BB962C8B-B14F-4D97-AF65-F5344CB8AC3E}">
        <p14:creationId xmlns:p14="http://schemas.microsoft.com/office/powerpoint/2010/main" val="2856728253"/>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 Results (Testing Phase)</a:t>
            </a:r>
            <a:endParaRPr lang="en-US" dirty="0"/>
          </a:p>
        </p:txBody>
      </p:sp>
      <p:pic>
        <p:nvPicPr>
          <p:cNvPr id="4" name="Content Placeholder 3" descr="initial_o50_testing_phase.eps"/>
          <p:cNvPicPr>
            <a:picLocks noGrp="1" noChangeAspect="1"/>
          </p:cNvPicPr>
          <p:nvPr>
            <p:ph idx="1"/>
          </p:nvPr>
        </p:nvPicPr>
        <p:blipFill>
          <a:blip r:embed="rId2">
            <a:extLst>
              <a:ext uri="{28A0092B-C50C-407E-A947-70E740481C1C}">
                <a14:useLocalDpi xmlns:a14="http://schemas.microsoft.com/office/drawing/2010/main" val="0"/>
              </a:ext>
            </a:extLst>
          </a:blip>
          <a:srcRect t="-99" b="-99"/>
          <a:stretch>
            <a:fillRect/>
          </a:stretch>
        </p:blipFill>
        <p:spPr/>
      </p:pic>
    </p:spTree>
    <p:extLst>
      <p:ext uri="{BB962C8B-B14F-4D97-AF65-F5344CB8AC3E}">
        <p14:creationId xmlns:p14="http://schemas.microsoft.com/office/powerpoint/2010/main" val="2387344345"/>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 Results (Validation Phase)</a:t>
            </a:r>
            <a:endParaRPr lang="en-US" dirty="0"/>
          </a:p>
        </p:txBody>
      </p:sp>
      <p:pic>
        <p:nvPicPr>
          <p:cNvPr id="4" name="Content Placeholder 3" descr="initial_o50_validation_phase.eps"/>
          <p:cNvPicPr>
            <a:picLocks noGrp="1" noChangeAspect="1"/>
          </p:cNvPicPr>
          <p:nvPr>
            <p:ph idx="1"/>
          </p:nvPr>
        </p:nvPicPr>
        <p:blipFill>
          <a:blip r:embed="rId2">
            <a:extLst>
              <a:ext uri="{28A0092B-C50C-407E-A947-70E740481C1C}">
                <a14:useLocalDpi xmlns:a14="http://schemas.microsoft.com/office/drawing/2010/main" val="0"/>
              </a:ext>
            </a:extLst>
          </a:blip>
          <a:srcRect l="54" r="54"/>
          <a:stretch>
            <a:fillRect/>
          </a:stretch>
        </p:blipFill>
        <p:spPr/>
      </p:pic>
    </p:spTree>
    <p:extLst>
      <p:ext uri="{BB962C8B-B14F-4D97-AF65-F5344CB8AC3E}">
        <p14:creationId xmlns:p14="http://schemas.microsoft.com/office/powerpoint/2010/main" val="2591308649"/>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36010" y="1314848"/>
            <a:ext cx="8642478" cy="5539979"/>
          </a:xfrm>
          <a:prstGeom prst="rect">
            <a:avLst/>
          </a:prstGeom>
          <a:noFill/>
        </p:spPr>
        <p:txBody>
          <a:bodyPr wrap="square" rtlCol="0">
            <a:spAutoFit/>
          </a:bodyPr>
          <a:lstStyle/>
          <a:p>
            <a:pPr marL="285750" indent="-285750">
              <a:buFont typeface="Arial"/>
              <a:buChar char="•"/>
            </a:pPr>
            <a:r>
              <a:rPr lang="en-US" sz="2400" dirty="0" smtClean="0"/>
              <a:t>Input : Outside Temperature </a:t>
            </a:r>
            <a:r>
              <a:rPr lang="en-US" sz="2000" dirty="0" smtClean="0"/>
              <a:t>( and Power Input for cases with HVAC on )</a:t>
            </a:r>
          </a:p>
          <a:p>
            <a:pPr marL="285750" indent="-285750">
              <a:buFont typeface="Arial"/>
              <a:buChar char="•"/>
            </a:pPr>
            <a:r>
              <a:rPr lang="en-US" sz="2400" dirty="0" smtClean="0"/>
              <a:t>Output : Indoor Room Temperature </a:t>
            </a:r>
            <a:r>
              <a:rPr lang="en-US" sz="2200" dirty="0" smtClean="0"/>
              <a:t>( Results show for 5 rooms )</a:t>
            </a:r>
          </a:p>
          <a:p>
            <a:pPr marL="285750" indent="-285750">
              <a:buFont typeface="Arial"/>
              <a:buChar char="•"/>
            </a:pPr>
            <a:r>
              <a:rPr lang="en-US" sz="2400" dirty="0" smtClean="0"/>
              <a:t>Order for system identification : 50</a:t>
            </a:r>
          </a:p>
          <a:p>
            <a:pPr marL="285750" indent="-285750">
              <a:buFont typeface="Arial"/>
              <a:buChar char="•"/>
            </a:pPr>
            <a:r>
              <a:rPr lang="en-US" sz="2400" dirty="0" smtClean="0"/>
              <a:t>Extra Modifications : </a:t>
            </a:r>
          </a:p>
          <a:p>
            <a:pPr marL="742950" lvl="1" indent="-285750">
              <a:buFont typeface="Arial"/>
              <a:buChar char="•"/>
            </a:pPr>
            <a:r>
              <a:rPr lang="en-US" sz="2400" dirty="0" smtClean="0"/>
              <a:t>Added work day (vector of 8x 1’s and 16x 0’s to denote 8 hour work day) [Assumed from previous results]</a:t>
            </a:r>
          </a:p>
          <a:p>
            <a:pPr marL="742950" lvl="1" indent="-285750">
              <a:buFont typeface="Arial"/>
              <a:buChar char="•"/>
            </a:pPr>
            <a:r>
              <a:rPr lang="en-US" sz="2400" dirty="0" smtClean="0"/>
              <a:t>Added work week (vector of 5x 1’s and 2x 0’s to denote 5 working days per week) [Assumed from previous results]</a:t>
            </a:r>
          </a:p>
          <a:p>
            <a:endParaRPr lang="en-US" dirty="0"/>
          </a:p>
          <a:p>
            <a:pPr marL="285750" indent="-285750">
              <a:buFont typeface="Arial"/>
              <a:buChar char="•"/>
            </a:pPr>
            <a:endParaRPr lang="en-US" dirty="0" smtClean="0"/>
          </a:p>
          <a:p>
            <a:pPr marL="285750" indent="-285750">
              <a:buFont typeface="Arial"/>
              <a:buChar char="•"/>
            </a:pPr>
            <a:r>
              <a:rPr lang="en-US" dirty="0" smtClean="0"/>
              <a:t>Legend: </a:t>
            </a:r>
          </a:p>
          <a:p>
            <a:pPr marL="742950" lvl="1" indent="-285750">
              <a:buFont typeface="Arial"/>
              <a:buChar char="•"/>
            </a:pPr>
            <a:r>
              <a:rPr lang="en-US" dirty="0" smtClean="0"/>
              <a:t>Blue lines are results from </a:t>
            </a:r>
            <a:br>
              <a:rPr lang="en-US" dirty="0" smtClean="0"/>
            </a:br>
            <a:r>
              <a:rPr lang="en-US" dirty="0" err="1" smtClean="0"/>
              <a:t>energyplus</a:t>
            </a:r>
            <a:endParaRPr lang="en-US" dirty="0"/>
          </a:p>
          <a:p>
            <a:pPr marL="742950" lvl="1" indent="-285750">
              <a:buFont typeface="Arial"/>
              <a:buChar char="•"/>
            </a:pPr>
            <a:r>
              <a:rPr lang="en-US" dirty="0" smtClean="0"/>
              <a:t>Red Lines are results estimated </a:t>
            </a:r>
            <a:br>
              <a:rPr lang="en-US" dirty="0" smtClean="0"/>
            </a:br>
            <a:r>
              <a:rPr lang="en-US" dirty="0" smtClean="0"/>
              <a:t>from our system </a:t>
            </a:r>
            <a:endParaRPr lang="en-US" dirty="0"/>
          </a:p>
          <a:p>
            <a:pPr marL="285750" indent="-285750">
              <a:buFont typeface="Arial"/>
              <a:buChar char="•"/>
            </a:pPr>
            <a:r>
              <a:rPr lang="en-US" dirty="0" smtClean="0"/>
              <a:t>Note: See results between 400 and 500. </a:t>
            </a:r>
            <a:br>
              <a:rPr lang="en-US" dirty="0" smtClean="0"/>
            </a:br>
            <a:r>
              <a:rPr lang="en-US" dirty="0" smtClean="0"/>
              <a:t>Similar error from previous result exist.</a:t>
            </a:r>
            <a:endParaRPr lang="en-US" dirty="0"/>
          </a:p>
        </p:txBody>
      </p:sp>
      <p:sp>
        <p:nvSpPr>
          <p:cNvPr id="2" name="Title 1"/>
          <p:cNvSpPr>
            <a:spLocks noGrp="1"/>
          </p:cNvSpPr>
          <p:nvPr>
            <p:ph type="title"/>
          </p:nvPr>
        </p:nvSpPr>
        <p:spPr/>
        <p:txBody>
          <a:bodyPr>
            <a:noAutofit/>
          </a:bodyPr>
          <a:lstStyle/>
          <a:p>
            <a:r>
              <a:rPr lang="en-US" sz="3600" dirty="0" smtClean="0"/>
              <a:t>Results 2 - added work style characteristics</a:t>
            </a:r>
            <a:endParaRPr lang="en-US" sz="3600" dirty="0" smtClean="0"/>
          </a:p>
        </p:txBody>
      </p:sp>
      <p:pic>
        <p:nvPicPr>
          <p:cNvPr id="6" name="Content Placeholder 5"/>
          <p:cNvPicPr>
            <a:picLocks noGrp="1" noChangeAspect="1"/>
          </p:cNvPicPr>
          <p:nvPr>
            <p:ph idx="1"/>
          </p:nvPr>
        </p:nvPicPr>
        <p:blipFill>
          <a:blip r:embed="rId2"/>
          <a:srcRect l="-15002" r="-15002"/>
          <a:stretch>
            <a:fillRect/>
          </a:stretch>
        </p:blipFill>
        <p:spPr>
          <a:xfrm>
            <a:off x="4765795" y="4406747"/>
            <a:ext cx="4112693" cy="2261823"/>
          </a:xfrm>
        </p:spPr>
      </p:pic>
    </p:spTree>
    <p:extLst>
      <p:ext uri="{BB962C8B-B14F-4D97-AF65-F5344CB8AC3E}">
        <p14:creationId xmlns:p14="http://schemas.microsoft.com/office/powerpoint/2010/main" val="4234868546"/>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2 : Testing Phase</a:t>
            </a:r>
            <a:endParaRPr lang="en-US" dirty="0"/>
          </a:p>
        </p:txBody>
      </p:sp>
      <p:pic>
        <p:nvPicPr>
          <p:cNvPr id="4" name="Content Placeholder 3" descr="results2_o50_testing_phase.eps"/>
          <p:cNvPicPr>
            <a:picLocks noGrp="1" noChangeAspect="1"/>
          </p:cNvPicPr>
          <p:nvPr>
            <p:ph idx="1"/>
          </p:nvPr>
        </p:nvPicPr>
        <p:blipFill>
          <a:blip r:embed="rId2">
            <a:extLst>
              <a:ext uri="{28A0092B-C50C-407E-A947-70E740481C1C}">
                <a14:useLocalDpi xmlns:a14="http://schemas.microsoft.com/office/drawing/2010/main" val="0"/>
              </a:ext>
            </a:extLst>
          </a:blip>
          <a:srcRect t="3132" b="3132"/>
          <a:stretch>
            <a:fillRect/>
          </a:stretch>
        </p:blipFill>
        <p:spPr/>
      </p:pic>
    </p:spTree>
    <p:extLst>
      <p:ext uri="{BB962C8B-B14F-4D97-AF65-F5344CB8AC3E}">
        <p14:creationId xmlns:p14="http://schemas.microsoft.com/office/powerpoint/2010/main" val="2781695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2 : Validation Phase</a:t>
            </a:r>
            <a:endParaRPr lang="en-US" dirty="0"/>
          </a:p>
        </p:txBody>
      </p:sp>
      <p:pic>
        <p:nvPicPr>
          <p:cNvPr id="4" name="Content Placeholder 3" descr="results2_o50_validation_phase.eps"/>
          <p:cNvPicPr>
            <a:picLocks noGrp="1" noChangeAspect="1"/>
          </p:cNvPicPr>
          <p:nvPr>
            <p:ph idx="1"/>
          </p:nvPr>
        </p:nvPicPr>
        <p:blipFill>
          <a:blip r:embed="rId2">
            <a:extLst>
              <a:ext uri="{28A0092B-C50C-407E-A947-70E740481C1C}">
                <a14:useLocalDpi xmlns:a14="http://schemas.microsoft.com/office/drawing/2010/main" val="0"/>
              </a:ext>
            </a:extLst>
          </a:blip>
          <a:srcRect t="2761" b="2761"/>
          <a:stretch>
            <a:fillRect/>
          </a:stretch>
        </p:blipFill>
        <p:spPr/>
      </p:pic>
    </p:spTree>
    <p:extLst>
      <p:ext uri="{BB962C8B-B14F-4D97-AF65-F5344CB8AC3E}">
        <p14:creationId xmlns:p14="http://schemas.microsoft.com/office/powerpoint/2010/main" val="84548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36010" y="1314848"/>
            <a:ext cx="8642478" cy="5447646"/>
          </a:xfrm>
          <a:prstGeom prst="rect">
            <a:avLst/>
          </a:prstGeom>
          <a:noFill/>
        </p:spPr>
        <p:txBody>
          <a:bodyPr wrap="square" rtlCol="0">
            <a:spAutoFit/>
          </a:bodyPr>
          <a:lstStyle/>
          <a:p>
            <a:pPr marL="285750" indent="-285750">
              <a:buFont typeface="Arial"/>
              <a:buChar char="•"/>
            </a:pPr>
            <a:r>
              <a:rPr lang="en-US" sz="2400" dirty="0" smtClean="0"/>
              <a:t>Input : Outside Temperature </a:t>
            </a:r>
            <a:r>
              <a:rPr lang="en-US" sz="2000" dirty="0" smtClean="0"/>
              <a:t>( and Power Input for cases with HVAC on )</a:t>
            </a:r>
          </a:p>
          <a:p>
            <a:pPr marL="285750" indent="-285750">
              <a:buFont typeface="Arial"/>
              <a:buChar char="•"/>
            </a:pPr>
            <a:r>
              <a:rPr lang="en-US" sz="2400" dirty="0" smtClean="0"/>
              <a:t>Output : Indoor Room Temperature </a:t>
            </a:r>
            <a:r>
              <a:rPr lang="en-US" sz="2200" dirty="0" smtClean="0"/>
              <a:t>( Results show for 5 rooms )</a:t>
            </a:r>
          </a:p>
          <a:p>
            <a:pPr marL="285750" indent="-285750">
              <a:buFont typeface="Arial"/>
              <a:buChar char="•"/>
            </a:pPr>
            <a:r>
              <a:rPr lang="en-US" sz="2400" dirty="0" smtClean="0"/>
              <a:t>Order for system identification : 75 (Increased from 50)</a:t>
            </a:r>
          </a:p>
          <a:p>
            <a:pPr marL="285750" indent="-285750">
              <a:buFont typeface="Arial"/>
              <a:buChar char="•"/>
            </a:pPr>
            <a:r>
              <a:rPr lang="en-US" sz="2400" dirty="0" smtClean="0"/>
              <a:t>Extra Modifications : </a:t>
            </a:r>
          </a:p>
          <a:p>
            <a:pPr marL="742950" lvl="1" indent="-285750">
              <a:buFont typeface="Arial"/>
              <a:buChar char="•"/>
            </a:pPr>
            <a:r>
              <a:rPr lang="en-US" sz="2400" dirty="0" smtClean="0"/>
              <a:t>Modified work day characteristic  (vector of 1 2 3 … 24 for added flexibility)</a:t>
            </a:r>
          </a:p>
          <a:p>
            <a:pPr marL="742950" lvl="1" indent="-285750">
              <a:buFont typeface="Arial"/>
              <a:buChar char="•"/>
            </a:pPr>
            <a:r>
              <a:rPr lang="en-US" sz="2400" dirty="0" smtClean="0"/>
              <a:t>Modified work week (vector of 1 2 3 4 5 0 0 …)</a:t>
            </a:r>
          </a:p>
          <a:p>
            <a:endParaRPr lang="en-US" dirty="0"/>
          </a:p>
          <a:p>
            <a:pPr marL="285750" indent="-285750">
              <a:buFont typeface="Arial"/>
              <a:buChar char="•"/>
            </a:pPr>
            <a:endParaRPr lang="en-US" dirty="0" smtClean="0"/>
          </a:p>
          <a:p>
            <a:pPr marL="285750" indent="-285750">
              <a:buFont typeface="Arial"/>
              <a:buChar char="•"/>
            </a:pPr>
            <a:r>
              <a:rPr lang="en-US" dirty="0" smtClean="0"/>
              <a:t>Legend: </a:t>
            </a:r>
          </a:p>
          <a:p>
            <a:pPr marL="742950" lvl="1" indent="-285750">
              <a:buFont typeface="Arial"/>
              <a:buChar char="•"/>
            </a:pPr>
            <a:r>
              <a:rPr lang="en-US" dirty="0" smtClean="0"/>
              <a:t>Blue lines are results from </a:t>
            </a:r>
            <a:br>
              <a:rPr lang="en-US" dirty="0" smtClean="0"/>
            </a:br>
            <a:r>
              <a:rPr lang="en-US" dirty="0" err="1" smtClean="0"/>
              <a:t>energyplus</a:t>
            </a:r>
            <a:endParaRPr lang="en-US" dirty="0"/>
          </a:p>
          <a:p>
            <a:pPr marL="742950" lvl="1" indent="-285750">
              <a:buFont typeface="Arial"/>
              <a:buChar char="•"/>
            </a:pPr>
            <a:r>
              <a:rPr lang="en-US" dirty="0" smtClean="0"/>
              <a:t>Red Lines are results estimated </a:t>
            </a:r>
            <a:br>
              <a:rPr lang="en-US" dirty="0" smtClean="0"/>
            </a:br>
            <a:r>
              <a:rPr lang="en-US" dirty="0" smtClean="0"/>
              <a:t>from our system </a:t>
            </a:r>
            <a:endParaRPr lang="en-US" dirty="0"/>
          </a:p>
          <a:p>
            <a:pPr marL="285750" indent="-285750">
              <a:buFont typeface="Arial"/>
              <a:buChar char="•"/>
            </a:pPr>
            <a:r>
              <a:rPr lang="en-US" dirty="0" smtClean="0"/>
              <a:t>Note: See results between 400 and 500. </a:t>
            </a:r>
            <a:br>
              <a:rPr lang="en-US" dirty="0" smtClean="0"/>
            </a:br>
            <a:r>
              <a:rPr lang="en-US" dirty="0" smtClean="0"/>
              <a:t>Slightly better, but similar error from </a:t>
            </a:r>
            <a:br>
              <a:rPr lang="en-US" dirty="0" smtClean="0"/>
            </a:br>
            <a:r>
              <a:rPr lang="en-US" dirty="0" smtClean="0"/>
              <a:t>previous result exist.</a:t>
            </a:r>
            <a:endParaRPr lang="en-US" dirty="0"/>
          </a:p>
        </p:txBody>
      </p:sp>
      <p:sp>
        <p:nvSpPr>
          <p:cNvPr id="2" name="Title 1"/>
          <p:cNvSpPr>
            <a:spLocks noGrp="1"/>
          </p:cNvSpPr>
          <p:nvPr>
            <p:ph type="title"/>
          </p:nvPr>
        </p:nvSpPr>
        <p:spPr>
          <a:xfrm>
            <a:off x="236010" y="274638"/>
            <a:ext cx="8642478" cy="1143000"/>
          </a:xfrm>
        </p:spPr>
        <p:txBody>
          <a:bodyPr>
            <a:noAutofit/>
          </a:bodyPr>
          <a:lstStyle/>
          <a:p>
            <a:r>
              <a:rPr lang="en-US" sz="3400" dirty="0" smtClean="0"/>
              <a:t>Results 3 : Modified part 2 and increased order</a:t>
            </a:r>
            <a:endParaRPr lang="en-US" sz="3400" dirty="0"/>
          </a:p>
        </p:txBody>
      </p:sp>
      <p:pic>
        <p:nvPicPr>
          <p:cNvPr id="4" name="Content Placeholder 3"/>
          <p:cNvPicPr>
            <a:picLocks noGrp="1" noChangeAspect="1"/>
          </p:cNvPicPr>
          <p:nvPr>
            <p:ph idx="1"/>
          </p:nvPr>
        </p:nvPicPr>
        <p:blipFill>
          <a:blip r:embed="rId2"/>
          <a:srcRect l="-14813" r="-14813"/>
          <a:stretch>
            <a:fillRect/>
          </a:stretch>
        </p:blipFill>
        <p:spPr>
          <a:xfrm>
            <a:off x="4768591" y="4326637"/>
            <a:ext cx="4109897" cy="2260285"/>
          </a:xfrm>
        </p:spPr>
      </p:pic>
    </p:spTree>
    <p:extLst>
      <p:ext uri="{BB962C8B-B14F-4D97-AF65-F5344CB8AC3E}">
        <p14:creationId xmlns:p14="http://schemas.microsoft.com/office/powerpoint/2010/main" val="1985303147"/>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Results 3 : Testing Phase</a:t>
            </a:r>
            <a:endParaRPr lang="en-US" dirty="0"/>
          </a:p>
        </p:txBody>
      </p:sp>
      <p:pic>
        <p:nvPicPr>
          <p:cNvPr id="4" name="Content Placeholder 3" descr="results3_o75_testing_phase.eps"/>
          <p:cNvPicPr>
            <a:picLocks noGrp="1" noChangeAspect="1"/>
          </p:cNvPicPr>
          <p:nvPr>
            <p:ph idx="1"/>
          </p:nvPr>
        </p:nvPicPr>
        <p:blipFill>
          <a:blip r:embed="rId2">
            <a:extLst>
              <a:ext uri="{28A0092B-C50C-407E-A947-70E740481C1C}">
                <a14:useLocalDpi xmlns:a14="http://schemas.microsoft.com/office/drawing/2010/main" val="0"/>
              </a:ext>
            </a:extLst>
          </a:blip>
          <a:srcRect t="3454" b="3454"/>
          <a:stretch>
            <a:fillRect/>
          </a:stretch>
        </p:blipFill>
        <p:spPr/>
      </p:pic>
    </p:spTree>
    <p:extLst>
      <p:ext uri="{BB962C8B-B14F-4D97-AF65-F5344CB8AC3E}">
        <p14:creationId xmlns:p14="http://schemas.microsoft.com/office/powerpoint/2010/main" val="3284465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 3 : Validation Phase</a:t>
            </a:r>
            <a:endParaRPr lang="en-US" dirty="0"/>
          </a:p>
        </p:txBody>
      </p:sp>
      <p:pic>
        <p:nvPicPr>
          <p:cNvPr id="4" name="Content Placeholder 3" descr="results3_o75_validation_phase.eps"/>
          <p:cNvPicPr>
            <a:picLocks noGrp="1" noChangeAspect="1"/>
          </p:cNvPicPr>
          <p:nvPr>
            <p:ph idx="1"/>
          </p:nvPr>
        </p:nvPicPr>
        <p:blipFill>
          <a:blip r:embed="rId2">
            <a:extLst>
              <a:ext uri="{28A0092B-C50C-407E-A947-70E740481C1C}">
                <a14:useLocalDpi xmlns:a14="http://schemas.microsoft.com/office/drawing/2010/main" val="0"/>
              </a:ext>
            </a:extLst>
          </a:blip>
          <a:srcRect t="3423" b="3423"/>
          <a:stretch>
            <a:fillRect/>
          </a:stretch>
        </p:blipFill>
        <p:spPr/>
      </p:pic>
    </p:spTree>
    <p:extLst>
      <p:ext uri="{BB962C8B-B14F-4D97-AF65-F5344CB8AC3E}">
        <p14:creationId xmlns:p14="http://schemas.microsoft.com/office/powerpoint/2010/main" val="1786629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Estimation seems good, but could be improved with more data and other factors</a:t>
            </a:r>
          </a:p>
          <a:p>
            <a:r>
              <a:rPr lang="en-US" dirty="0" smtClean="0"/>
              <a:t>Need more input data:</a:t>
            </a:r>
          </a:p>
          <a:p>
            <a:pPr lvl="1"/>
            <a:r>
              <a:rPr lang="en-US" dirty="0" smtClean="0"/>
              <a:t>Include date to determine workweek for a more accurate model (from observation, we can see 5 high peaks in a row with two lower peaks, then repeating)</a:t>
            </a:r>
          </a:p>
          <a:p>
            <a:pPr lvl="1"/>
            <a:r>
              <a:rPr lang="en-US" dirty="0" smtClean="0"/>
              <a:t>Count of persons in the room at every sample time</a:t>
            </a:r>
          </a:p>
          <a:p>
            <a:pPr lvl="1"/>
            <a:r>
              <a:rPr lang="en-US" dirty="0" smtClean="0"/>
              <a:t>Humidity</a:t>
            </a:r>
          </a:p>
          <a:p>
            <a:pPr lvl="1"/>
            <a:r>
              <a:rPr lang="en-US" dirty="0" smtClean="0"/>
              <a:t>Wind Speed</a:t>
            </a:r>
          </a:p>
          <a:p>
            <a:r>
              <a:rPr lang="en-US" dirty="0" smtClean="0"/>
              <a:t>Any other factors generating heat? (computers?)</a:t>
            </a:r>
          </a:p>
        </p:txBody>
      </p:sp>
    </p:spTree>
    <p:extLst>
      <p:ext uri="{BB962C8B-B14F-4D97-AF65-F5344CB8AC3E}">
        <p14:creationId xmlns:p14="http://schemas.microsoft.com/office/powerpoint/2010/main" val="3195356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408</TotalTime>
  <Words>426</Words>
  <Application>Microsoft Macintosh PowerPoint</Application>
  <PresentationFormat>On-screen Show (4:3)</PresentationFormat>
  <Paragraphs>61</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Energy Plus / Smart Building Project Update</vt:lpstr>
      <vt:lpstr>Summary</vt:lpstr>
      <vt:lpstr>Initial Results</vt:lpstr>
      <vt:lpstr>Initial Results (Testing Phase)</vt:lpstr>
      <vt:lpstr>Initial Results (Validation Phase)</vt:lpstr>
      <vt:lpstr>Results 2 - added work style characteristics</vt:lpstr>
      <vt:lpstr>Results 2 : Testing Phase</vt:lpstr>
      <vt:lpstr>Results 2 : Validation Phase</vt:lpstr>
      <vt:lpstr>Results 3 : Modified part 2 and increased order</vt:lpstr>
      <vt:lpstr>Results 3 : Testing Phase</vt:lpstr>
      <vt:lpstr>Results 3 : Validation Phase</vt:lpstr>
      <vt:lpstr>Conclusion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 Plus / Smart Building Project Update</dc:title>
  <dc:creator>Daniel Quach</dc:creator>
  <cp:lastModifiedBy>Daniel Quach</cp:lastModifiedBy>
  <cp:revision>9</cp:revision>
  <dcterms:created xsi:type="dcterms:W3CDTF">2015-06-07T01:17:21Z</dcterms:created>
  <dcterms:modified xsi:type="dcterms:W3CDTF">2015-06-07T08:05:35Z</dcterms:modified>
</cp:coreProperties>
</file>