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embeddings/oleObject1.bin" ContentType="application/vnd.openxmlformats-officedocument.oleObject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394" r:id="rId3"/>
    <p:sldId id="511" r:id="rId4"/>
    <p:sldId id="493" r:id="rId5"/>
    <p:sldId id="498" r:id="rId6"/>
    <p:sldId id="513" r:id="rId7"/>
    <p:sldId id="514" r:id="rId8"/>
    <p:sldId id="515" r:id="rId9"/>
    <p:sldId id="516" r:id="rId10"/>
    <p:sldId id="517" r:id="rId11"/>
    <p:sldId id="506" r:id="rId12"/>
    <p:sldId id="507" r:id="rId13"/>
    <p:sldId id="508" r:id="rId14"/>
    <p:sldId id="509" r:id="rId15"/>
    <p:sldId id="510" r:id="rId16"/>
    <p:sldId id="512" r:id="rId17"/>
    <p:sldId id="425" r:id="rId18"/>
  </p:sldIdLst>
  <p:sldSz cx="9144000" cy="6858000" type="screen4x3"/>
  <p:notesSz cx="7034213" cy="92837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 hiddenSlides="1"/>
  <p:clrMru>
    <a:srgbClr val="FF0000"/>
    <a:srgbClr val="006699"/>
    <a:srgbClr val="333300"/>
    <a:srgbClr val="FF6600"/>
    <a:srgbClr val="FF9900"/>
    <a:srgbClr val="99CC00"/>
    <a:srgbClr val="3399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335"/>
    <p:restoredTop sz="94722"/>
  </p:normalViewPr>
  <p:slideViewPr>
    <p:cSldViewPr>
      <p:cViewPr>
        <p:scale>
          <a:sx n="105" d="100"/>
          <a:sy n="105" d="100"/>
        </p:scale>
        <p:origin x="-80" y="-4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33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printerSettings" Target="printerSettings/printerSettings1.bin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41" tIns="46621" rIns="93241" bIns="46621" numCol="1" anchor="t" anchorCtr="0" compatLnSpc="1">
            <a:prstTxWarp prst="textNoShape">
              <a:avLst/>
            </a:prstTxWarp>
          </a:bodyPr>
          <a:lstStyle>
            <a:lvl1pPr defTabSz="931863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84625" y="0"/>
            <a:ext cx="30480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41" tIns="46621" rIns="93241" bIns="46621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697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1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3263" y="4410075"/>
            <a:ext cx="5627687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41" tIns="46621" rIns="93241" bIns="4662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480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41" tIns="46621" rIns="93241" bIns="46621" numCol="1" anchor="b" anchorCtr="0" compatLnSpc="1">
            <a:prstTxWarp prst="textNoShape">
              <a:avLst/>
            </a:prstTxWarp>
          </a:bodyPr>
          <a:lstStyle>
            <a:lvl1pPr defTabSz="931863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84625" y="8818563"/>
            <a:ext cx="30480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41" tIns="46621" rIns="93241" bIns="46621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cs typeface="+mn-cs"/>
              </a:defRPr>
            </a:lvl1pPr>
          </a:lstStyle>
          <a:p>
            <a:pPr>
              <a:defRPr/>
            </a:pPr>
            <a:fld id="{3DE8CADA-B7C0-5641-AB52-B1E11B8563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7491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B1E92A7-6C67-5849-B134-14A4E4D39B18}" type="slidenum">
              <a:rPr lang="en-US" sz="1200"/>
              <a:pPr eaLnBrk="1" hangingPunct="1"/>
              <a:t>1</a:t>
            </a:fld>
            <a:endParaRPr lang="en-US" sz="1200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335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5388" y="695325"/>
            <a:ext cx="4641850" cy="3481388"/>
          </a:xfrm>
          <a:ln/>
        </p:spPr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3263" y="4410075"/>
            <a:ext cx="5627687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37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Need to control the heating</a:t>
            </a:r>
            <a:r>
              <a:rPr lang="en-US" baseline="0" dirty="0" smtClean="0"/>
              <a:t>, ventilation and air conditioning in a more energy-efficient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E8CADA-B7C0-5641-AB52-B1E11B8563F1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24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AE15CF5F-B729-3345-B54D-073602371DDE}" type="slidenum">
              <a:rPr lang="en-US" sz="1200"/>
              <a:pPr eaLnBrk="1" hangingPunct="1"/>
              <a:t>4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04102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b="1" i="1" smtClean="0"/>
              <a:t>A </a:t>
            </a:r>
            <a:r>
              <a:rPr lang="en-US" altLang="zh-CN" smtClean="0"/>
              <a:t>is a stable matrix. The sequences w, and </a:t>
            </a:r>
            <a:r>
              <a:rPr lang="en-US" altLang="zh-CN" b="1" i="1" smtClean="0"/>
              <a:t>v </a:t>
            </a:r>
            <a:r>
              <a:rPr lang="en-US" altLang="zh-CN" smtClean="0"/>
              <a:t>are stationary zero-mean white noise sequences. Only the</a:t>
            </a:r>
          </a:p>
          <a:p>
            <a:r>
              <a:rPr lang="en-US" altLang="zh-CN" smtClean="0"/>
              <a:t>sequences y and </a:t>
            </a:r>
            <a:r>
              <a:rPr lang="en-US" altLang="zh-CN" b="1" i="1" smtClean="0"/>
              <a:t>U </a:t>
            </a:r>
            <a:r>
              <a:rPr lang="en-US" altLang="zh-CN" smtClean="0"/>
              <a:t>are measured. </a:t>
            </a:r>
            <a:r>
              <a:rPr lang="en-US" altLang="zh-CN" b="1" i="1" smtClean="0"/>
              <a:t>Our </a:t>
            </a:r>
            <a:r>
              <a:rPr lang="en-US" altLang="zh-CN" smtClean="0"/>
              <a:t>goal is to use the measured y and </a:t>
            </a:r>
            <a:r>
              <a:rPr lang="en-US" altLang="zh-CN" b="1" i="1" smtClean="0"/>
              <a:t>U </a:t>
            </a:r>
            <a:r>
              <a:rPr lang="en-US" altLang="zh-CN" smtClean="0"/>
              <a:t>to identify unbiased system matrices</a:t>
            </a:r>
          </a:p>
          <a:p>
            <a:r>
              <a:rPr lang="en-US" altLang="zh-CN" b="1" i="1" smtClean="0"/>
              <a:t>(A, B", </a:t>
            </a:r>
            <a:r>
              <a:rPr lang="en-US" altLang="zh-CN" smtClean="0"/>
              <a:t>C).</a:t>
            </a:r>
          </a:p>
          <a:p>
            <a:r>
              <a:rPr lang="en-US" altLang="zh-CN" smtClean="0"/>
              <a:t>recursive least-squares (RLS) estimation.</a:t>
            </a:r>
          </a:p>
          <a:p>
            <a:endParaRPr lang="en-US" altLang="zh-CN" smtClean="0"/>
          </a:p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17927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mtClean="0"/>
              <a:t>This figure illustrates the basic steps in subspace identification of a state space model of a linear time invariant</a:t>
            </a:r>
          </a:p>
          <a:p>
            <a:r>
              <a:rPr lang="en-US" altLang="zh-CN" smtClean="0"/>
              <a:t>(LTI) system.</a:t>
            </a:r>
          </a:p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750167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5388" y="695325"/>
            <a:ext cx="4641850" cy="3481388"/>
          </a:xfrm>
          <a:ln/>
        </p:spPr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3263" y="4410075"/>
            <a:ext cx="5627687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311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1"/>
          <p:cNvSpPr>
            <a:spLocks noChangeShapeType="1"/>
          </p:cNvSpPr>
          <p:nvPr userDrawn="1"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47"/>
          <p:cNvSpPr>
            <a:spLocks noChangeShapeType="1"/>
          </p:cNvSpPr>
          <p:nvPr userDrawn="1"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6" name="Picture 48" descr="ucr_seal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9144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9" descr="ucr_logo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4763"/>
            <a:ext cx="16764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94" name="Rectangle 42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23595" name="Rectangle 43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8" name="Rectangle 4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4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70F3D8-6F41-6240-A086-0A35E25404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457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4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90726C-FA00-A04A-B941-1A020A7C96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77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4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0F53B5-8FB6-DE47-A7DA-E03D062732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15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86CE9-8139-0A4C-AC44-8689978B55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345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4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100582-73FE-E347-963D-C81AB72797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684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14457F-4FE2-144E-B086-C306CC90BC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301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4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275C12-2B8C-354B-8AF7-6986DF3A67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667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249077-7A23-2147-AA6D-5754CC76EE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405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97E3E7-515D-634F-B834-EE542A7BAB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117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4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096297-B9FF-404E-A688-8949BB106E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814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4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50EBDF-C52C-1B49-A986-F844FAD984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427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55C78F-CB68-D943-A4C4-6699ED67FA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9288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7772400" cy="8683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28600" y="1295400"/>
            <a:ext cx="8686800" cy="49530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4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7BEF88-24B4-6243-B862-D85389D3F1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4002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7772400" cy="8683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295400"/>
            <a:ext cx="42672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95400"/>
            <a:ext cx="4267200" cy="2400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848100"/>
            <a:ext cx="4267200" cy="2400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4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9F14F3-1642-0C45-9B8F-616EF0A07D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5153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7772400" cy="8683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295400"/>
            <a:ext cx="42672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95400"/>
            <a:ext cx="42672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848100"/>
            <a:ext cx="42672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400800"/>
            <a:ext cx="2133600" cy="3048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53200" y="6324600"/>
            <a:ext cx="2133600" cy="381000"/>
          </a:xfrm>
        </p:spPr>
        <p:txBody>
          <a:bodyPr/>
          <a:lstStyle>
            <a:lvl1pPr>
              <a:defRPr/>
            </a:lvl1pPr>
          </a:lstStyle>
          <a:p>
            <a:fld id="{6A18959D-686C-4DB8-B8BA-4CE77B6E71A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2492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0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0"/>
            <a:ext cx="777240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41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95400"/>
            <a:ext cx="8686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570" name="Rectangle 4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2572" name="Rectangle 4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2133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cs typeface="+mn-cs"/>
              </a:defRPr>
            </a:lvl1pPr>
          </a:lstStyle>
          <a:p>
            <a:pPr>
              <a:defRPr/>
            </a:pPr>
            <a:fld id="{1B0C86D5-2624-6D4E-8A5E-66DEED2A2B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0" name="Picture 45" descr="ucr_seal"/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304800"/>
            <a:ext cx="9525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8" r:id="rId15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charset="0"/>
        <a:buChar char="l"/>
        <a:defRPr sz="3000">
          <a:solidFill>
            <a:srgbClr val="333300"/>
          </a:solidFill>
          <a:latin typeface="+mn-lt"/>
          <a:ea typeface="ＭＳ Ｐゴシック" charset="0"/>
          <a:cs typeface="ＭＳ Ｐゴシック" charset="0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charset="0"/>
        <a:buChar char="l"/>
        <a:defRPr sz="2600">
          <a:solidFill>
            <a:srgbClr val="006699"/>
          </a:solidFill>
          <a:latin typeface="+mn-lt"/>
          <a:ea typeface="ＭＳ Ｐゴシック" charset="0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charset="0"/>
        <a:buChar char="l"/>
        <a:defRPr sz="2300">
          <a:solidFill>
            <a:schemeClr val="hlink"/>
          </a:solidFill>
          <a:latin typeface="+mn-lt"/>
          <a:ea typeface="ＭＳ Ｐゴシック" charset="0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0"/>
        <a:buChar char="§"/>
        <a:defRPr sz="2000">
          <a:solidFill>
            <a:srgbClr val="333300"/>
          </a:solidFill>
          <a:latin typeface="+mn-lt"/>
          <a:ea typeface="ＭＳ Ｐゴシック" charset="0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charset="0"/>
        <a:buChar char="§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2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6.wmf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emf"/><Relationship Id="rId3" Type="http://schemas.openxmlformats.org/officeDocument/2006/relationships/image" Target="../media/image13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3124200" y="3200400"/>
            <a:ext cx="3973513" cy="2894013"/>
          </a:xfrm>
        </p:spPr>
        <p:txBody>
          <a:bodyPr/>
          <a:lstStyle/>
          <a:p>
            <a:pPr algn="ctr">
              <a:defRPr/>
            </a:pPr>
            <a:r>
              <a:rPr lang="en-US" sz="2000" dirty="0" smtClean="0">
                <a:cs typeface="+mn-cs"/>
              </a:rPr>
              <a:t>Daniel Quach, </a:t>
            </a:r>
            <a:r>
              <a:rPr lang="en-US" sz="2000" dirty="0" err="1" smtClean="0">
                <a:cs typeface="+mn-cs"/>
              </a:rPr>
              <a:t>Shujuan</a:t>
            </a:r>
            <a:r>
              <a:rPr lang="en-US" sz="2000" dirty="0" smtClean="0">
                <a:cs typeface="+mn-cs"/>
              </a:rPr>
              <a:t> Wang, Jian Ma, Hengyang Zhao, Hai Wang, Sheldon X.-D. Tan</a:t>
            </a:r>
          </a:p>
          <a:p>
            <a:pPr algn="ctr">
              <a:defRPr/>
            </a:pPr>
            <a:endParaRPr lang="en-US" sz="2000" b="1" dirty="0" smtClean="0"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FangSong" pitchFamily="49" charset="-122"/>
              <a:cs typeface="Arial Unicode MS" pitchFamily="34" charset="-128"/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FangSong" pitchFamily="49" charset="-122"/>
                <a:cs typeface="Arial Unicode MS" pitchFamily="34" charset="-128"/>
              </a:rPr>
              <a:t>Department of Electrical and Computer Engineering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FangSong" pitchFamily="49" charset="-122"/>
                <a:cs typeface="Arial Unicode MS" pitchFamily="34" charset="-128"/>
              </a:rPr>
              <a:t>University of California, Riverside, CA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en-US" sz="2400" dirty="0" smtClean="0">
              <a:ea typeface="FangSong" pitchFamily="49" charset="-122"/>
              <a:cs typeface="Arial Unicode MS" pitchFamily="34" charset="-128"/>
            </a:endParaRPr>
          </a:p>
          <a:p>
            <a:pPr algn="ctr" eaLnBrk="1" hangingPunct="1">
              <a:lnSpc>
                <a:spcPct val="90000"/>
              </a:lnSpc>
              <a:defRPr/>
            </a:pPr>
            <a:endParaRPr lang="en-US" sz="2400" dirty="0" smtClean="0">
              <a:ea typeface="FangSong" pitchFamily="49" charset="-122"/>
              <a:cs typeface="Arial Unicode MS" pitchFamily="34" charset="-128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sz="2400" dirty="0" smtClean="0">
              <a:ea typeface="FangSong" pitchFamily="49" charset="-122"/>
              <a:cs typeface="Arial Unicode MS" pitchFamily="34" charset="-128"/>
            </a:endParaRPr>
          </a:p>
          <a:p>
            <a:pPr algn="ctr" eaLnBrk="1" hangingPunct="1">
              <a:lnSpc>
                <a:spcPct val="90000"/>
              </a:lnSpc>
              <a:defRPr/>
            </a:pPr>
            <a:endParaRPr lang="en-US" sz="1800" dirty="0" smtClean="0">
              <a:ea typeface="FangSong" pitchFamily="49" charset="-122"/>
              <a:cs typeface="Arial Unicode MS" pitchFamily="34" charset="-128"/>
            </a:endParaRPr>
          </a:p>
        </p:txBody>
      </p:sp>
      <p:sp>
        <p:nvSpPr>
          <p:cNvPr id="2057" name="Rectangle 9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en-US" sz="3600" dirty="0"/>
              <a:t>Building Thermal Modeling for Energy-Efficient Smart Building Control</a:t>
            </a:r>
            <a:endParaRPr lang="en-US" sz="3600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cs typeface="+mj-cs"/>
            </a:endParaRPr>
          </a:p>
        </p:txBody>
      </p:sp>
      <p:pic>
        <p:nvPicPr>
          <p:cNvPr id="17411" name="Picture 19" descr="pict_tower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505200"/>
            <a:ext cx="214312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114800" y="29747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Outline</a:t>
            </a:r>
          </a:p>
        </p:txBody>
      </p:sp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>
                <a:latin typeface="Arial" charset="0"/>
              </a:rPr>
              <a:t>Motivation</a:t>
            </a:r>
          </a:p>
          <a:p>
            <a:r>
              <a:rPr lang="en-US" sz="2600" dirty="0" smtClean="0">
                <a:latin typeface="Arial" charset="0"/>
              </a:rPr>
              <a:t>EnergyPlus Review</a:t>
            </a:r>
          </a:p>
          <a:p>
            <a:r>
              <a:rPr lang="en-US" sz="2600" dirty="0" smtClean="0">
                <a:latin typeface="Arial" charset="0"/>
              </a:rPr>
              <a:t>Subspace Identification based method</a:t>
            </a:r>
            <a:endParaRPr lang="en-US" sz="2600" dirty="0">
              <a:latin typeface="Arial" charset="0"/>
            </a:endParaRPr>
          </a:p>
          <a:p>
            <a:r>
              <a:rPr lang="en-US" sz="2600" dirty="0" smtClean="0">
                <a:latin typeface="Arial" charset="0"/>
              </a:rPr>
              <a:t>Two-stage Modeling</a:t>
            </a:r>
          </a:p>
          <a:p>
            <a:r>
              <a:rPr lang="en-US" sz="2600" dirty="0" smtClean="0">
                <a:latin typeface="Arial" charset="0"/>
              </a:rPr>
              <a:t>Model order selection</a:t>
            </a:r>
          </a:p>
          <a:p>
            <a:r>
              <a:rPr lang="en-US" sz="2600" dirty="0" smtClean="0">
                <a:latin typeface="Arial" charset="0"/>
              </a:rPr>
              <a:t>5-zone and 2-zone Results</a:t>
            </a:r>
            <a:endParaRPr lang="en-US" sz="2600" dirty="0" smtClean="0">
              <a:latin typeface="Arial" charset="0"/>
            </a:endParaRPr>
          </a:p>
          <a:p>
            <a:r>
              <a:rPr lang="en-US" sz="2600" dirty="0" smtClean="0">
                <a:latin typeface="Arial" charset="0"/>
              </a:rPr>
              <a:t>Summary</a:t>
            </a:r>
            <a:endParaRPr lang="en-US" sz="2600" dirty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Estimated building section makes up about 40% energy consumption in U.S.</a:t>
            </a:r>
          </a:p>
          <a:p>
            <a:r>
              <a:rPr lang="en-US" dirty="0" smtClean="0"/>
              <a:t>Responsible for 70% of electricity use on average households</a:t>
            </a:r>
          </a:p>
          <a:p>
            <a:r>
              <a:rPr lang="en-US" dirty="0" smtClean="0"/>
              <a:t>About 50% of energy consumed in buildings are related to space heating, cooling, and ventilation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3149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</a:rPr>
              <a:t>EnergyPlus</a:t>
            </a:r>
            <a:endParaRPr lang="en-US" dirty="0">
              <a:latin typeface="Arial" charset="0"/>
            </a:endParaRPr>
          </a:p>
        </p:txBody>
      </p:sp>
      <p:sp>
        <p:nvSpPr>
          <p:cNvPr id="21506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Software package by U.S.</a:t>
            </a:r>
            <a:br>
              <a:rPr lang="en-US" dirty="0" smtClean="0"/>
            </a:br>
            <a:r>
              <a:rPr lang="en-US" dirty="0" smtClean="0"/>
              <a:t>Dept. of Energy used for</a:t>
            </a:r>
            <a:br>
              <a:rPr lang="en-US" dirty="0" smtClean="0"/>
            </a:br>
            <a:r>
              <a:rPr lang="en-US" dirty="0" smtClean="0"/>
              <a:t>modeling thermal behavior,</a:t>
            </a:r>
            <a:br>
              <a:rPr lang="en-US" dirty="0" smtClean="0"/>
            </a:br>
            <a:r>
              <a:rPr lang="en-US" dirty="0" smtClean="0"/>
              <a:t>energy, and water use.</a:t>
            </a:r>
          </a:p>
          <a:p>
            <a:r>
              <a:rPr lang="en-US" dirty="0" smtClean="0"/>
              <a:t>Capable of modifying</a:t>
            </a:r>
            <a:br>
              <a:rPr lang="en-US" dirty="0" smtClean="0"/>
            </a:br>
            <a:r>
              <a:rPr lang="en-US" dirty="0" smtClean="0"/>
              <a:t>specific settings for each </a:t>
            </a:r>
            <a:br>
              <a:rPr lang="en-US" dirty="0" smtClean="0"/>
            </a:br>
            <a:r>
              <a:rPr lang="en-US" dirty="0" smtClean="0"/>
              <a:t>zone</a:t>
            </a:r>
          </a:p>
          <a:p>
            <a:pPr lvl="1"/>
            <a:r>
              <a:rPr lang="en-US" dirty="0" smtClean="0"/>
              <a:t>Thermal zones, Space type, Schedule, Outdoor Air, People, Lights, Electric Equipment, Surfaces, etc.</a:t>
            </a:r>
          </a:p>
          <a:p>
            <a:endParaRPr lang="en-US" dirty="0">
              <a:latin typeface="Arial" charset="0"/>
            </a:endParaRPr>
          </a:p>
        </p:txBody>
      </p:sp>
      <p:pic>
        <p:nvPicPr>
          <p:cNvPr id="4" name="Picture 3" descr="5zone-b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2667000"/>
            <a:ext cx="3428655" cy="1676400"/>
          </a:xfrm>
          <a:prstGeom prst="rect">
            <a:avLst/>
          </a:prstGeom>
        </p:spPr>
      </p:pic>
      <p:pic>
        <p:nvPicPr>
          <p:cNvPr id="5" name="Picture 4" descr="5zone-a.eps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1371600"/>
            <a:ext cx="3496236" cy="1143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Proposed thermal modeling method</a:t>
            </a:r>
            <a:endParaRPr lang="en-US" sz="320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28600" y="1295400"/>
            <a:ext cx="8686800" cy="4953000"/>
          </a:xfrm>
        </p:spPr>
        <p:txBody>
          <a:bodyPr/>
          <a:lstStyle/>
          <a:p>
            <a:r>
              <a:rPr lang="en-US" dirty="0" smtClean="0"/>
              <a:t>Applied subspace system identification (SID) method to build the dynamic linear thermal model</a:t>
            </a:r>
          </a:p>
          <a:p>
            <a:pPr lvl="1"/>
            <a:r>
              <a:rPr lang="en-US" dirty="0" smtClean="0"/>
              <a:t>Used EnergyPlus to simulate model and generate inputs and ‘golden’ outputs</a:t>
            </a:r>
            <a:endParaRPr lang="en-US" dirty="0"/>
          </a:p>
          <a:p>
            <a:pPr lvl="1"/>
            <a:r>
              <a:rPr lang="en-US" dirty="0" smtClean="0"/>
              <a:t>Inputs: </a:t>
            </a:r>
          </a:p>
          <a:p>
            <a:pPr lvl="2"/>
            <a:r>
              <a:rPr lang="en-US" dirty="0" smtClean="0"/>
              <a:t>Ambient temperature, HVAC data, light, electrical equipment, people</a:t>
            </a:r>
          </a:p>
          <a:p>
            <a:pPr lvl="1"/>
            <a:r>
              <a:rPr lang="en-US" dirty="0" smtClean="0"/>
              <a:t>Output: </a:t>
            </a:r>
          </a:p>
          <a:p>
            <a:pPr lvl="2"/>
            <a:r>
              <a:rPr lang="en-US" dirty="0" smtClean="0"/>
              <a:t>Zone room temperature</a:t>
            </a:r>
          </a:p>
        </p:txBody>
      </p:sp>
    </p:spTree>
    <p:extLst>
      <p:ext uri="{BB962C8B-B14F-4D97-AF65-F5344CB8AC3E}">
        <p14:creationId xmlns:p14="http://schemas.microsoft.com/office/powerpoint/2010/main" val="2057372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15962"/>
          </a:xfrm>
        </p:spPr>
        <p:txBody>
          <a:bodyPr/>
          <a:lstStyle/>
          <a:p>
            <a:r>
              <a:rPr lang="en-US" sz="2600" dirty="0" smtClean="0"/>
              <a:t>Behavioral thermal </a:t>
            </a:r>
            <a:r>
              <a:rPr lang="en-US" sz="2600" dirty="0"/>
              <a:t>m</a:t>
            </a:r>
            <a:r>
              <a:rPr lang="en-US" sz="2600" dirty="0" smtClean="0"/>
              <a:t>odeling problem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23169"/>
            <a:ext cx="8229600" cy="4411662"/>
          </a:xfrm>
        </p:spPr>
        <p:txBody>
          <a:bodyPr/>
          <a:lstStyle/>
          <a:p>
            <a:r>
              <a:rPr lang="en-US" dirty="0" smtClean="0"/>
              <a:t>Described as a discrete linear time invariant (LTI) system</a:t>
            </a: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2362200" y="2514600"/>
            <a:ext cx="4419600" cy="3048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 sz="3600">
              <a:ea typeface="宋体" charset="-122"/>
            </a:endParaRPr>
          </a:p>
        </p:txBody>
      </p:sp>
      <p:sp>
        <p:nvSpPr>
          <p:cNvPr id="11269" name="Line 6"/>
          <p:cNvSpPr>
            <a:spLocks noChangeShapeType="1"/>
          </p:cNvSpPr>
          <p:nvPr/>
        </p:nvSpPr>
        <p:spPr bwMode="auto">
          <a:xfrm flipH="1">
            <a:off x="1143000" y="31242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0" name="Line 8"/>
          <p:cNvSpPr>
            <a:spLocks noChangeShapeType="1"/>
          </p:cNvSpPr>
          <p:nvPr/>
        </p:nvSpPr>
        <p:spPr bwMode="auto">
          <a:xfrm flipH="1">
            <a:off x="1143000" y="35814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1" name="Line 10"/>
          <p:cNvSpPr>
            <a:spLocks noChangeShapeType="1"/>
          </p:cNvSpPr>
          <p:nvPr/>
        </p:nvSpPr>
        <p:spPr bwMode="auto">
          <a:xfrm flipH="1">
            <a:off x="1143000" y="40386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2" name="Line 12"/>
          <p:cNvSpPr>
            <a:spLocks noChangeShapeType="1"/>
          </p:cNvSpPr>
          <p:nvPr/>
        </p:nvSpPr>
        <p:spPr bwMode="auto">
          <a:xfrm flipH="1">
            <a:off x="1143000" y="44958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3" name="Line 14"/>
          <p:cNvSpPr>
            <a:spLocks noChangeShapeType="1"/>
          </p:cNvSpPr>
          <p:nvPr/>
        </p:nvSpPr>
        <p:spPr bwMode="auto">
          <a:xfrm flipH="1">
            <a:off x="1143000" y="49530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4" name="Line 15"/>
          <p:cNvSpPr>
            <a:spLocks noChangeShapeType="1"/>
          </p:cNvSpPr>
          <p:nvPr/>
        </p:nvSpPr>
        <p:spPr bwMode="auto">
          <a:xfrm flipH="1">
            <a:off x="6781800" y="31242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5" name="Line 16"/>
          <p:cNvSpPr>
            <a:spLocks noChangeShapeType="1"/>
          </p:cNvSpPr>
          <p:nvPr/>
        </p:nvSpPr>
        <p:spPr bwMode="auto">
          <a:xfrm flipH="1">
            <a:off x="6781800" y="35814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6" name="Line 17"/>
          <p:cNvSpPr>
            <a:spLocks noChangeShapeType="1"/>
          </p:cNvSpPr>
          <p:nvPr/>
        </p:nvSpPr>
        <p:spPr bwMode="auto">
          <a:xfrm flipH="1">
            <a:off x="6781800" y="40386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7" name="Line 18"/>
          <p:cNvSpPr>
            <a:spLocks noChangeShapeType="1"/>
          </p:cNvSpPr>
          <p:nvPr/>
        </p:nvSpPr>
        <p:spPr bwMode="auto">
          <a:xfrm flipH="1">
            <a:off x="6781800" y="44958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8" name="Line 19"/>
          <p:cNvSpPr>
            <a:spLocks noChangeShapeType="1"/>
          </p:cNvSpPr>
          <p:nvPr/>
        </p:nvSpPr>
        <p:spPr bwMode="auto">
          <a:xfrm flipH="1">
            <a:off x="6781800" y="49530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9" name="Text Box 20"/>
          <p:cNvSpPr txBox="1">
            <a:spLocks noChangeArrowheads="1"/>
          </p:cNvSpPr>
          <p:nvPr/>
        </p:nvSpPr>
        <p:spPr bwMode="auto">
          <a:xfrm>
            <a:off x="685800" y="2971800"/>
            <a:ext cx="685800" cy="201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p0</a:t>
            </a:r>
          </a:p>
          <a:p>
            <a:pPr eaLnBrk="1" hangingPunct="1">
              <a:spcBef>
                <a:spcPct val="50000"/>
              </a:spcBef>
            </a:pPr>
            <a:r>
              <a:rPr lang="en-US" dirty="0"/>
              <a:t>p1</a:t>
            </a:r>
          </a:p>
          <a:p>
            <a:pPr eaLnBrk="1" hangingPunct="1">
              <a:spcBef>
                <a:spcPct val="50000"/>
              </a:spcBef>
            </a:pPr>
            <a:r>
              <a:rPr lang="en-US" dirty="0"/>
              <a:t>p2</a:t>
            </a:r>
          </a:p>
          <a:p>
            <a:pPr eaLnBrk="1" hangingPunct="1">
              <a:spcBef>
                <a:spcPct val="50000"/>
              </a:spcBef>
            </a:pPr>
            <a:r>
              <a:rPr lang="en-US" dirty="0"/>
              <a:t>p3</a:t>
            </a:r>
          </a:p>
          <a:p>
            <a:pPr eaLnBrk="1" hangingPunct="1">
              <a:spcBef>
                <a:spcPct val="50000"/>
              </a:spcBef>
            </a:pPr>
            <a:r>
              <a:rPr lang="en-US" dirty="0"/>
              <a:t>p4</a:t>
            </a:r>
          </a:p>
        </p:txBody>
      </p:sp>
      <p:sp>
        <p:nvSpPr>
          <p:cNvPr id="11280" name="Text Box 21"/>
          <p:cNvSpPr txBox="1">
            <a:spLocks noChangeArrowheads="1"/>
          </p:cNvSpPr>
          <p:nvPr/>
        </p:nvSpPr>
        <p:spPr bwMode="auto">
          <a:xfrm>
            <a:off x="8001000" y="2971800"/>
            <a:ext cx="685800" cy="201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t0</a:t>
            </a:r>
          </a:p>
          <a:p>
            <a:pPr eaLnBrk="1" hangingPunct="1">
              <a:spcBef>
                <a:spcPct val="50000"/>
              </a:spcBef>
            </a:pPr>
            <a:r>
              <a:rPr lang="en-US"/>
              <a:t>t1</a:t>
            </a:r>
          </a:p>
          <a:p>
            <a:pPr eaLnBrk="1" hangingPunct="1">
              <a:spcBef>
                <a:spcPct val="50000"/>
              </a:spcBef>
            </a:pPr>
            <a:r>
              <a:rPr lang="en-US"/>
              <a:t>t2</a:t>
            </a:r>
          </a:p>
          <a:p>
            <a:pPr eaLnBrk="1" hangingPunct="1">
              <a:spcBef>
                <a:spcPct val="50000"/>
              </a:spcBef>
            </a:pPr>
            <a:r>
              <a:rPr lang="en-US"/>
              <a:t>t3</a:t>
            </a:r>
          </a:p>
          <a:p>
            <a:pPr eaLnBrk="1" hangingPunct="1">
              <a:spcBef>
                <a:spcPct val="50000"/>
              </a:spcBef>
            </a:pPr>
            <a:r>
              <a:rPr lang="en-US"/>
              <a:t>t4</a:t>
            </a:r>
          </a:p>
        </p:txBody>
      </p:sp>
      <p:sp>
        <p:nvSpPr>
          <p:cNvPr id="11282" name="Text Box 23"/>
          <p:cNvSpPr txBox="1">
            <a:spLocks noChangeArrowheads="1"/>
          </p:cNvSpPr>
          <p:nvPr/>
        </p:nvSpPr>
        <p:spPr bwMode="auto">
          <a:xfrm>
            <a:off x="1981200" y="5853113"/>
            <a:ext cx="6477000" cy="703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/>
              <a:t>A: stable matrix			u: input matrix</a:t>
            </a:r>
          </a:p>
          <a:p>
            <a:pPr eaLnBrk="1" hangingPunct="1">
              <a:spcBef>
                <a:spcPct val="50000"/>
              </a:spcBef>
            </a:pPr>
            <a:r>
              <a:rPr lang="en-US" sz="1600"/>
              <a:t>y: output matrix			x: state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438401" y="3563599"/>
                <a:ext cx="4267199" cy="6865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000" i="1" smtClean="0"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i="1" smtClean="0">
                                  <a:latin typeface="Cambria Math" charset="0"/>
                                </a:rPr>
                              </m:ctrlPr>
                            </m:eqArrPr>
                            <m:e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latin typeface="Cambria Math" charset="0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𝐴𝑥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charset="0"/>
                                    </a:rPr>
                                    <m:t>𝑢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charset="0"/>
                                    </a:rPr>
                                    <m:t>𝑤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𝑤</m:t>
                              </m:r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𝐶𝑥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+</m:t>
                              </m:r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𝑣</m:t>
                              </m:r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 smtClean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1" y="3563599"/>
                <a:ext cx="4267199" cy="68653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14491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92162"/>
          </a:xfrm>
        </p:spPr>
        <p:txBody>
          <a:bodyPr/>
          <a:lstStyle/>
          <a:p>
            <a:r>
              <a:rPr lang="en-US" altLang="zh-TW" sz="3500" dirty="0" smtClean="0">
                <a:ea typeface="宋体" pitchFamily="2" charset="-122"/>
              </a:rPr>
              <a:t>Subspace </a:t>
            </a:r>
            <a:r>
              <a:rPr lang="en-US" altLang="zh-CN" sz="3500" dirty="0" smtClean="0">
                <a:ea typeface="宋体" pitchFamily="2" charset="-122"/>
              </a:rPr>
              <a:t>System Identification</a:t>
            </a:r>
            <a:r>
              <a:rPr lang="en-US" altLang="zh-TW" sz="3500" baseline="30000" dirty="0" smtClean="0">
                <a:ea typeface="宋体" pitchFamily="2" charset="-122"/>
              </a:rPr>
              <a:t>[1]</a:t>
            </a:r>
            <a:endParaRPr lang="en-US" altLang="zh-CN" sz="3500" dirty="0" smtClean="0">
              <a:ea typeface="宋体" pitchFamily="2" charset="-122"/>
            </a:endParaRP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295400"/>
            <a:ext cx="8686800" cy="4953000"/>
          </a:xfrm>
        </p:spPr>
        <p:txBody>
          <a:bodyPr/>
          <a:lstStyle/>
          <a:p>
            <a:r>
              <a:rPr lang="en-US" altLang="zh-CN" sz="2600" b="1" dirty="0" smtClean="0">
                <a:ea typeface="宋体" pitchFamily="2" charset="-122"/>
              </a:rPr>
              <a:t>State space models</a:t>
            </a:r>
            <a:r>
              <a:rPr lang="en-US" altLang="zh-TW" sz="2600" b="1" dirty="0" smtClean="0">
                <a:ea typeface="PMingLiU" pitchFamily="18" charset="-120"/>
              </a:rPr>
              <a:t> (LTI)</a:t>
            </a:r>
            <a:endParaRPr lang="en-US" altLang="zh-CN" sz="2600" dirty="0" smtClean="0">
              <a:ea typeface="宋体" pitchFamily="2" charset="-122"/>
            </a:endParaRPr>
          </a:p>
          <a:p>
            <a:pPr>
              <a:buFont typeface="Wingdings" pitchFamily="2" charset="2"/>
              <a:buNone/>
            </a:pPr>
            <a:endParaRPr lang="en-US" altLang="zh-TW" sz="2600" dirty="0" smtClean="0">
              <a:ea typeface="宋体" pitchFamily="2" charset="-122"/>
            </a:endParaRPr>
          </a:p>
          <a:p>
            <a:pPr>
              <a:buFont typeface="Wingdings" pitchFamily="2" charset="2"/>
              <a:buNone/>
            </a:pPr>
            <a:endParaRPr lang="en-US" altLang="zh-TW" sz="2600" dirty="0" smtClean="0">
              <a:ea typeface="宋体" pitchFamily="2" charset="-122"/>
            </a:endParaRPr>
          </a:p>
          <a:p>
            <a:pPr>
              <a:buFont typeface="Wingdings" pitchFamily="2" charset="2"/>
              <a:buNone/>
            </a:pPr>
            <a:endParaRPr lang="en-US" altLang="zh-TW" sz="2600" dirty="0" smtClean="0">
              <a:ea typeface="宋体" pitchFamily="2" charset="-122"/>
            </a:endParaRPr>
          </a:p>
          <a:p>
            <a:pPr lvl="1"/>
            <a:endParaRPr lang="en-US" altLang="zh-TW" sz="2200" dirty="0" smtClean="0">
              <a:ea typeface="宋体" pitchFamily="2" charset="-122"/>
            </a:endParaRPr>
          </a:p>
          <a:p>
            <a:pPr lvl="1"/>
            <a:r>
              <a:rPr lang="en-US" altLang="zh-TW" sz="2200" dirty="0" smtClean="0">
                <a:ea typeface="宋体" pitchFamily="2" charset="-122"/>
              </a:rPr>
              <a:t>Here input </a:t>
            </a:r>
            <a:r>
              <a:rPr lang="en-US" altLang="zh-TW" sz="2200" i="1" dirty="0" smtClean="0"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TW" sz="2200" dirty="0" smtClean="0">
                <a:ea typeface="宋体" pitchFamily="2" charset="-122"/>
              </a:rPr>
              <a:t> is Power, and output </a:t>
            </a:r>
            <a:r>
              <a:rPr lang="en-US" altLang="zh-TW" sz="2200" i="1" dirty="0" smtClean="0"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TW" sz="2200" dirty="0" smtClean="0">
                <a:ea typeface="宋体" pitchFamily="2" charset="-122"/>
              </a:rPr>
              <a:t> is Temperature</a:t>
            </a:r>
          </a:p>
          <a:p>
            <a:r>
              <a:rPr lang="en-US" altLang="zh-TW" sz="2600" b="1" dirty="0" smtClean="0">
                <a:ea typeface="PMingLiU" pitchFamily="18" charset="-120"/>
              </a:rPr>
              <a:t>Goal</a:t>
            </a:r>
          </a:p>
          <a:p>
            <a:pPr lvl="1"/>
            <a:r>
              <a:rPr lang="en-US" altLang="zh-CN" sz="2200" dirty="0" smtClean="0">
                <a:ea typeface="宋体" pitchFamily="2" charset="-122"/>
              </a:rPr>
              <a:t>Given input and output observations</a:t>
            </a:r>
            <a:r>
              <a:rPr lang="en-US" altLang="zh-TW" sz="2200" dirty="0" smtClean="0">
                <a:ea typeface="PMingLiU" pitchFamily="18" charset="-120"/>
              </a:rPr>
              <a:t> </a:t>
            </a:r>
            <a:r>
              <a:rPr lang="en-US" altLang="zh-TW" sz="2200" i="1" dirty="0" smtClean="0">
                <a:latin typeface="Times New Roman" pitchFamily="18" charset="0"/>
                <a:ea typeface="PMingLiU" pitchFamily="18" charset="-120"/>
              </a:rPr>
              <a:t>u</a:t>
            </a:r>
            <a:r>
              <a:rPr lang="en-US" altLang="zh-TW" sz="2200" dirty="0" smtClean="0">
                <a:ea typeface="PMingLiU" pitchFamily="18" charset="-120"/>
              </a:rPr>
              <a:t> and </a:t>
            </a:r>
            <a:r>
              <a:rPr lang="en-US" altLang="zh-TW" sz="2200" i="1" dirty="0" smtClean="0">
                <a:latin typeface="Times New Roman" pitchFamily="18" charset="0"/>
                <a:ea typeface="PMingLiU" pitchFamily="18" charset="-120"/>
              </a:rPr>
              <a:t>y</a:t>
            </a:r>
            <a:r>
              <a:rPr lang="en-US" altLang="zh-TW" sz="2200" dirty="0" smtClean="0">
                <a:ea typeface="PMingLiU" pitchFamily="18" charset="-120"/>
              </a:rPr>
              <a:t>, f</a:t>
            </a:r>
            <a:r>
              <a:rPr lang="en-US" altLang="zh-CN" sz="2200" dirty="0" smtClean="0">
                <a:ea typeface="宋体" pitchFamily="2" charset="-122"/>
              </a:rPr>
              <a:t>ind an</a:t>
            </a:r>
            <a:r>
              <a:rPr lang="en-US" altLang="zh-TW" sz="2200" dirty="0" smtClean="0">
                <a:ea typeface="PMingLiU" pitchFamily="18" charset="-120"/>
              </a:rPr>
              <a:t> </a:t>
            </a:r>
            <a:r>
              <a:rPr lang="en-US" altLang="zh-CN" sz="2200" dirty="0" smtClean="0">
                <a:ea typeface="宋体" pitchFamily="2" charset="-122"/>
              </a:rPr>
              <a:t>appropriate order </a:t>
            </a:r>
            <a:r>
              <a:rPr lang="en-US" altLang="zh-CN" sz="2200" i="1" dirty="0" smtClean="0">
                <a:latin typeface="Times New Roman" pitchFamily="18" charset="0"/>
                <a:ea typeface="宋体" pitchFamily="2" charset="-122"/>
              </a:rPr>
              <a:t>n</a:t>
            </a:r>
            <a:r>
              <a:rPr lang="en-US" altLang="zh-CN" sz="2200" i="1" dirty="0" smtClean="0">
                <a:ea typeface="宋体" pitchFamily="2" charset="-122"/>
              </a:rPr>
              <a:t> </a:t>
            </a:r>
            <a:r>
              <a:rPr lang="en-US" altLang="zh-CN" sz="2200" dirty="0" smtClean="0">
                <a:ea typeface="宋体" pitchFamily="2" charset="-122"/>
              </a:rPr>
              <a:t>and the system matrices</a:t>
            </a:r>
            <a:r>
              <a:rPr lang="en-US" altLang="zh-TW" sz="2200" dirty="0" smtClean="0">
                <a:ea typeface="PMingLiU" pitchFamily="18" charset="-120"/>
              </a:rPr>
              <a:t>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</a:rPr>
              <a:t>{</a:t>
            </a:r>
            <a:r>
              <a:rPr lang="en-US" altLang="zh-TW" sz="2200" i="1" dirty="0" smtClean="0">
                <a:latin typeface="Times New Roman" pitchFamily="18" charset="0"/>
                <a:ea typeface="PMingLiU" pitchFamily="18" charset="-120"/>
              </a:rPr>
              <a:t>A, B</a:t>
            </a:r>
            <a:r>
              <a:rPr lang="en-US" altLang="zh-TW" sz="2200" i="1" baseline="30000" dirty="0" smtClean="0">
                <a:latin typeface="Times New Roman" pitchFamily="18" charset="0"/>
                <a:ea typeface="PMingLiU" pitchFamily="18" charset="-120"/>
              </a:rPr>
              <a:t>u</a:t>
            </a:r>
            <a:r>
              <a:rPr lang="en-US" altLang="zh-TW" sz="2200" i="1" dirty="0" smtClean="0">
                <a:latin typeface="Times New Roman" pitchFamily="18" charset="0"/>
                <a:ea typeface="PMingLiU" pitchFamily="18" charset="-120"/>
              </a:rPr>
              <a:t>, C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</a:rPr>
              <a:t>}</a:t>
            </a:r>
            <a:endParaRPr lang="en-US" altLang="zh-CN" dirty="0" smtClean="0">
              <a:latin typeface="Times New Roman" pitchFamily="18" charset="0"/>
              <a:ea typeface="宋体" pitchFamily="2" charset="-122"/>
            </a:endParaRPr>
          </a:p>
          <a:p>
            <a:endParaRPr lang="en-US" altLang="zh-CN" sz="2600" dirty="0" smtClean="0">
              <a:ea typeface="宋体" pitchFamily="2" charset="-122"/>
            </a:endParaRPr>
          </a:p>
          <a:p>
            <a:endParaRPr lang="en-US" altLang="zh-CN" sz="2600" dirty="0" smtClean="0">
              <a:ea typeface="宋体" pitchFamily="2" charset="-122"/>
            </a:endParaRPr>
          </a:p>
        </p:txBody>
      </p:sp>
      <p:sp>
        <p:nvSpPr>
          <p:cNvPr id="147466" name="Text Box 10"/>
          <p:cNvSpPr txBox="1">
            <a:spLocks noChangeArrowheads="1"/>
          </p:cNvSpPr>
          <p:nvPr/>
        </p:nvSpPr>
        <p:spPr bwMode="auto">
          <a:xfrm>
            <a:off x="685800" y="2828925"/>
            <a:ext cx="80772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TW" sz="2000" b="1" i="1" dirty="0">
                <a:latin typeface="Times New Roman" pitchFamily="18" charset="0"/>
                <a:ea typeface="PMingLiU" pitchFamily="18" charset="-120"/>
              </a:rPr>
              <a:t>A </a:t>
            </a:r>
            <a:r>
              <a:rPr lang="en-US" altLang="zh-TW" sz="2000" dirty="0">
                <a:ea typeface="PMingLiU" pitchFamily="18" charset="-120"/>
              </a:rPr>
              <a:t>: stable matrix</a:t>
            </a:r>
            <a:r>
              <a:rPr lang="en-US" altLang="zh-TW" sz="2000" b="1" dirty="0">
                <a:ea typeface="PMingLiU" pitchFamily="18" charset="-120"/>
              </a:rPr>
              <a:t>                  </a:t>
            </a:r>
            <a:r>
              <a:rPr lang="en-US" altLang="zh-TW" sz="2000" b="1" i="1" dirty="0" err="1">
                <a:latin typeface="Times New Roman" pitchFamily="18" charset="0"/>
                <a:ea typeface="PMingLiU" pitchFamily="18" charset="-120"/>
              </a:rPr>
              <a:t>w,v</a:t>
            </a:r>
            <a:r>
              <a:rPr lang="en-US" altLang="zh-TW" sz="2000" b="1" i="1" dirty="0">
                <a:latin typeface="Times New Roman" pitchFamily="18" charset="0"/>
                <a:ea typeface="PMingLiU" pitchFamily="18" charset="-120"/>
              </a:rPr>
              <a:t> </a:t>
            </a:r>
            <a:r>
              <a:rPr lang="en-US" altLang="zh-TW" sz="2000" dirty="0">
                <a:ea typeface="PMingLiU" pitchFamily="18" charset="-120"/>
              </a:rPr>
              <a:t>: </a:t>
            </a:r>
            <a:r>
              <a:rPr lang="en-US" altLang="zh-CN" sz="2000" dirty="0">
                <a:ea typeface="宋体" pitchFamily="2" charset="-122"/>
              </a:rPr>
              <a:t>stationary zero</a:t>
            </a:r>
            <a:r>
              <a:rPr lang="en-US" altLang="zh-TW" sz="2000" dirty="0">
                <a:ea typeface="PMingLiU" pitchFamily="18" charset="-120"/>
              </a:rPr>
              <a:t>-</a:t>
            </a:r>
            <a:r>
              <a:rPr lang="en-US" altLang="zh-CN" sz="2000" dirty="0">
                <a:ea typeface="宋体" pitchFamily="2" charset="-122"/>
              </a:rPr>
              <a:t>mean white</a:t>
            </a:r>
            <a:r>
              <a:rPr lang="en-US" altLang="zh-TW" sz="2000" dirty="0">
                <a:ea typeface="PMingLiU" pitchFamily="18" charset="-120"/>
              </a:rPr>
              <a:t>-</a:t>
            </a:r>
            <a:r>
              <a:rPr lang="en-US" altLang="zh-CN" sz="2000" dirty="0">
                <a:ea typeface="宋体" pitchFamily="2" charset="-122"/>
              </a:rPr>
              <a:t>noise seq</a:t>
            </a:r>
            <a:r>
              <a:rPr lang="en-US" altLang="zh-TW" sz="2000" dirty="0">
                <a:ea typeface="PMingLiU" pitchFamily="18" charset="-120"/>
              </a:rPr>
              <a:t>.</a:t>
            </a:r>
          </a:p>
          <a:p>
            <a:r>
              <a:rPr lang="en-US" altLang="zh-TW" sz="2000" b="1" i="1" dirty="0">
                <a:latin typeface="Times New Roman" pitchFamily="18" charset="0"/>
                <a:ea typeface="PMingLiU" pitchFamily="18" charset="-120"/>
              </a:rPr>
              <a:t>u/y </a:t>
            </a:r>
            <a:r>
              <a:rPr lang="en-US" altLang="zh-TW" sz="2000" dirty="0">
                <a:ea typeface="PMingLiU" pitchFamily="18" charset="-120"/>
              </a:rPr>
              <a:t>: input/output</a:t>
            </a:r>
            <a:endParaRPr lang="en-US" altLang="zh-CN" sz="2000" b="1" dirty="0">
              <a:ea typeface="宋体" pitchFamily="2" charset="-122"/>
            </a:endParaRPr>
          </a:p>
        </p:txBody>
      </p:sp>
      <p:sp>
        <p:nvSpPr>
          <p:cNvPr id="147467" name="Text Box 11"/>
          <p:cNvSpPr txBox="1">
            <a:spLocks noChangeArrowheads="1"/>
          </p:cNvSpPr>
          <p:nvPr/>
        </p:nvSpPr>
        <p:spPr bwMode="auto">
          <a:xfrm>
            <a:off x="152400" y="5867400"/>
            <a:ext cx="89154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600" dirty="0">
                <a:ea typeface="PMingLiU" pitchFamily="18" charset="-120"/>
              </a:rPr>
              <a:t>[1] </a:t>
            </a:r>
            <a:r>
              <a:rPr lang="en-US" altLang="zh-CN" sz="1600" dirty="0">
                <a:ea typeface="宋体" pitchFamily="2" charset="-122"/>
              </a:rPr>
              <a:t>N.Y.</a:t>
            </a:r>
            <a:r>
              <a:rPr lang="en-US" altLang="zh-TW" sz="1600" dirty="0">
                <a:ea typeface="PMingLiU" pitchFamily="18" charset="-120"/>
              </a:rPr>
              <a:t> Chen, J.S.</a:t>
            </a:r>
            <a:r>
              <a:rPr lang="en-US" altLang="zh-CN" sz="1600" dirty="0">
                <a:ea typeface="宋体" pitchFamily="2" charset="-122"/>
              </a:rPr>
              <a:t> Gibson,</a:t>
            </a:r>
            <a:r>
              <a:rPr lang="en-US" altLang="zh-TW" sz="1600" dirty="0">
                <a:ea typeface="PMingLiU" pitchFamily="18" charset="-120"/>
              </a:rPr>
              <a:t> “</a:t>
            </a:r>
            <a:r>
              <a:rPr lang="en-US" altLang="zh-CN" sz="1600" dirty="0">
                <a:ea typeface="宋体" pitchFamily="2" charset="-122"/>
              </a:rPr>
              <a:t>Subspace System Identification Using a Multichannel</a:t>
            </a:r>
            <a:r>
              <a:rPr lang="en-US" altLang="zh-TW" sz="1600" dirty="0">
                <a:ea typeface="PMingLiU" pitchFamily="18" charset="-120"/>
              </a:rPr>
              <a:t> </a:t>
            </a:r>
            <a:r>
              <a:rPr lang="en-US" altLang="zh-CN" sz="1600" dirty="0">
                <a:ea typeface="宋体" pitchFamily="2" charset="-122"/>
              </a:rPr>
              <a:t> Lattice Filter</a:t>
            </a:r>
            <a:r>
              <a:rPr lang="en-US" altLang="zh-TW" sz="1600" dirty="0">
                <a:ea typeface="PMingLiU" pitchFamily="18" charset="-120"/>
              </a:rPr>
              <a:t>”, </a:t>
            </a:r>
            <a:r>
              <a:rPr lang="en-US" altLang="zh-CN" sz="1600" i="1" dirty="0">
                <a:ea typeface="宋体" pitchFamily="2" charset="-122"/>
              </a:rPr>
              <a:t>Proc.</a:t>
            </a:r>
            <a:r>
              <a:rPr lang="en-US" altLang="zh-CN" sz="1600" dirty="0">
                <a:ea typeface="宋体" pitchFamily="2" charset="-122"/>
              </a:rPr>
              <a:t> </a:t>
            </a:r>
            <a:r>
              <a:rPr lang="en-US" altLang="zh-CN" sz="1600" i="1" dirty="0">
                <a:ea typeface="宋体" pitchFamily="2" charset="-122"/>
              </a:rPr>
              <a:t>American Control Conference</a:t>
            </a:r>
            <a:r>
              <a:rPr lang="en-US" altLang="zh-CN" sz="1600" dirty="0">
                <a:ea typeface="宋体" pitchFamily="2" charset="-122"/>
              </a:rPr>
              <a:t>, 2004</a:t>
            </a:r>
            <a:r>
              <a:rPr lang="en-US" altLang="zh-TW" sz="1600" dirty="0">
                <a:ea typeface="PMingLiU" pitchFamily="18" charset="-120"/>
              </a:rPr>
              <a:t>, </a:t>
            </a:r>
            <a:r>
              <a:rPr lang="en-US" altLang="zh-CN" sz="1600" dirty="0">
                <a:ea typeface="宋体" pitchFamily="2" charset="-122"/>
              </a:rPr>
              <a:t>Volume 1, Issue 30</a:t>
            </a:r>
            <a:r>
              <a:rPr lang="en-US" altLang="zh-TW" sz="1600" dirty="0">
                <a:ea typeface="PMingLiU" pitchFamily="18" charset="-120"/>
              </a:rPr>
              <a:t>,</a:t>
            </a:r>
            <a:r>
              <a:rPr lang="en-US" altLang="zh-CN" sz="1600" dirty="0">
                <a:ea typeface="宋体" pitchFamily="2" charset="-122"/>
              </a:rPr>
              <a:t>  </a:t>
            </a:r>
            <a:r>
              <a:rPr lang="en-US" altLang="zh-TW" sz="1600" dirty="0">
                <a:ea typeface="PMingLiU" pitchFamily="18" charset="-120"/>
              </a:rPr>
              <a:t>pp. </a:t>
            </a:r>
            <a:r>
              <a:rPr lang="en-US" altLang="zh-CN" sz="1600" dirty="0">
                <a:ea typeface="宋体" pitchFamily="2" charset="-122"/>
              </a:rPr>
              <a:t>855 - 860 </a:t>
            </a:r>
          </a:p>
        </p:txBody>
      </p:sp>
      <p:sp>
        <p:nvSpPr>
          <p:cNvPr id="147468" name="Oval 12"/>
          <p:cNvSpPr>
            <a:spLocks noChangeArrowheads="1"/>
          </p:cNvSpPr>
          <p:nvPr/>
        </p:nvSpPr>
        <p:spPr bwMode="auto">
          <a:xfrm>
            <a:off x="5410200" y="1905000"/>
            <a:ext cx="762000" cy="457200"/>
          </a:xfrm>
          <a:prstGeom prst="ellips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7469" name="Oval 13"/>
          <p:cNvSpPr>
            <a:spLocks noChangeArrowheads="1"/>
          </p:cNvSpPr>
          <p:nvPr/>
        </p:nvSpPr>
        <p:spPr bwMode="auto">
          <a:xfrm>
            <a:off x="4513118" y="2257549"/>
            <a:ext cx="762000" cy="457200"/>
          </a:xfrm>
          <a:prstGeom prst="ellips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7470" name="Line 14"/>
          <p:cNvSpPr>
            <a:spLocks noChangeShapeType="1"/>
          </p:cNvSpPr>
          <p:nvPr/>
        </p:nvSpPr>
        <p:spPr bwMode="auto">
          <a:xfrm flipV="1">
            <a:off x="5181600" y="2362200"/>
            <a:ext cx="1600200" cy="85725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7472" name="Line 16"/>
          <p:cNvSpPr>
            <a:spLocks noChangeShapeType="1"/>
          </p:cNvSpPr>
          <p:nvPr/>
        </p:nvSpPr>
        <p:spPr bwMode="auto">
          <a:xfrm flipV="1">
            <a:off x="6096000" y="2133600"/>
            <a:ext cx="7620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7473" name="Rectangle 17"/>
          <p:cNvSpPr>
            <a:spLocks noChangeArrowheads="1"/>
          </p:cNvSpPr>
          <p:nvPr/>
        </p:nvSpPr>
        <p:spPr bwMode="auto">
          <a:xfrm>
            <a:off x="6858000" y="1905000"/>
            <a:ext cx="1447800" cy="762000"/>
          </a:xfrm>
          <a:prstGeom prst="rect">
            <a:avLst/>
          </a:prstGeom>
          <a:solidFill>
            <a:srgbClr val="FF0000">
              <a:alpha val="31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ea typeface="宋体" pitchFamily="2" charset="-122"/>
              </a:rPr>
              <a:t>Considering </a:t>
            </a:r>
          </a:p>
          <a:p>
            <a:pPr algn="ctr"/>
            <a:r>
              <a:rPr lang="en-US" altLang="zh-CN">
                <a:ea typeface="宋体" pitchFamily="2" charset="-122"/>
              </a:rPr>
              <a:t>Noise!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752600" y="1951890"/>
                <a:ext cx="4267199" cy="6865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000" i="1" smtClean="0"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i="1" smtClean="0">
                                  <a:latin typeface="Cambria Math" charset="0"/>
                                </a:rPr>
                              </m:ctrlPr>
                            </m:eqArrPr>
                            <m:e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latin typeface="Cambria Math" charset="0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𝐴𝑥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charset="0"/>
                                    </a:rPr>
                                    <m:t>𝑢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charset="0"/>
                                    </a:rPr>
                                    <m:t>𝑤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𝑤</m:t>
                              </m:r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𝐶𝑥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+</m:t>
                              </m:r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𝑣</m:t>
                              </m:r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 smtClean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951890"/>
                <a:ext cx="4267199" cy="68653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24541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86" name="AutoShape 18"/>
          <p:cNvSpPr>
            <a:spLocks noChangeArrowheads="1"/>
          </p:cNvSpPr>
          <p:nvPr/>
        </p:nvSpPr>
        <p:spPr bwMode="auto">
          <a:xfrm>
            <a:off x="6858000" y="1295400"/>
            <a:ext cx="533400" cy="3810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zh-CN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60818" name="AutoShape 50"/>
          <p:cNvSpPr>
            <a:spLocks noChangeArrowheads="1"/>
          </p:cNvSpPr>
          <p:nvPr/>
        </p:nvSpPr>
        <p:spPr bwMode="auto">
          <a:xfrm>
            <a:off x="6858000" y="3886200"/>
            <a:ext cx="533400" cy="5334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zh-CN">
              <a:latin typeface="Times New Roman" pitchFamily="18" charset="0"/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793" name="Rectangle 25"/>
              <p:cNvSpPr>
                <a:spLocks noChangeArrowheads="1"/>
              </p:cNvSpPr>
              <p:nvPr/>
            </p:nvSpPr>
            <p:spPr bwMode="auto">
              <a:xfrm>
                <a:off x="304800" y="3733800"/>
                <a:ext cx="4495800" cy="29718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charset="0"/>
                          <a:ea typeface="宋体" pitchFamily="2" charset="-122"/>
                        </a:rPr>
                        <m:t>𝐻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charset="0"/>
                              <a:ea typeface="宋体" pitchFamily="2" charset="-122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charset="0"/>
                              <a:ea typeface="宋体" pitchFamily="2" charset="-122"/>
                            </a:rPr>
                            <m:t>𝑁</m:t>
                          </m:r>
                          <m:r>
                            <a:rPr lang="en-US" altLang="zh-CN" sz="1400" b="0" i="1" smtClean="0">
                              <a:latin typeface="Cambria Math" charset="0"/>
                              <a:ea typeface="宋体" pitchFamily="2" charset="-122"/>
                            </a:rPr>
                            <m:t>,</m:t>
                          </m:r>
                          <m:r>
                            <a:rPr lang="en-US" altLang="zh-CN" sz="1400" b="0" i="1" smtClean="0">
                              <a:latin typeface="Cambria Math" charset="0"/>
                              <a:ea typeface="宋体" pitchFamily="2" charset="-122"/>
                            </a:rPr>
                            <m:t>𝑀</m:t>
                          </m:r>
                        </m:e>
                      </m:d>
                      <m:r>
                        <m:rPr>
                          <m:aln/>
                        </m:rPr>
                        <a:rPr lang="en-US" altLang="zh-CN" sz="1400" b="0" i="1" smtClean="0">
                          <a:latin typeface="Cambria Math" charset="0"/>
                          <a:ea typeface="宋体" pitchFamily="2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latin typeface="Cambria Math" charset="0"/>
                              <a:ea typeface="宋体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400" b="0" i="1" smtClean="0">
                                  <a:latin typeface="Cambria Math" charset="0"/>
                                  <a:ea typeface="宋体" pitchFamily="2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  <m:t>𝑁</m:t>
                                    </m:r>
                                    <m: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  <m:t>,1</m:t>
                                    </m:r>
                                  </m:e>
                                </m:d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(</m:t>
                                </m:r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𝑁</m:t>
                                </m:r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,2)</m:t>
                                </m:r>
                              </m:e>
                              <m:e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(</m:t>
                                </m:r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𝑁</m:t>
                                </m:r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,</m:t>
                                </m:r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𝑁</m:t>
                                </m:r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(</m:t>
                                </m:r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𝑁</m:t>
                                </m:r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,1)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(</m:t>
                                </m:r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𝑁</m:t>
                                </m:r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,2)</m:t>
                                </m:r>
                              </m:e>
                              <m:e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⋱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(</m:t>
                                </m:r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𝑁</m:t>
                                </m:r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,</m:t>
                                </m:r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𝑁</m:t>
                                </m:r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  <m:t>𝑀</m:t>
                                    </m:r>
                                  </m:sub>
                                </m:sSub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(</m:t>
                                </m:r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𝑁</m:t>
                                </m:r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,1)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  <m:t>𝑀</m:t>
                                    </m:r>
                                  </m:sub>
                                </m:sSub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(</m:t>
                                </m:r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𝑁</m:t>
                                </m:r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,2)</m:t>
                                </m:r>
                              </m:e>
                              <m:e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  <m:t>𝑀</m:t>
                                    </m:r>
                                  </m:sub>
                                </m:sSub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(</m:t>
                                </m:r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𝑁</m:t>
                                </m:r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,</m:t>
                                </m:r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𝑁</m:t>
                                </m:r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sz="1400" b="0" i="1" smtClean="0">
                          <a:latin typeface="Cambria Math" charset="0"/>
                          <a:ea typeface="宋体" pitchFamily="2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latin typeface="Cambria Math" charset="0"/>
                              <a:ea typeface="宋体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400" b="0" i="1" smtClean="0">
                                  <a:latin typeface="Cambria Math" charset="0"/>
                                  <a:ea typeface="宋体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𝐶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𝐶𝐴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𝐶</m:t>
                                </m:r>
                                <m:sSup>
                                  <m:sSupPr>
                                    <m:ctrlP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  <m:t>𝑀</m:t>
                                    </m:r>
                                    <m: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latin typeface="Cambria Math" charset="0"/>
                              <a:ea typeface="宋体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400" b="0" i="1" smtClean="0">
                                  <a:latin typeface="Cambria Math" charset="0"/>
                                  <a:ea typeface="宋体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𝐵</m:t>
                                </m:r>
                              </m:e>
                              <m:e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𝐵𝑆</m:t>
                                </m:r>
                              </m:e>
                              <m:e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…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  <m:t>𝑁</m:t>
                                    </m:r>
                                    <m:r>
                                      <a:rPr lang="en-US" altLang="zh-CN" sz="1400" b="0" i="1" smtClean="0">
                                        <a:latin typeface="Cambria Math" charset="0"/>
                                        <a:ea typeface="宋体" pitchFamily="2" charset="-122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altLang="zh-CN" sz="1400" b="0" i="1" smtClean="0">
                                    <a:latin typeface="Cambria Math" charset="0"/>
                                    <a:ea typeface="宋体" pitchFamily="2" charset="-122"/>
                                  </a:rPr>
                                  <m:t>𝐵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400" b="0" i="1" smtClean="0">
                          <a:latin typeface="Cambria Math" charset="0"/>
                          <a:ea typeface="宋体" pitchFamily="2" charset="-122"/>
                        </a:rPr>
                        <m:t>=</m:t>
                      </m:r>
                      <m:r>
                        <a:rPr lang="en-US" altLang="zh-CN" sz="1400" b="0" i="1" smtClean="0">
                          <a:latin typeface="Cambria Math" charset="0"/>
                          <a:ea typeface="宋体" pitchFamily="2" charset="-122"/>
                        </a:rPr>
                        <m:t>𝑂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charset="0"/>
                              <a:ea typeface="宋体" pitchFamily="2" charset="-122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charset="0"/>
                              <a:ea typeface="宋体" pitchFamily="2" charset="-122"/>
                            </a:rPr>
                            <m:t>𝑀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charset="0"/>
                          <a:ea typeface="宋体" pitchFamily="2" charset="-122"/>
                        </a:rPr>
                        <m:t>𝐶</m:t>
                      </m:r>
                      <m:r>
                        <a:rPr lang="en-US" altLang="zh-CN" sz="1400" b="0" i="1" smtClean="0">
                          <a:latin typeface="Cambria Math" charset="0"/>
                          <a:ea typeface="宋体" pitchFamily="2" charset="-122"/>
                        </a:rPr>
                        <m:t>(</m:t>
                      </m:r>
                      <m:r>
                        <a:rPr lang="en-US" altLang="zh-CN" sz="1400" b="0" i="1" smtClean="0">
                          <a:latin typeface="Cambria Math" charset="0"/>
                          <a:ea typeface="宋体" pitchFamily="2" charset="-122"/>
                        </a:rPr>
                        <m:t>𝑁</m:t>
                      </m:r>
                      <m:r>
                        <a:rPr lang="en-US" altLang="zh-CN" sz="1400" b="0" i="1" smtClean="0">
                          <a:latin typeface="Cambria Math" charset="0"/>
                          <a:ea typeface="宋体" pitchFamily="2" charset="-122"/>
                        </a:rPr>
                        <m:t>)</m:t>
                      </m:r>
                    </m:oMath>
                  </m:oMathPara>
                </a14:m>
                <a:endParaRPr lang="en-US" altLang="zh-CN" sz="1400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160793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3733800"/>
                <a:ext cx="4495800" cy="297180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-152400"/>
            <a:ext cx="7772400" cy="868363"/>
          </a:xfrm>
        </p:spPr>
        <p:txBody>
          <a:bodyPr/>
          <a:lstStyle/>
          <a:p>
            <a:r>
              <a:rPr lang="en-US" altLang="zh-TW" dirty="0" smtClean="0">
                <a:ea typeface="PMingLiU" pitchFamily="18" charset="-120"/>
              </a:rPr>
              <a:t>SID algorithm flow </a:t>
            </a:r>
            <a:r>
              <a:rPr lang="en-US" altLang="zh-TW" sz="1000" dirty="0" smtClean="0">
                <a:ea typeface="PMingLiU" pitchFamily="18" charset="-120"/>
              </a:rPr>
              <a:t>see [1] for more details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60774" name="AutoShape 6"/>
          <p:cNvSpPr>
            <a:spLocks noChangeArrowheads="1"/>
          </p:cNvSpPr>
          <p:nvPr/>
        </p:nvSpPr>
        <p:spPr bwMode="auto">
          <a:xfrm>
            <a:off x="3505200" y="838200"/>
            <a:ext cx="685800" cy="533400"/>
          </a:xfrm>
          <a:prstGeom prst="rightArrow">
            <a:avLst>
              <a:gd name="adj1" fmla="val 50000"/>
              <a:gd name="adj2" fmla="val 3214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pitchFamily="2" charset="-122"/>
              </a:rPr>
              <a:t>QR</a:t>
            </a:r>
          </a:p>
        </p:txBody>
      </p:sp>
      <p:sp>
        <p:nvSpPr>
          <p:cNvPr id="160773" name="Rectangle 5"/>
          <p:cNvSpPr>
            <a:spLocks noChangeArrowheads="1"/>
          </p:cNvSpPr>
          <p:nvPr/>
        </p:nvSpPr>
        <p:spPr bwMode="auto">
          <a:xfrm>
            <a:off x="1752600" y="685800"/>
            <a:ext cx="18288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dirty="0">
                <a:latin typeface="Times New Roman" pitchFamily="18" charset="0"/>
                <a:ea typeface="宋体" pitchFamily="2" charset="-122"/>
              </a:rPr>
              <a:t>Input/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Ouput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Data</a:t>
            </a:r>
          </a:p>
          <a:p>
            <a:pPr algn="ctr"/>
            <a:r>
              <a:rPr lang="en-US" altLang="zh-CN" i="1" dirty="0"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i="1" dirty="0"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i="1" dirty="0">
                <a:latin typeface="Times New Roman" pitchFamily="18" charset="0"/>
                <a:ea typeface="宋体" pitchFamily="2" charset="-122"/>
              </a:rPr>
              <a:t>, y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i="1" dirty="0"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</a:t>
            </a:r>
          </a:p>
        </p:txBody>
      </p:sp>
      <p:sp>
        <p:nvSpPr>
          <p:cNvPr id="160775" name="Rectangle 7"/>
          <p:cNvSpPr>
            <a:spLocks noChangeArrowheads="1"/>
          </p:cNvSpPr>
          <p:nvPr/>
        </p:nvSpPr>
        <p:spPr bwMode="auto">
          <a:xfrm>
            <a:off x="4191000" y="685800"/>
            <a:ext cx="15240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dirty="0">
                <a:latin typeface="Times New Roman" pitchFamily="18" charset="0"/>
                <a:ea typeface="宋体" pitchFamily="2" charset="-122"/>
              </a:rPr>
              <a:t>Weighted </a:t>
            </a:r>
          </a:p>
          <a:p>
            <a:pPr algn="ctr"/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Hankel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Matrix</a:t>
            </a:r>
          </a:p>
          <a:p>
            <a:pPr algn="ctr"/>
            <a:r>
              <a:rPr lang="en-US" altLang="zh-CN" i="1" dirty="0">
                <a:latin typeface="Times New Roman" pitchFamily="18" charset="0"/>
                <a:ea typeface="宋体" pitchFamily="2" charset="-122"/>
              </a:rPr>
              <a:t>HR</a:t>
            </a:r>
            <a:r>
              <a:rPr lang="en-US" altLang="zh-CN" i="1" baseline="30000" dirty="0">
                <a:latin typeface="Times New Roman" pitchFamily="18" charset="0"/>
                <a:ea typeface="宋体" pitchFamily="2" charset="-122"/>
              </a:rPr>
              <a:t>T</a:t>
            </a:r>
            <a:endParaRPr lang="en-US" altLang="zh-CN" i="1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60776" name="AutoShape 8"/>
          <p:cNvSpPr>
            <a:spLocks noChangeArrowheads="1"/>
          </p:cNvSpPr>
          <p:nvPr/>
        </p:nvSpPr>
        <p:spPr bwMode="auto">
          <a:xfrm>
            <a:off x="5715000" y="838200"/>
            <a:ext cx="685800" cy="533400"/>
          </a:xfrm>
          <a:prstGeom prst="rightArrow">
            <a:avLst>
              <a:gd name="adj1" fmla="val 50000"/>
              <a:gd name="adj2" fmla="val 3214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pitchFamily="2" charset="-122"/>
              </a:rPr>
              <a:t>SVD</a:t>
            </a:r>
          </a:p>
        </p:txBody>
      </p:sp>
      <p:sp>
        <p:nvSpPr>
          <p:cNvPr id="160777" name="Rectangle 9"/>
          <p:cNvSpPr>
            <a:spLocks noChangeArrowheads="1"/>
          </p:cNvSpPr>
          <p:nvPr/>
        </p:nvSpPr>
        <p:spPr bwMode="auto">
          <a:xfrm>
            <a:off x="6400800" y="838200"/>
            <a:ext cx="15240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i="1" dirty="0" smtClean="0">
                <a:latin typeface="Times New Roman" pitchFamily="18" charset="0"/>
                <a:ea typeface="宋体" pitchFamily="2" charset="-122"/>
              </a:rPr>
              <a:t>HR</a:t>
            </a:r>
            <a:r>
              <a:rPr lang="en-US" altLang="zh-CN" i="1" baseline="30000" dirty="0" smtClean="0"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i="1" dirty="0" smtClean="0">
                <a:latin typeface="Times New Roman" pitchFamily="18" charset="0"/>
                <a:ea typeface="宋体" pitchFamily="2" charset="-122"/>
              </a:rPr>
              <a:t>=U</a:t>
            </a:r>
            <a:r>
              <a:rPr lang="el-GR" altLang="zh-CN" i="1" dirty="0"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altLang="zh-CN" i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V</a:t>
            </a:r>
            <a:r>
              <a:rPr lang="en-US" altLang="zh-CN" i="1" baseline="30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</a:t>
            </a:r>
            <a:endParaRPr lang="el-GR" altLang="zh-CN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0787" name="AutoShape 19"/>
          <p:cNvSpPr>
            <a:spLocks noChangeArrowheads="1"/>
          </p:cNvSpPr>
          <p:nvPr/>
        </p:nvSpPr>
        <p:spPr bwMode="auto">
          <a:xfrm>
            <a:off x="6858000" y="2286000"/>
            <a:ext cx="533400" cy="5334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zh-CN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60788" name="Rectangle 20"/>
          <p:cNvSpPr>
            <a:spLocks noChangeArrowheads="1"/>
          </p:cNvSpPr>
          <p:nvPr/>
        </p:nvSpPr>
        <p:spPr bwMode="auto">
          <a:xfrm>
            <a:off x="5410200" y="2819400"/>
            <a:ext cx="3352800" cy="1295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dirty="0">
                <a:latin typeface="Times New Roman" pitchFamily="18" charset="0"/>
                <a:ea typeface="宋体" pitchFamily="2" charset="-122"/>
              </a:rPr>
              <a:t>Extended Observability</a:t>
            </a:r>
          </a:p>
          <a:p>
            <a:pPr algn="ctr"/>
            <a:r>
              <a:rPr lang="en-US" altLang="zh-CN" dirty="0" smtClean="0">
                <a:latin typeface="Times New Roman" pitchFamily="18" charset="0"/>
                <a:ea typeface="宋体" pitchFamily="2" charset="-122"/>
              </a:rPr>
              <a:t>/Controllability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Matrix</a:t>
            </a:r>
          </a:p>
          <a:p>
            <a:pPr algn="ctr"/>
            <a:r>
              <a:rPr lang="en-US" altLang="zh-CN" i="1" dirty="0">
                <a:latin typeface="Times New Roman" pitchFamily="18" charset="0"/>
                <a:ea typeface="宋体" pitchFamily="2" charset="-122"/>
              </a:rPr>
              <a:t>O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i="1" dirty="0">
                <a:latin typeface="Times New Roman" pitchFamily="18" charset="0"/>
                <a:ea typeface="宋体" pitchFamily="2" charset="-122"/>
              </a:rPr>
              <a:t>M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i="1" dirty="0">
                <a:latin typeface="Times New Roman" pitchFamily="18" charset="0"/>
                <a:ea typeface="宋体" pitchFamily="2" charset="-122"/>
              </a:rPr>
              <a:t>=U</a:t>
            </a:r>
            <a:r>
              <a:rPr lang="en-US" altLang="zh-CN" i="1" baseline="-25000" dirty="0">
                <a:latin typeface="Times New Roman" pitchFamily="18" charset="0"/>
                <a:ea typeface="宋体" pitchFamily="2" charset="-122"/>
              </a:rPr>
              <a:t>r</a:t>
            </a:r>
            <a:r>
              <a:rPr lang="el-GR" altLang="zh-CN" i="1" dirty="0"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altLang="zh-CN" i="1" baseline="-25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en-US" altLang="zh-CN" i="1" baseline="30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1/2</a:t>
            </a:r>
          </a:p>
          <a:p>
            <a:pPr algn="ctr"/>
            <a:r>
              <a:rPr lang="en-US" altLang="zh-CN" i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</a:t>
            </a:r>
            <a:r>
              <a:rPr lang="en-US" altLang="zh-CN" i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</a:t>
            </a:r>
            <a:r>
              <a:rPr lang="en-US" altLang="zh-CN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</a:t>
            </a:r>
            <a:r>
              <a:rPr lang="en-US" altLang="zh-CN" i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=</a:t>
            </a:r>
            <a:r>
              <a:rPr lang="en-US" altLang="zh-CN" i="1" baseline="-25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el-GR" altLang="zh-CN" i="1" dirty="0"/>
              <a:t>Σ</a:t>
            </a:r>
            <a:r>
              <a:rPr lang="en-US" altLang="zh-CN" i="1" baseline="-25000" dirty="0">
                <a:ea typeface="宋体" pitchFamily="2" charset="-122"/>
              </a:rPr>
              <a:t>r</a:t>
            </a:r>
            <a:r>
              <a:rPr lang="en-US" altLang="zh-CN" i="1" baseline="30000" dirty="0">
                <a:ea typeface="宋体" pitchFamily="2" charset="-122"/>
              </a:rPr>
              <a:t>1/2</a:t>
            </a:r>
            <a:r>
              <a:rPr lang="en-US" altLang="zh-CN" i="1" dirty="0">
                <a:latin typeface="Times New Roman" pitchFamily="18" charset="0"/>
                <a:ea typeface="宋体" pitchFamily="2" charset="-122"/>
              </a:rPr>
              <a:t>V</a:t>
            </a:r>
            <a:r>
              <a:rPr lang="en-US" altLang="zh-CN" i="1" baseline="-25000" dirty="0"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i="1" baseline="30000" dirty="0"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i="1" dirty="0"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i="1" baseline="30000" dirty="0"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baseline="30000" dirty="0">
                <a:latin typeface="Times New Roman" pitchFamily="18" charset="0"/>
                <a:ea typeface="宋体" pitchFamily="2" charset="-122"/>
              </a:rPr>
              <a:t>-1</a:t>
            </a:r>
            <a:endParaRPr lang="el-GR" altLang="zh-CN" i="1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0790" name="Rectangle 22"/>
          <p:cNvSpPr>
            <a:spLocks noChangeArrowheads="1"/>
          </p:cNvSpPr>
          <p:nvPr/>
        </p:nvSpPr>
        <p:spPr bwMode="auto">
          <a:xfrm>
            <a:off x="609600" y="1676400"/>
            <a:ext cx="3962400" cy="1905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zh-CN">
              <a:ea typeface="宋体" pitchFamily="2" charset="-122"/>
            </a:endParaRPr>
          </a:p>
          <a:p>
            <a:pPr algn="ctr"/>
            <a:endParaRPr lang="en-US" altLang="zh-CN">
              <a:ea typeface="宋体" pitchFamily="2" charset="-122"/>
            </a:endParaRPr>
          </a:p>
          <a:p>
            <a:pPr algn="ctr"/>
            <a:endParaRPr lang="en-US" altLang="zh-CN">
              <a:ea typeface="宋体" pitchFamily="2" charset="-122"/>
            </a:endParaRPr>
          </a:p>
          <a:p>
            <a:pPr algn="ctr"/>
            <a:endParaRPr lang="en-US" altLang="zh-CN">
              <a:ea typeface="宋体" pitchFamily="2" charset="-122"/>
            </a:endParaRPr>
          </a:p>
          <a:p>
            <a:pPr algn="ctr"/>
            <a:endParaRPr lang="en-US" altLang="zh-CN">
              <a:ea typeface="宋体" pitchFamily="2" charset="-122"/>
            </a:endParaRPr>
          </a:p>
        </p:txBody>
      </p:sp>
      <p:sp>
        <p:nvSpPr>
          <p:cNvPr id="160779" name="Rectangle 11"/>
          <p:cNvSpPr>
            <a:spLocks noChangeArrowheads="1"/>
          </p:cNvSpPr>
          <p:nvPr/>
        </p:nvSpPr>
        <p:spPr bwMode="auto">
          <a:xfrm>
            <a:off x="6324600" y="1676400"/>
            <a:ext cx="15240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pitchFamily="2" charset="-122"/>
              </a:rPr>
              <a:t>Reduced SVD</a:t>
            </a:r>
          </a:p>
          <a:p>
            <a:pPr algn="ctr"/>
            <a:r>
              <a:rPr lang="en-US" altLang="zh-CN" i="1">
                <a:latin typeface="Times New Roman" pitchFamily="18" charset="0"/>
                <a:ea typeface="宋体" pitchFamily="2" charset="-122"/>
              </a:rPr>
              <a:t>HR</a:t>
            </a:r>
            <a:r>
              <a:rPr lang="en-US" altLang="zh-CN" i="1" baseline="30000"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i="1">
                <a:latin typeface="Times New Roman" pitchFamily="18" charset="0"/>
                <a:ea typeface="宋体" pitchFamily="2" charset="-122"/>
              </a:rPr>
              <a:t>=U</a:t>
            </a:r>
            <a:r>
              <a:rPr lang="en-US" altLang="zh-CN" i="1" baseline="-25000">
                <a:latin typeface="Times New Roman" pitchFamily="18" charset="0"/>
                <a:ea typeface="宋体" pitchFamily="2" charset="-122"/>
              </a:rPr>
              <a:t>r</a:t>
            </a:r>
            <a:r>
              <a:rPr lang="el-GR" altLang="zh-CN" i="1"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altLang="zh-CN" i="1" baseline="-2500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en-US" altLang="zh-CN" i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V</a:t>
            </a:r>
            <a:r>
              <a:rPr lang="en-US" altLang="zh-CN" i="1" baseline="-2500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en-US" altLang="zh-CN" i="1" baseline="3000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</a:t>
            </a:r>
            <a:endParaRPr lang="el-GR" altLang="zh-CN" i="1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60817" name="Group 49"/>
          <p:cNvGrpSpPr>
            <a:grpSpLocks/>
          </p:cNvGrpSpPr>
          <p:nvPr/>
        </p:nvGrpSpPr>
        <p:grpSpPr bwMode="auto">
          <a:xfrm>
            <a:off x="5105400" y="4419600"/>
            <a:ext cx="3962400" cy="1066800"/>
            <a:chOff x="2976" y="3312"/>
            <a:chExt cx="2496" cy="768"/>
          </a:xfrm>
        </p:grpSpPr>
        <p:sp>
          <p:nvSpPr>
            <p:cNvPr id="160795" name="Rectangle 27"/>
            <p:cNvSpPr>
              <a:spLocks noChangeArrowheads="1"/>
            </p:cNvSpPr>
            <p:nvPr/>
          </p:nvSpPr>
          <p:spPr bwMode="auto">
            <a:xfrm>
              <a:off x="2976" y="3312"/>
              <a:ext cx="2496" cy="76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i="1" dirty="0">
                  <a:latin typeface="Times New Roman" pitchFamily="18" charset="0"/>
                  <a:ea typeface="宋体" pitchFamily="2" charset="-122"/>
                </a:rPr>
                <a:t>C = first top block row of O</a:t>
              </a:r>
              <a:r>
                <a:rPr lang="en-US" altLang="zh-CN" dirty="0"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i="1" dirty="0">
                  <a:latin typeface="Times New Roman" pitchFamily="18" charset="0"/>
                  <a:ea typeface="宋体" pitchFamily="2" charset="-122"/>
                </a:rPr>
                <a:t>M</a:t>
              </a:r>
              <a:r>
                <a:rPr lang="en-US" altLang="zh-CN" dirty="0">
                  <a:latin typeface="Times New Roman" pitchFamily="18" charset="0"/>
                  <a:ea typeface="宋体" pitchFamily="2" charset="-122"/>
                </a:rPr>
                <a:t>)</a:t>
              </a:r>
            </a:p>
            <a:p>
              <a:r>
                <a:rPr lang="en-US" altLang="zh-CN" dirty="0">
                  <a:latin typeface="Times New Roman" pitchFamily="18" charset="0"/>
                  <a:ea typeface="宋体" pitchFamily="2" charset="-122"/>
                </a:rPr>
                <a:t>[</a:t>
              </a:r>
              <a:r>
                <a:rPr lang="en-US" altLang="zh-CN" i="1" dirty="0">
                  <a:latin typeface="Times New Roman" pitchFamily="18" charset="0"/>
                  <a:ea typeface="宋体" pitchFamily="2" charset="-122"/>
                </a:rPr>
                <a:t>F</a:t>
              </a:r>
              <a:r>
                <a:rPr lang="en-US" altLang="zh-CN" dirty="0"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i="1" dirty="0"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dirty="0">
                  <a:latin typeface="Times New Roman" pitchFamily="18" charset="0"/>
                  <a:ea typeface="宋体" pitchFamily="2" charset="-122"/>
                </a:rPr>
                <a:t>)</a:t>
              </a:r>
              <a:r>
                <a:rPr lang="en-US" altLang="zh-CN" i="1" dirty="0">
                  <a:latin typeface="Times New Roman" pitchFamily="18" charset="0"/>
                  <a:ea typeface="宋体" pitchFamily="2" charset="-122"/>
                </a:rPr>
                <a:t> B</a:t>
              </a:r>
              <a:r>
                <a:rPr lang="en-US" altLang="zh-CN" i="1" baseline="30000" dirty="0"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dirty="0">
                  <a:latin typeface="Times New Roman" pitchFamily="18" charset="0"/>
                  <a:ea typeface="宋体" pitchFamily="2" charset="-122"/>
                </a:rPr>
                <a:t>]</a:t>
              </a:r>
              <a:r>
                <a:rPr lang="en-US" altLang="zh-CN" i="1" dirty="0">
                  <a:latin typeface="Times New Roman" pitchFamily="18" charset="0"/>
                  <a:ea typeface="宋体" pitchFamily="2" charset="-122"/>
                </a:rPr>
                <a:t>=first left block column of </a:t>
              </a:r>
              <a:r>
                <a:rPr lang="en-US" altLang="zh-CN" i="1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C</a:t>
              </a:r>
              <a:r>
                <a:rPr lang="en-US" altLang="zh-CN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(</a:t>
              </a:r>
              <a:r>
                <a:rPr lang="en-US" altLang="zh-CN" i="1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N</a:t>
              </a:r>
              <a:r>
                <a:rPr lang="en-US" altLang="zh-CN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)</a:t>
              </a:r>
            </a:p>
            <a:p>
              <a:endParaRPr lang="en-US" altLang="zh-CN" dirty="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graphicFrame>
          <p:nvGraphicFramePr>
            <p:cNvPr id="160815" name="Object 47"/>
            <p:cNvGraphicFramePr>
              <a:graphicFrameLocks noChangeAspect="1"/>
            </p:cNvGraphicFramePr>
            <p:nvPr/>
          </p:nvGraphicFramePr>
          <p:xfrm>
            <a:off x="3072" y="3801"/>
            <a:ext cx="1304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6" name="Equation" r:id="rId5" imgW="1307880" imgH="279360" progId="Equation.DSMT4">
                    <p:embed/>
                  </p:oleObj>
                </mc:Choice>
                <mc:Fallback>
                  <p:oleObj name="Equation" r:id="rId5" imgW="1307880" imgH="2793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3801"/>
                          <a:ext cx="1304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0828" name="Rectangle 60"/>
          <p:cNvSpPr>
            <a:spLocks noChangeArrowheads="1"/>
          </p:cNvSpPr>
          <p:nvPr/>
        </p:nvSpPr>
        <p:spPr bwMode="auto">
          <a:xfrm>
            <a:off x="5181600" y="5562600"/>
            <a:ext cx="3581400" cy="121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81871" y="1787925"/>
                <a:ext cx="3566361" cy="14847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 xmlns="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charset="0"/>
                        </a:rPr>
                        <m:t>𝑊</m:t>
                      </m:r>
                      <m:r>
                        <a:rPr lang="en-US" sz="1600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charset="0"/>
                                </a:rPr>
                                <m:t>𝑓𝑢𝑡𝑢𝑟𝑒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charset="0"/>
                                </a:rPr>
                                <m:t>𝑝𝑎𝑠𝑡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charset="0"/>
                                </a:rPr>
                                <m:t>𝑓𝑢𝑡𝑢𝑟𝑒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sz="1600" b="0" i="1" smtClean="0">
                          <a:latin typeface="Cambria Math" charset="0"/>
                        </a:rPr>
                        <m:t>      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 smtClean="0">
                                  <a:latin typeface="Cambria Math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600" b="0" i="1" smtClean="0">
                                        <a:latin typeface="Cambria Math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16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  <m:r>
                                      <a:rPr lang="en-US" sz="1600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charset="0"/>
                            </a:rPr>
                            <m:t>23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bSup>
                      <m:r>
                        <a:rPr lang="en-US" sz="1600" b="0" i="1" smtClean="0">
                          <a:latin typeface="Cambria Math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charset="0"/>
                        </a:rPr>
                        <m:t>is</m:t>
                      </m:r>
                      <m:r>
                        <a:rPr lang="en-US" sz="1600" b="0" i="0" smtClean="0">
                          <a:latin typeface="Cambria Math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charset="0"/>
                        </a:rPr>
                        <m:t>the</m:t>
                      </m:r>
                      <m:r>
                        <a:rPr lang="en-US" sz="1600" b="0" i="0" smtClean="0">
                          <a:latin typeface="Cambria Math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charset="0"/>
                        </a:rPr>
                        <m:t>weighted</m:t>
                      </m:r>
                      <m:r>
                        <a:rPr lang="en-US" sz="1600" b="0" i="0" smtClean="0">
                          <a:latin typeface="Cambria Math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charset="0"/>
                        </a:rPr>
                        <m:t>Hankel</m:t>
                      </m:r>
                      <m:r>
                        <a:rPr lang="en-US" sz="1600" b="0" i="0" smtClean="0">
                          <a:latin typeface="Cambria Math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charset="0"/>
                        </a:rPr>
                        <m:t>matrix</m:t>
                      </m:r>
                      <m:r>
                        <a:rPr lang="en-US" sz="1600" b="0" i="1" smtClean="0">
                          <a:latin typeface="Cambria Math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charset="0"/>
                        </a:rPr>
                        <m:t>𝐻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charset="0"/>
                            </a:rPr>
                            <m:t>𝑅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r>
                        <a:rPr lang="en-US" sz="1600" b="0" i="1" smtClean="0">
                          <a:latin typeface="Cambria Math" charset="0"/>
                        </a:rPr>
                        <m:t> 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charset="0"/>
                            </a:rPr>
                            <m:t>22</m:t>
                          </m:r>
                        </m:sub>
                      </m:sSub>
                      <m:r>
                        <a:rPr lang="en-US" sz="1600" b="0" i="1" smtClean="0">
                          <a:latin typeface="Cambria Math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charset="0"/>
                        </a:rPr>
                        <m:t>is</m:t>
                      </m:r>
                      <m:r>
                        <a:rPr lang="en-US" sz="1600" b="0" i="0" smtClean="0">
                          <a:latin typeface="Cambria Math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charset="0"/>
                        </a:rPr>
                        <m:t>the</m:t>
                      </m:r>
                      <m:r>
                        <a:rPr lang="en-US" sz="1600" b="0" i="0" smtClean="0">
                          <a:latin typeface="Cambria Math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charset="0"/>
                        </a:rPr>
                        <m:t>weight</m:t>
                      </m:r>
                      <m:r>
                        <a:rPr lang="en-US" sz="1600" b="0" i="0" smtClean="0">
                          <a:latin typeface="Cambria Math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charset="0"/>
                        </a:rPr>
                        <m:t>matrix</m:t>
                      </m:r>
                      <m:r>
                        <a:rPr lang="en-US" sz="1600" b="0" i="1" smtClean="0">
                          <a:latin typeface="Cambria Math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charset="0"/>
                        </a:rPr>
                        <m:t>𝑅</m:t>
                      </m:r>
                    </m:oMath>
                  </m:oMathPara>
                </a14:m>
                <a:endParaRPr lang="en-US" sz="1600" dirty="0" smtClean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871" y="1787925"/>
                <a:ext cx="3566361" cy="1484765"/>
              </a:xfrm>
              <a:prstGeom prst="rect">
                <a:avLst/>
              </a:prstGeom>
              <a:blipFill rotWithShape="0">
                <a:blip r:embed="rId7"/>
                <a:stretch>
                  <a:fillRect l="-1880" t="-21721" b="-28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273276" y="5652700"/>
                <a:ext cx="3495572" cy="90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 xmlns="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↓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charset="0"/>
                            </a:rPr>
                            <m:t>𝑀</m:t>
                          </m:r>
                        </m:e>
                      </m:d>
                      <m:r>
                        <a:rPr lang="en-US" sz="1600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 smtClean="0">
                                  <a:latin typeface="Cambria Math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b="0" i="1" smtClean="0">
                                    <a:latin typeface="Cambria Math" charset="0"/>
                                  </a:rPr>
                                  <m:t>𝐶</m:t>
                                </m:r>
                                <m:r>
                                  <a:rPr lang="en-US" sz="1600" b="0" i="1" smtClean="0">
                                    <a:latin typeface="Cambria Math" charset="0"/>
                                  </a:rPr>
                                  <m:t>𝐴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charset="0"/>
                                  </a:rPr>
                                  <m:t>𝐶</m:t>
                                </m:r>
                                <m:sSup>
                                  <m:sSupPr>
                                    <m:ctrlPr>
                                      <a:rPr lang="en-US" sz="1600" b="0" i="1" smtClean="0"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0" i="1" smtClean="0">
                                        <a:latin typeface="Cambria Math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US" sz="1600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charset="0"/>
                                  </a:rPr>
                                  <m:t>𝐶</m:t>
                                </m:r>
                                <m:sSup>
                                  <m:sSupPr>
                                    <m:ctrlPr>
                                      <a:rPr lang="en-US" sz="1600" b="0" i="1" smtClean="0"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0" i="1" smtClean="0">
                                        <a:latin typeface="Cambria Math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US" sz="1600" b="0" i="1" smtClean="0">
                                        <a:latin typeface="Cambria Math" charset="0"/>
                                      </a:rPr>
                                      <m:t>𝑀</m:t>
                                    </m:r>
                                    <m:r>
                                      <a:rPr lang="en-US" sz="1600" b="0" i="1" smtClean="0">
                                        <a:latin typeface="Cambria Math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sz="1600" b="0" i="1" smtClean="0">
                                    <a:latin typeface="Cambria Math" charset="0"/>
                                  </a:rPr>
                                  <m:t>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600" b="0" i="1" smtClean="0">
                          <a:latin typeface="Cambria Math" charset="0"/>
                        </a:rPr>
                        <m:t>,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↓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charset="0"/>
                            </a:rPr>
                            <m:t>𝑀</m:t>
                          </m:r>
                        </m:e>
                      </m:d>
                      <m:r>
                        <a:rPr lang="en-US" sz="1600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latin typeface="Cambria Math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b="0" i="1" smtClean="0">
                                    <a:latin typeface="Cambria Math" charset="0"/>
                                  </a:rPr>
                                  <m:t>𝐶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charset="0"/>
                                  </a:rPr>
                                  <m:t>𝐶𝐴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i="1" smtClean="0">
                                    <a:latin typeface="Cambria Math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charset="0"/>
                                  </a:rPr>
                                  <m:t>𝐶</m:t>
                                </m:r>
                                <m:sSup>
                                  <m:sSupPr>
                                    <m:ctrlPr>
                                      <a:rPr lang="en-US" sz="1600" b="0" i="1" smtClean="0"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0" i="1" smtClean="0">
                                        <a:latin typeface="Cambria Math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US" sz="1600" b="0" i="1" smtClean="0">
                                        <a:latin typeface="Cambria Math" charset="0"/>
                                      </a:rPr>
                                      <m:t>𝑀</m:t>
                                    </m:r>
                                    <m:r>
                                      <a:rPr lang="en-US" sz="1600" b="0" i="1" smtClean="0">
                                        <a:latin typeface="Cambria Math" charset="0"/>
                                      </a:rPr>
                                      <m:t>−2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276" y="5652700"/>
                <a:ext cx="3495572" cy="90710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06315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Two-Stage Modeling</a:t>
            </a:r>
            <a:endParaRPr lang="en-US" dirty="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228600" y="1295400"/>
            <a:ext cx="8686800" cy="4953000"/>
          </a:xfrm>
        </p:spPr>
        <p:txBody>
          <a:bodyPr/>
          <a:lstStyle/>
          <a:p>
            <a:r>
              <a:rPr lang="en-US" dirty="0" smtClean="0"/>
              <a:t>We separate two kinds of factors and study their impacts on room temperatures independently</a:t>
            </a:r>
          </a:p>
          <a:p>
            <a:pPr lvl="1"/>
            <a:r>
              <a:rPr lang="en-US" dirty="0" smtClean="0"/>
              <a:t>(1) All power sources are deactivated. Only use ambient temperature </a:t>
            </a:r>
            <a:r>
              <a:rPr lang="en-US" dirty="0" err="1" smtClean="0"/>
              <a:t>T</a:t>
            </a:r>
            <a:r>
              <a:rPr lang="en-US" baseline="-25000" dirty="0" err="1" smtClean="0"/>
              <a:t>amb</a:t>
            </a:r>
            <a:r>
              <a:rPr lang="en-US" dirty="0" smtClean="0"/>
              <a:t>(t) to predict the room temperatures </a:t>
            </a:r>
            <a:r>
              <a:rPr lang="en-US" dirty="0" err="1" smtClean="0"/>
              <a:t>T</a:t>
            </a:r>
            <a:r>
              <a:rPr lang="en-US" baseline="-25000" dirty="0" err="1" smtClean="0"/>
              <a:t>np</a:t>
            </a:r>
            <a:r>
              <a:rPr lang="en-US" dirty="0" smtClean="0"/>
              <a:t>(t</a:t>
            </a:r>
            <a:r>
              <a:rPr lang="en-US" dirty="0"/>
              <a:t>): </a:t>
            </a:r>
            <a:r>
              <a:rPr lang="en-US" dirty="0" err="1"/>
              <a:t>T</a:t>
            </a:r>
            <a:r>
              <a:rPr lang="en-US" baseline="-25000" dirty="0" err="1"/>
              <a:t>np</a:t>
            </a:r>
            <a:r>
              <a:rPr lang="en-US" dirty="0"/>
              <a:t>(t)</a:t>
            </a:r>
            <a:r>
              <a:rPr lang="en-US" dirty="0" smtClean="0"/>
              <a:t> = M</a:t>
            </a:r>
            <a:r>
              <a:rPr lang="en-US" baseline="-25000" dirty="0" smtClean="0"/>
              <a:t>1</a:t>
            </a:r>
            <a:r>
              <a:rPr lang="en-US" dirty="0" smtClean="0"/>
              <a:t>(</a:t>
            </a:r>
            <a:r>
              <a:rPr lang="en-US" dirty="0" err="1"/>
              <a:t>T</a:t>
            </a:r>
            <a:r>
              <a:rPr lang="en-US" baseline="-25000" dirty="0" err="1"/>
              <a:t>amb</a:t>
            </a:r>
            <a:r>
              <a:rPr lang="en-US" dirty="0"/>
              <a:t>(t</a:t>
            </a:r>
            <a:r>
              <a:rPr lang="en-US" dirty="0" smtClean="0"/>
              <a:t>))</a:t>
            </a:r>
          </a:p>
          <a:p>
            <a:pPr lvl="1"/>
            <a:r>
              <a:rPr lang="en-US" dirty="0" smtClean="0"/>
              <a:t>(2) Activate HVAC and other input effects and build model using input power P(t) to predict the temperature difference of each room with/without those extra inputs: T</a:t>
            </a:r>
            <a:r>
              <a:rPr lang="en-US" baseline="-25000" dirty="0" smtClean="0"/>
              <a:t>all</a:t>
            </a:r>
            <a:r>
              <a:rPr lang="en-US" dirty="0" smtClean="0"/>
              <a:t>(t) - </a:t>
            </a:r>
            <a:r>
              <a:rPr lang="en-US" dirty="0" err="1" smtClean="0"/>
              <a:t>T</a:t>
            </a:r>
            <a:r>
              <a:rPr lang="en-US" baseline="-25000" dirty="0" err="1" smtClean="0"/>
              <a:t>np</a:t>
            </a:r>
            <a:r>
              <a:rPr lang="en-US" dirty="0" smtClean="0"/>
              <a:t>(t</a:t>
            </a:r>
            <a:r>
              <a:rPr lang="en-US" dirty="0"/>
              <a:t>) </a:t>
            </a:r>
            <a:r>
              <a:rPr lang="en-US" dirty="0" smtClean="0"/>
              <a:t>= M</a:t>
            </a:r>
            <a:r>
              <a:rPr lang="en-US" baseline="-25000" dirty="0" smtClean="0"/>
              <a:t>2</a:t>
            </a:r>
            <a:r>
              <a:rPr lang="en-US" dirty="0" smtClean="0"/>
              <a:t>(P(t</a:t>
            </a:r>
            <a:r>
              <a:rPr lang="en-US" dirty="0"/>
              <a:t>))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848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Two-Stage Modeling 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295400"/>
            <a:ext cx="4395216" cy="4953000"/>
          </a:xfrm>
        </p:spPr>
        <p:txBody>
          <a:bodyPr/>
          <a:lstStyle/>
          <a:p>
            <a:r>
              <a:rPr lang="en-US" dirty="0" smtClean="0"/>
              <a:t>M</a:t>
            </a:r>
            <a:r>
              <a:rPr lang="en-US" baseline="-25000" dirty="0" smtClean="0"/>
              <a:t>1 </a:t>
            </a:r>
            <a:r>
              <a:rPr lang="en-US" dirty="0" smtClean="0"/>
              <a:t>model has low accuracy, implying ambient T has </a:t>
            </a:r>
            <a:r>
              <a:rPr lang="en-US" u="sng" dirty="0" smtClean="0"/>
              <a:t>nonlinear impact </a:t>
            </a:r>
            <a:r>
              <a:rPr lang="en-US" dirty="0" smtClean="0"/>
              <a:t>on room temperatures</a:t>
            </a:r>
          </a:p>
          <a:p>
            <a:r>
              <a:rPr lang="en-US" dirty="0" smtClean="0"/>
              <a:t>M</a:t>
            </a:r>
            <a:r>
              <a:rPr lang="en-US" baseline="-25000" dirty="0" smtClean="0"/>
              <a:t>2</a:t>
            </a:r>
            <a:r>
              <a:rPr lang="en-US" dirty="0" smtClean="0"/>
              <a:t> model has higher accuracy. HVAC and other power inputs have more </a:t>
            </a:r>
            <a:r>
              <a:rPr lang="en-US" u="sng" dirty="0" smtClean="0"/>
              <a:t>linear </a:t>
            </a:r>
            <a:r>
              <a:rPr lang="en-US" dirty="0" smtClean="0"/>
              <a:t>effects on </a:t>
            </a:r>
            <a:r>
              <a:rPr lang="en-US" dirty="0"/>
              <a:t>T</a:t>
            </a:r>
            <a:r>
              <a:rPr lang="en-US" baseline="-25000" dirty="0"/>
              <a:t>all</a:t>
            </a:r>
            <a:r>
              <a:rPr lang="en-US" dirty="0"/>
              <a:t>(t) - </a:t>
            </a:r>
            <a:r>
              <a:rPr lang="en-US" dirty="0" err="1"/>
              <a:t>T</a:t>
            </a:r>
            <a:r>
              <a:rPr lang="en-US" baseline="-25000" dirty="0" err="1"/>
              <a:t>np</a:t>
            </a:r>
            <a:r>
              <a:rPr lang="en-US" dirty="0"/>
              <a:t>(t) 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>
          <a:xfrm>
            <a:off x="4623816" y="1600200"/>
            <a:ext cx="4435929" cy="1725083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sz="quarter" idx="3"/>
          </p:nvPr>
        </p:nvPicPr>
        <p:blipFill>
          <a:blip r:embed="rId3"/>
          <a:stretch>
            <a:fillRect/>
          </a:stretch>
        </p:blipFill>
        <p:spPr>
          <a:xfrm>
            <a:off x="4593880" y="4093696"/>
            <a:ext cx="4495800" cy="172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2017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Model order selection to avoid </a:t>
            </a:r>
            <a:r>
              <a:rPr lang="en-US" sz="2800" dirty="0" err="1" smtClean="0"/>
              <a:t>overfitting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Done various optimization which includes selecting a proper order.</a:t>
            </a:r>
          </a:p>
          <a:p>
            <a:r>
              <a:rPr lang="en-US" dirty="0" smtClean="0"/>
              <a:t>For this order study, the best order seen below is 37. After many trials, we found an acceptable order.</a:t>
            </a:r>
          </a:p>
        </p:txBody>
      </p:sp>
      <p:pic>
        <p:nvPicPr>
          <p:cNvPr id="4" name="Picture 3" descr="order_study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800" y="3505200"/>
            <a:ext cx="4064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8776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5-zone Results </a:t>
            </a:r>
            <a:r>
              <a:rPr lang="en-US" dirty="0" smtClean="0"/>
              <a:t>(Training Phase)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For 5-zone building, only one zone and the first 500 hours shown below</a:t>
            </a:r>
          </a:p>
        </p:txBody>
      </p:sp>
      <p:pic>
        <p:nvPicPr>
          <p:cNvPr id="4" name="Picture 3" descr="5zone-testingphase-only-consider-ambient-temperature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516275"/>
            <a:ext cx="53213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1978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610600" cy="868363"/>
          </a:xfrm>
        </p:spPr>
        <p:txBody>
          <a:bodyPr/>
          <a:lstStyle/>
          <a:p>
            <a:r>
              <a:rPr lang="en-US" dirty="0" smtClean="0"/>
              <a:t>5-zone Results </a:t>
            </a:r>
            <a:r>
              <a:rPr lang="en-US" dirty="0" smtClean="0"/>
              <a:t>(Validation Phase)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-1103474" y="33314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 descr="5zone-validationphase-only-consider-ambient-temperature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057400"/>
            <a:ext cx="53213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0756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Absolute and Relative Errors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81336"/>
              </p:ext>
            </p:extLst>
          </p:nvPr>
        </p:nvGraphicFramePr>
        <p:xfrm>
          <a:off x="1752600" y="1627828"/>
          <a:ext cx="5867400" cy="2182172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762000"/>
                <a:gridCol w="1295400"/>
                <a:gridCol w="762000"/>
                <a:gridCol w="762000"/>
                <a:gridCol w="762000"/>
                <a:gridCol w="762000"/>
                <a:gridCol w="762000"/>
              </a:tblGrid>
              <a:tr h="304799">
                <a:tc gridSpan="7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Five zone with HVAC only considering ambient temperature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0859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sng" strike="noStrike" dirty="0">
                          <a:effectLst/>
                        </a:rPr>
                        <a:t>SPACE 1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sng" strike="noStrike" dirty="0">
                          <a:effectLst/>
                        </a:rPr>
                        <a:t>SPACE 2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sng" strike="noStrike">
                          <a:effectLst/>
                        </a:rPr>
                        <a:t>SPACE 3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sng" strike="noStrike">
                          <a:effectLst/>
                        </a:rPr>
                        <a:t>SPACE 4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sng" strike="noStrike" dirty="0">
                          <a:effectLst/>
                        </a:rPr>
                        <a:t>SPACE 5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</a:tr>
              <a:tr h="208597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Testing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Relative RMS Error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0.0150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0.0165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0.0138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0.0136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0.0120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</a:tr>
              <a:tr h="2085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Max Relative Error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0.0879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0.0825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0.0958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0.0927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0.0900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</a:tr>
              <a:tr h="2085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Absolute RMS Error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0.3078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0.3372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0.2752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0.2739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0.2482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</a:tr>
              <a:tr h="2085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Max Absolute Error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1.8780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1.7701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2.0544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1.9978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1.9546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</a:tr>
              <a:tr h="208597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Validation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Relative RMS Error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0.0267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0.0290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0.0187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0.0199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0.0166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</a:tr>
              <a:tr h="2085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Max Relative Error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0.1510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0.1868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0.1438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0.1463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0.1375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</a:tr>
              <a:tr h="2085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Absolute RMS Error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0.5707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0.6267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0.3874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0.4157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0.3538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</a:tr>
              <a:tr h="2085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Max Absolute Error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2.7525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4.1471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3.2361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3.3607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3.1209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005515"/>
              </p:ext>
            </p:extLst>
          </p:nvPr>
        </p:nvGraphicFramePr>
        <p:xfrm>
          <a:off x="1752600" y="4142426"/>
          <a:ext cx="5867400" cy="218217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762000"/>
                <a:gridCol w="1295400"/>
                <a:gridCol w="762000"/>
                <a:gridCol w="762000"/>
                <a:gridCol w="762000"/>
                <a:gridCol w="762000"/>
                <a:gridCol w="762000"/>
              </a:tblGrid>
              <a:tr h="304801">
                <a:tc gridSpan="7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Five zone with HVAC and considering extra factors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0859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sng" strike="noStrike" dirty="0">
                          <a:effectLst/>
                        </a:rPr>
                        <a:t>SPACE 1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sng" strike="noStrike" dirty="0">
                          <a:effectLst/>
                        </a:rPr>
                        <a:t>SPACE 2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sng" strike="noStrike" dirty="0">
                          <a:effectLst/>
                        </a:rPr>
                        <a:t>SPACE 3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sng" strike="noStrike" dirty="0">
                          <a:effectLst/>
                        </a:rPr>
                        <a:t>SPACE 4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sng" strike="noStrike" dirty="0">
                          <a:effectLst/>
                        </a:rPr>
                        <a:t>SPACE 5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</a:tr>
              <a:tr h="208597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Testing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Relative RMS Error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0.0153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0.0167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0.0132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0.0139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0.0088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</a:tr>
              <a:tr h="2085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Max Relative Error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0.0792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0.0948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0.0759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0.0788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0.0598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</a:tr>
              <a:tr h="2085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Absolute RMS Error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0.3297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0.3620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0.2742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0.2919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0.1900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</a:tr>
              <a:tr h="2085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Max Absolute Error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1.7938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2.0272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1.6310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1.6794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1.3117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</a:tr>
              <a:tr h="208597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Validation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Relative RMS Error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0.0320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0.0333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0.0187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0.0203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0.0145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</a:tr>
              <a:tr h="2085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Max Relative Error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0.1594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0.1690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0.0786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0.0930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0.0650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</a:tr>
              <a:tr h="2085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Absolute RMS Error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0.7247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0.7520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0.3947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0.4352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0.3187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</a:tr>
              <a:tr h="2085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Max Absolute Error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4.3228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4.6669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1.6876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2.0009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1.4297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15736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2-Zone Results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2-zone, only one zone</a:t>
            </a:r>
            <a:br>
              <a:rPr lang="en-US" dirty="0" smtClean="0"/>
            </a:br>
            <a:r>
              <a:rPr lang="en-US" dirty="0" smtClean="0"/>
              <a:t>and first 500 hours are</a:t>
            </a:r>
            <a:br>
              <a:rPr lang="en-US" dirty="0" smtClean="0"/>
            </a:br>
            <a:r>
              <a:rPr lang="en-US" dirty="0" smtClean="0"/>
              <a:t>shown below</a:t>
            </a:r>
            <a:endParaRPr lang="en-US" dirty="0"/>
          </a:p>
        </p:txBody>
      </p:sp>
      <p:pic>
        <p:nvPicPr>
          <p:cNvPr id="4" name="Picture 3" descr="2zone-testingphase-consider-all-factors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30" y="3429000"/>
            <a:ext cx="4263070" cy="3204933"/>
          </a:xfrm>
          <a:prstGeom prst="rect">
            <a:avLst/>
          </a:prstGeom>
        </p:spPr>
      </p:pic>
      <p:pic>
        <p:nvPicPr>
          <p:cNvPr id="5" name="Picture 4" descr="2zone-validationphase-consider-all-factors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429000"/>
            <a:ext cx="4267200" cy="3208038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722868"/>
              </p:ext>
            </p:extLst>
          </p:nvPr>
        </p:nvGraphicFramePr>
        <p:xfrm>
          <a:off x="5257800" y="810705"/>
          <a:ext cx="3429000" cy="246589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6981"/>
                <a:gridCol w="1410419"/>
                <a:gridCol w="685800"/>
                <a:gridCol w="685800"/>
              </a:tblGrid>
              <a:tr h="304797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Two zone with HVAC and extra factors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4012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sng" strike="noStrike" dirty="0">
                          <a:effectLst/>
                        </a:rPr>
                        <a:t>SPACE 1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sng" strike="noStrike">
                          <a:effectLst/>
                        </a:rPr>
                        <a:t>SPACE 2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</a:tr>
              <a:tr h="240122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Testing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Relative RMS Error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0.0021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0.0022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</a:tr>
              <a:tr h="2401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Max Relative Error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0.0128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0.0144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</a:tr>
              <a:tr h="2401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Absolute RMS Error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0.0476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0.0488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</a:tr>
              <a:tr h="2401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Max Absolute Error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0.2959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0.3235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</a:tr>
              <a:tr h="240122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Validation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Relative RMS Error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0.0041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0.0060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</a:tr>
              <a:tr h="2401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Max Relative Error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0.0214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0.0229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</a:tr>
              <a:tr h="2401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Absolute RMS Error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0.0939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0.1338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</a:tr>
              <a:tr h="2401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Max Absolute Error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0.4912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0.5164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45468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4953000"/>
          </a:xfrm>
        </p:spPr>
        <p:txBody>
          <a:bodyPr/>
          <a:lstStyle/>
          <a:p>
            <a:r>
              <a:rPr lang="en-US" dirty="0" smtClean="0"/>
              <a:t>Based on recently proposed subspace identification method</a:t>
            </a:r>
          </a:p>
          <a:p>
            <a:r>
              <a:rPr lang="en-US" dirty="0" smtClean="0"/>
              <a:t>5-zone (all factors)</a:t>
            </a:r>
          </a:p>
          <a:p>
            <a:pPr lvl="1"/>
            <a:r>
              <a:rPr lang="en-US" dirty="0" smtClean="0"/>
              <a:t>1.4 - 3.3% average relative error</a:t>
            </a:r>
          </a:p>
          <a:p>
            <a:pPr lvl="1"/>
            <a:r>
              <a:rPr lang="en-US" dirty="0" smtClean="0"/>
              <a:t>6.5 – 16.9% max relative error</a:t>
            </a:r>
          </a:p>
          <a:p>
            <a:r>
              <a:rPr lang="en-US" dirty="0" smtClean="0"/>
              <a:t>5-zone (HVAC only)</a:t>
            </a:r>
          </a:p>
          <a:p>
            <a:pPr lvl="1"/>
            <a:r>
              <a:rPr lang="en-US" dirty="0" smtClean="0"/>
              <a:t>1.7 – 2.9% average relative error</a:t>
            </a:r>
          </a:p>
          <a:p>
            <a:pPr lvl="1"/>
            <a:r>
              <a:rPr lang="en-US" dirty="0" smtClean="0"/>
              <a:t>13.8 – 18.7% max relative error</a:t>
            </a:r>
          </a:p>
          <a:p>
            <a:r>
              <a:rPr lang="en-US" dirty="0" smtClean="0"/>
              <a:t>2-zone (all factors)</a:t>
            </a:r>
          </a:p>
          <a:p>
            <a:pPr lvl="1"/>
            <a:r>
              <a:rPr lang="en-US" dirty="0" smtClean="0"/>
              <a:t>0.4 – 0.6% average relative error</a:t>
            </a:r>
          </a:p>
          <a:p>
            <a:pPr lvl="1"/>
            <a:r>
              <a:rPr lang="en-US" dirty="0" smtClean="0"/>
              <a:t>2.1 – 2.3% max relative error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1681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WordArt 2"/>
          <p:cNvSpPr>
            <a:spLocks noChangeArrowheads="1" noChangeShapeType="1" noTextEdit="1"/>
          </p:cNvSpPr>
          <p:nvPr/>
        </p:nvSpPr>
        <p:spPr bwMode="auto">
          <a:xfrm>
            <a:off x="914400" y="1676400"/>
            <a:ext cx="7010400" cy="364648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85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lstStyle/>
          <a:p>
            <a:pPr algn="ctr"/>
            <a:r>
              <a:rPr lang="en-U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Comic Sans MS"/>
                <a:ea typeface="Comic Sans MS"/>
                <a:cs typeface="Comic Sans MS"/>
              </a:rPr>
              <a:t>Questions???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19118</TotalTime>
  <Words>1351</Words>
  <Application>Microsoft Macintosh PowerPoint</Application>
  <PresentationFormat>On-screen Show (4:3)</PresentationFormat>
  <Paragraphs>265</Paragraphs>
  <Slides>17</Slides>
  <Notes>7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Network</vt:lpstr>
      <vt:lpstr>Equation</vt:lpstr>
      <vt:lpstr>Building Thermal Modeling for Energy-Efficient Smart Building Control</vt:lpstr>
      <vt:lpstr>Outline</vt:lpstr>
      <vt:lpstr>Motivation</vt:lpstr>
      <vt:lpstr>EnergyPlus</vt:lpstr>
      <vt:lpstr>Proposed thermal modeling method</vt:lpstr>
      <vt:lpstr>Behavioral thermal modeling problem</vt:lpstr>
      <vt:lpstr>Subspace System Identification[1]</vt:lpstr>
      <vt:lpstr>SID algorithm flow see [1] for more details</vt:lpstr>
      <vt:lpstr>Two-Stage Modeling</vt:lpstr>
      <vt:lpstr>Two-Stage Modeling Results</vt:lpstr>
      <vt:lpstr>Model order selection to avoid overfitting</vt:lpstr>
      <vt:lpstr>5-zone Results (Training Phase)</vt:lpstr>
      <vt:lpstr>5-zone Results (Validation Phase)</vt:lpstr>
      <vt:lpstr>Absolute and Relative Errors</vt:lpstr>
      <vt:lpstr>2-Zone Results</vt:lpstr>
      <vt:lpstr>Summary</vt:lpstr>
      <vt:lpstr>PowerPoint Presentation</vt:lpstr>
    </vt:vector>
  </TitlesOfParts>
  <Company>ucr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Behavioral thermal modeling for quad-core microprocessors</dc:title>
  <dc:creator>Sheldon Tan</dc:creator>
  <cp:lastModifiedBy>Daniel Quach</cp:lastModifiedBy>
  <cp:revision>181</cp:revision>
  <cp:lastPrinted>2015-07-31T18:38:36Z</cp:lastPrinted>
  <dcterms:created xsi:type="dcterms:W3CDTF">2007-04-20T17:45:10Z</dcterms:created>
  <dcterms:modified xsi:type="dcterms:W3CDTF">2015-08-03T16:56:41Z</dcterms:modified>
</cp:coreProperties>
</file>