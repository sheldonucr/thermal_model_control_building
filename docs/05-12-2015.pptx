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hujuan\Desktop\WindACAuto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Shujuan\Desktop\WindACAuto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Shujuan\Desktop\WindACAut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F:\UCR\course\CS\Computer%20Engineering\2015%20spring\CEproject\report\WindACAut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altLang="zh-CN"/>
              <a:t>Temperature </a:t>
            </a:r>
            <a:r>
              <a:rPr lang="en-US" altLang="zh-CN" baseline="0"/>
              <a:t> distribution  on Jan 14</a:t>
            </a:r>
            <a:endParaRPr lang="zh-CN" altLang="en-US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9331807787713839"/>
          <c:y val="4.4556859596748384E-2"/>
          <c:w val="0.66779157482025842"/>
          <c:h val="0.85241085529274496"/>
        </c:manualLayout>
      </c:layout>
      <c:scatterChart>
        <c:scatterStyle val="lineMarker"/>
        <c:varyColors val="0"/>
        <c:ser>
          <c:idx val="0"/>
          <c:order val="0"/>
          <c:tx>
            <c:strRef>
              <c:f>WindACAuto!$B$1</c:f>
              <c:strCache>
                <c:ptCount val="1"/>
                <c:pt idx="0">
                  <c:v>WEST ZONE:Zone Air Temperature [C](Hourly)</c:v>
                </c:pt>
              </c:strCache>
            </c:strRef>
          </c:tx>
          <c:spPr>
            <a:ln w="28575">
              <a:noFill/>
            </a:ln>
          </c:spPr>
          <c:xVal>
            <c:strRef>
              <c:f>WindACAuto!$A$2:$A$25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WindACAuto!$B$2:$B$25</c:f>
              <c:numCache>
                <c:formatCode>General</c:formatCode>
                <c:ptCount val="24"/>
                <c:pt idx="0">
                  <c:v>23.746734629999999</c:v>
                </c:pt>
                <c:pt idx="1">
                  <c:v>23.208590239999999</c:v>
                </c:pt>
                <c:pt idx="2">
                  <c:v>22.748196010000001</c:v>
                </c:pt>
                <c:pt idx="3">
                  <c:v>22.273525190000001</c:v>
                </c:pt>
                <c:pt idx="4">
                  <c:v>21.85287975</c:v>
                </c:pt>
                <c:pt idx="5">
                  <c:v>21.37683006</c:v>
                </c:pt>
                <c:pt idx="6">
                  <c:v>20.955746569999999</c:v>
                </c:pt>
                <c:pt idx="7">
                  <c:v>20.793058810000002</c:v>
                </c:pt>
                <c:pt idx="8">
                  <c:v>26.06600443</c:v>
                </c:pt>
                <c:pt idx="9">
                  <c:v>27.791786890000001</c:v>
                </c:pt>
                <c:pt idx="10">
                  <c:v>28.702894709999999</c:v>
                </c:pt>
                <c:pt idx="11">
                  <c:v>29.954668659999999</c:v>
                </c:pt>
                <c:pt idx="12">
                  <c:v>31.153752619999999</c:v>
                </c:pt>
                <c:pt idx="13">
                  <c:v>32.611771419999997</c:v>
                </c:pt>
                <c:pt idx="14">
                  <c:v>33.279718950000003</c:v>
                </c:pt>
                <c:pt idx="15">
                  <c:v>34.292640859999999</c:v>
                </c:pt>
                <c:pt idx="16">
                  <c:v>34.425113770000003</c:v>
                </c:pt>
                <c:pt idx="17">
                  <c:v>34.375646269999997</c:v>
                </c:pt>
                <c:pt idx="18">
                  <c:v>28.90856522</c:v>
                </c:pt>
                <c:pt idx="19">
                  <c:v>26.49335554</c:v>
                </c:pt>
                <c:pt idx="20">
                  <c:v>25.803386589999999</c:v>
                </c:pt>
                <c:pt idx="21">
                  <c:v>25.341546829999999</c:v>
                </c:pt>
                <c:pt idx="22">
                  <c:v>24.854290599999999</c:v>
                </c:pt>
                <c:pt idx="23">
                  <c:v>24.376525449999999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WindACAuto!$C$1</c:f>
              <c:strCache>
                <c:ptCount val="1"/>
                <c:pt idx="0">
                  <c:v>EAST ZONE:Zone Air Temperature [C](Hourly)</c:v>
                </c:pt>
              </c:strCache>
            </c:strRef>
          </c:tx>
          <c:spPr>
            <a:ln w="28575">
              <a:noFill/>
            </a:ln>
          </c:spPr>
          <c:xVal>
            <c:strRef>
              <c:f>WindACAuto!$A$2:$A$25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WindACAuto!$C$2:$C$25</c:f>
              <c:numCache>
                <c:formatCode>General</c:formatCode>
                <c:ptCount val="24"/>
                <c:pt idx="0">
                  <c:v>22.061524330000001</c:v>
                </c:pt>
                <c:pt idx="1">
                  <c:v>21.697655399999999</c:v>
                </c:pt>
                <c:pt idx="2">
                  <c:v>21.282755689999998</c:v>
                </c:pt>
                <c:pt idx="3">
                  <c:v>20.862575209999999</c:v>
                </c:pt>
                <c:pt idx="4">
                  <c:v>20.45747939</c:v>
                </c:pt>
                <c:pt idx="5">
                  <c:v>20.08753403</c:v>
                </c:pt>
                <c:pt idx="6">
                  <c:v>20.205346810000002</c:v>
                </c:pt>
                <c:pt idx="7">
                  <c:v>22.177090239999998</c:v>
                </c:pt>
                <c:pt idx="8">
                  <c:v>25.25045755</c:v>
                </c:pt>
                <c:pt idx="9">
                  <c:v>26.079862200000001</c:v>
                </c:pt>
                <c:pt idx="10">
                  <c:v>26.508858140000001</c:v>
                </c:pt>
                <c:pt idx="11">
                  <c:v>27.117903210000001</c:v>
                </c:pt>
                <c:pt idx="12">
                  <c:v>27.785397939999999</c:v>
                </c:pt>
                <c:pt idx="13">
                  <c:v>28.77813295</c:v>
                </c:pt>
                <c:pt idx="14">
                  <c:v>29.682578249999999</c:v>
                </c:pt>
                <c:pt idx="15">
                  <c:v>30.373342470000001</c:v>
                </c:pt>
                <c:pt idx="16">
                  <c:v>30.808860540000001</c:v>
                </c:pt>
                <c:pt idx="17">
                  <c:v>29.913469169999999</c:v>
                </c:pt>
                <c:pt idx="18">
                  <c:v>25.96378438</c:v>
                </c:pt>
                <c:pt idx="19">
                  <c:v>24.279728209999998</c:v>
                </c:pt>
                <c:pt idx="20">
                  <c:v>23.63741615</c:v>
                </c:pt>
                <c:pt idx="21">
                  <c:v>23.172787509999999</c:v>
                </c:pt>
                <c:pt idx="22">
                  <c:v>22.77525146</c:v>
                </c:pt>
                <c:pt idx="23">
                  <c:v>22.40969699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WindACAuto!$D$1</c:f>
              <c:strCache>
                <c:ptCount val="1"/>
                <c:pt idx="0">
                  <c:v>NORTH ZONE:Zone Air Temperature [C](Hourly)</c:v>
                </c:pt>
              </c:strCache>
            </c:strRef>
          </c:tx>
          <c:spPr>
            <a:ln w="28575">
              <a:noFill/>
            </a:ln>
          </c:spPr>
          <c:xVal>
            <c:strRef>
              <c:f>WindACAuto!$A$2:$A$25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WindACAuto!$D$2:$D$25</c:f>
              <c:numCache>
                <c:formatCode>General</c:formatCode>
                <c:ptCount val="24"/>
                <c:pt idx="0">
                  <c:v>19.925816900000001</c:v>
                </c:pt>
                <c:pt idx="1">
                  <c:v>19.62127357</c:v>
                </c:pt>
                <c:pt idx="2">
                  <c:v>19.26490514</c:v>
                </c:pt>
                <c:pt idx="3">
                  <c:v>18.900283640000001</c:v>
                </c:pt>
                <c:pt idx="4">
                  <c:v>18.546761069999999</c:v>
                </c:pt>
                <c:pt idx="5">
                  <c:v>18.22500926</c:v>
                </c:pt>
                <c:pt idx="6">
                  <c:v>18.16741223</c:v>
                </c:pt>
                <c:pt idx="7">
                  <c:v>20.15155713</c:v>
                </c:pt>
                <c:pt idx="8">
                  <c:v>23.208669489999998</c:v>
                </c:pt>
                <c:pt idx="9">
                  <c:v>24.266555019999998</c:v>
                </c:pt>
                <c:pt idx="10">
                  <c:v>24.6851667</c:v>
                </c:pt>
                <c:pt idx="11">
                  <c:v>25.230781650000001</c:v>
                </c:pt>
                <c:pt idx="12">
                  <c:v>25.720060459999999</c:v>
                </c:pt>
                <c:pt idx="13">
                  <c:v>26.529141930000002</c:v>
                </c:pt>
                <c:pt idx="14">
                  <c:v>27.25078688</c:v>
                </c:pt>
                <c:pt idx="15">
                  <c:v>27.82727379</c:v>
                </c:pt>
                <c:pt idx="16">
                  <c:v>28.193542040000001</c:v>
                </c:pt>
                <c:pt idx="17">
                  <c:v>27.923380720000001</c:v>
                </c:pt>
                <c:pt idx="18">
                  <c:v>23.710234660000001</c:v>
                </c:pt>
                <c:pt idx="19">
                  <c:v>21.850024959999999</c:v>
                </c:pt>
                <c:pt idx="20">
                  <c:v>21.267711899999998</c:v>
                </c:pt>
                <c:pt idx="21">
                  <c:v>20.868023539999999</c:v>
                </c:pt>
                <c:pt idx="22">
                  <c:v>20.517477329999998</c:v>
                </c:pt>
                <c:pt idx="23">
                  <c:v>20.210109079999999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4815040"/>
        <c:axId val="142237696"/>
      </c:scatterChart>
      <c:valAx>
        <c:axId val="13481504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42237696"/>
        <c:crosses val="autoZero"/>
        <c:crossBetween val="midCat"/>
      </c:valAx>
      <c:valAx>
        <c:axId val="142237696"/>
        <c:scaling>
          <c:orientation val="minMax"/>
          <c:min val="15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Temperature(c)</a:t>
                </a:r>
                <a:endParaRPr lang="zh-CN" altLang="en-US" sz="1400"/>
              </a:p>
            </c:rich>
          </c:tx>
          <c:layout>
            <c:manualLayout>
              <c:xMode val="edge"/>
              <c:yMode val="edge"/>
              <c:x val="0.10391615045552319"/>
              <c:y val="0.36279884807046081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crossAx val="13481504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66237344805257836"/>
          <c:y val="0.12333010104015003"/>
          <c:w val="0.33762655194742169"/>
          <c:h val="0.23188018453641052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altLang="zh-CN"/>
              <a:t>Temperature distribution</a:t>
            </a:r>
            <a:r>
              <a:rPr lang="en-US" altLang="zh-CN" baseline="0"/>
              <a:t> On July 7</a:t>
            </a:r>
            <a:endParaRPr lang="zh-CN" altLang="en-US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0832108554290702"/>
          <c:y val="7.9723859822087212E-2"/>
          <c:w val="0.804740468965078"/>
          <c:h val="0.81724385506740616"/>
        </c:manualLayout>
      </c:layout>
      <c:scatterChart>
        <c:scatterStyle val="lineMarker"/>
        <c:varyColors val="0"/>
        <c:ser>
          <c:idx val="0"/>
          <c:order val="0"/>
          <c:tx>
            <c:v>West Zone</c:v>
          </c:tx>
          <c:spPr>
            <a:ln w="28575">
              <a:noFill/>
            </a:ln>
          </c:spPr>
          <c:xVal>
            <c:strRef>
              <c:f>WindACAuto!$A$26:$A$49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WindACAuto!$B$26:$B$49</c:f>
              <c:numCache>
                <c:formatCode>General</c:formatCode>
                <c:ptCount val="24"/>
                <c:pt idx="0">
                  <c:v>24.474504339999999</c:v>
                </c:pt>
                <c:pt idx="1">
                  <c:v>24.013037229999998</c:v>
                </c:pt>
                <c:pt idx="2">
                  <c:v>23.610240860000001</c:v>
                </c:pt>
                <c:pt idx="3">
                  <c:v>23.2357677</c:v>
                </c:pt>
                <c:pt idx="4">
                  <c:v>22.869210420000002</c:v>
                </c:pt>
                <c:pt idx="5">
                  <c:v>22.54524232</c:v>
                </c:pt>
                <c:pt idx="6">
                  <c:v>22.387324509999999</c:v>
                </c:pt>
                <c:pt idx="7">
                  <c:v>22.541434469999999</c:v>
                </c:pt>
                <c:pt idx="8">
                  <c:v>23.97840321</c:v>
                </c:pt>
                <c:pt idx="9">
                  <c:v>23.996524619999999</c:v>
                </c:pt>
                <c:pt idx="10">
                  <c:v>23.996966830000002</c:v>
                </c:pt>
                <c:pt idx="11">
                  <c:v>23.997005290000001</c:v>
                </c:pt>
                <c:pt idx="12">
                  <c:v>23.997770899999999</c:v>
                </c:pt>
                <c:pt idx="13">
                  <c:v>23.997947790000001</c:v>
                </c:pt>
                <c:pt idx="14">
                  <c:v>23.997412149999999</c:v>
                </c:pt>
                <c:pt idx="15">
                  <c:v>23.99738906</c:v>
                </c:pt>
                <c:pt idx="16">
                  <c:v>23.997844480000001</c:v>
                </c:pt>
                <c:pt idx="17">
                  <c:v>32.776893569999999</c:v>
                </c:pt>
                <c:pt idx="18">
                  <c:v>29.076191770000001</c:v>
                </c:pt>
                <c:pt idx="19">
                  <c:v>26.763761370000001</c:v>
                </c:pt>
                <c:pt idx="20">
                  <c:v>26.181263940000001</c:v>
                </c:pt>
                <c:pt idx="21">
                  <c:v>25.710826399999998</c:v>
                </c:pt>
                <c:pt idx="22">
                  <c:v>25.29549334</c:v>
                </c:pt>
                <c:pt idx="23">
                  <c:v>24.920942409999999</c:v>
                </c:pt>
              </c:numCache>
            </c:numRef>
          </c:yVal>
          <c:smooth val="0"/>
        </c:ser>
        <c:ser>
          <c:idx val="1"/>
          <c:order val="1"/>
          <c:tx>
            <c:v>East Zone</c:v>
          </c:tx>
          <c:spPr>
            <a:ln w="28575">
              <a:noFill/>
            </a:ln>
          </c:spPr>
          <c:xVal>
            <c:strRef>
              <c:f>WindACAuto!$A$26:$A$49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WindACAuto!$C$26:$C$49</c:f>
              <c:numCache>
                <c:formatCode>General</c:formatCode>
                <c:ptCount val="24"/>
                <c:pt idx="0">
                  <c:v>23.85845814</c:v>
                </c:pt>
                <c:pt idx="1">
                  <c:v>23.514456979999999</c:v>
                </c:pt>
                <c:pt idx="2">
                  <c:v>23.161509259999999</c:v>
                </c:pt>
                <c:pt idx="3">
                  <c:v>22.80470051</c:v>
                </c:pt>
                <c:pt idx="4">
                  <c:v>22.454091569999999</c:v>
                </c:pt>
                <c:pt idx="5">
                  <c:v>22.119267749999999</c:v>
                </c:pt>
                <c:pt idx="6">
                  <c:v>22.305002340000001</c:v>
                </c:pt>
                <c:pt idx="7">
                  <c:v>23.56990716</c:v>
                </c:pt>
                <c:pt idx="8">
                  <c:v>23.99905871</c:v>
                </c:pt>
                <c:pt idx="9">
                  <c:v>23.99933854</c:v>
                </c:pt>
                <c:pt idx="10">
                  <c:v>23.999267740000001</c:v>
                </c:pt>
                <c:pt idx="11">
                  <c:v>23.99915786</c:v>
                </c:pt>
                <c:pt idx="12">
                  <c:v>23.999187890000002</c:v>
                </c:pt>
                <c:pt idx="13">
                  <c:v>23.99920723</c:v>
                </c:pt>
                <c:pt idx="14">
                  <c:v>23.999131030000001</c:v>
                </c:pt>
                <c:pt idx="15">
                  <c:v>23.99909319</c:v>
                </c:pt>
                <c:pt idx="16">
                  <c:v>23.999221720000001</c:v>
                </c:pt>
                <c:pt idx="17">
                  <c:v>30.039335659999999</c:v>
                </c:pt>
                <c:pt idx="18">
                  <c:v>27.4883004</c:v>
                </c:pt>
                <c:pt idx="19">
                  <c:v>26.004955160000002</c:v>
                </c:pt>
                <c:pt idx="20">
                  <c:v>25.531961809999999</c:v>
                </c:pt>
                <c:pt idx="21">
                  <c:v>25.04842872</c:v>
                </c:pt>
                <c:pt idx="22">
                  <c:v>24.602444429999998</c:v>
                </c:pt>
                <c:pt idx="23">
                  <c:v>24.216766570000001</c:v>
                </c:pt>
              </c:numCache>
            </c:numRef>
          </c:yVal>
          <c:smooth val="0"/>
        </c:ser>
        <c:ser>
          <c:idx val="2"/>
          <c:order val="2"/>
          <c:tx>
            <c:v>North Zone</c:v>
          </c:tx>
          <c:spPr>
            <a:ln w="28575">
              <a:noFill/>
            </a:ln>
          </c:spPr>
          <c:xVal>
            <c:strRef>
              <c:f>WindACAuto!$A$26:$A$49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WindACAuto!$D$26:$D$49</c:f>
              <c:numCache>
                <c:formatCode>General</c:formatCode>
                <c:ptCount val="24"/>
                <c:pt idx="0">
                  <c:v>23.48398808</c:v>
                </c:pt>
                <c:pt idx="1">
                  <c:v>23.128642020000001</c:v>
                </c:pt>
                <c:pt idx="2">
                  <c:v>22.766051409999999</c:v>
                </c:pt>
                <c:pt idx="3">
                  <c:v>22.400944490000001</c:v>
                </c:pt>
                <c:pt idx="4">
                  <c:v>22.041930489999999</c:v>
                </c:pt>
                <c:pt idx="5">
                  <c:v>21.6979133</c:v>
                </c:pt>
                <c:pt idx="6">
                  <c:v>21.633885020000001</c:v>
                </c:pt>
                <c:pt idx="7">
                  <c:v>21.958526939999999</c:v>
                </c:pt>
                <c:pt idx="8">
                  <c:v>23.901796390000001</c:v>
                </c:pt>
                <c:pt idx="9">
                  <c:v>23.999193980000001</c:v>
                </c:pt>
                <c:pt idx="10">
                  <c:v>23.999405849999999</c:v>
                </c:pt>
                <c:pt idx="11">
                  <c:v>23.999316990000001</c:v>
                </c:pt>
                <c:pt idx="12">
                  <c:v>23.999331789999999</c:v>
                </c:pt>
                <c:pt idx="13">
                  <c:v>23.99930376</c:v>
                </c:pt>
                <c:pt idx="14">
                  <c:v>23.999206869999998</c:v>
                </c:pt>
                <c:pt idx="15">
                  <c:v>23.99916249</c:v>
                </c:pt>
                <c:pt idx="16">
                  <c:v>23.999277939999999</c:v>
                </c:pt>
                <c:pt idx="17">
                  <c:v>30.237273890000001</c:v>
                </c:pt>
                <c:pt idx="18">
                  <c:v>27.37544196</c:v>
                </c:pt>
                <c:pt idx="19">
                  <c:v>25.773058290000002</c:v>
                </c:pt>
                <c:pt idx="20">
                  <c:v>25.247841560000001</c:v>
                </c:pt>
                <c:pt idx="21">
                  <c:v>24.71681431</c:v>
                </c:pt>
                <c:pt idx="22">
                  <c:v>24.240466080000001</c:v>
                </c:pt>
                <c:pt idx="23">
                  <c:v>23.851935919999999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240000"/>
        <c:axId val="142240576"/>
      </c:scatterChart>
      <c:valAx>
        <c:axId val="1422400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</a:t>
                </a:r>
                <a:r>
                  <a:rPr lang="en-US" altLang="zh-CN" sz="1400" baseline="0"/>
                  <a:t> 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42240576"/>
        <c:crosses val="autoZero"/>
        <c:crossBetween val="midCat"/>
      </c:valAx>
      <c:valAx>
        <c:axId val="142240576"/>
        <c:scaling>
          <c:orientation val="minMax"/>
          <c:min val="15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Temperature(c)</a:t>
                </a:r>
                <a:endParaRPr lang="zh-CN" altLang="en-US" sz="1400"/>
              </a:p>
            </c:rich>
          </c:tx>
          <c:layout>
            <c:manualLayout>
              <c:xMode val="edge"/>
              <c:yMode val="edge"/>
              <c:x val="4.23666042824591E-2"/>
              <c:y val="0.3884550560280044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crossAx val="14224000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5372196475290365"/>
          <c:y val="0.13687712804553051"/>
          <c:w val="0.10487562641433276"/>
          <c:h val="0.1276484065938781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altLang="zh-CN"/>
              <a:t>Cooling rate </a:t>
            </a:r>
            <a:r>
              <a:rPr lang="en-US" altLang="zh-CN" baseline="0"/>
              <a:t>On July 7</a:t>
            </a:r>
            <a:endParaRPr lang="zh-CN" altLang="en-US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0832108554290702"/>
          <c:y val="7.9723859822087212E-2"/>
          <c:w val="0.804740468965078"/>
          <c:h val="0.81724385506740616"/>
        </c:manualLayout>
      </c:layout>
      <c:scatterChart>
        <c:scatterStyle val="lineMarker"/>
        <c:varyColors val="0"/>
        <c:ser>
          <c:idx val="0"/>
          <c:order val="0"/>
          <c:tx>
            <c:v>West Zone</c:v>
          </c:tx>
          <c:spPr>
            <a:ln w="28575">
              <a:noFill/>
            </a:ln>
          </c:spPr>
          <c:xVal>
            <c:strRef>
              <c:f>WindACAuto!$A$26:$A$49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WindACAuto!$E$26:$E$49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1784.0939129999999</c:v>
                </c:pt>
                <c:pt idx="9">
                  <c:v>1964.0428910000001</c:v>
                </c:pt>
                <c:pt idx="10">
                  <c:v>2145.830027</c:v>
                </c:pt>
                <c:pt idx="11">
                  <c:v>2332.785476</c:v>
                </c:pt>
                <c:pt idx="12">
                  <c:v>2457.5361029999999</c:v>
                </c:pt>
                <c:pt idx="13">
                  <c:v>2725.791244</c:v>
                </c:pt>
                <c:pt idx="14">
                  <c:v>2884.8270069999999</c:v>
                </c:pt>
                <c:pt idx="15">
                  <c:v>2999.2592690000001</c:v>
                </c:pt>
                <c:pt idx="16">
                  <c:v>2991.855924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East Zone</c:v>
          </c:tx>
          <c:spPr>
            <a:ln w="28575">
              <a:noFill/>
            </a:ln>
          </c:spPr>
          <c:xVal>
            <c:strRef>
              <c:f>WindACAuto!$A$26:$A$49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WindACAuto!$F$26:$F$49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367.72786939999997</c:v>
                </c:pt>
                <c:pt idx="8">
                  <c:v>1498.650905</c:v>
                </c:pt>
                <c:pt idx="9">
                  <c:v>1633.3686720000001</c:v>
                </c:pt>
                <c:pt idx="10">
                  <c:v>1768.22525</c:v>
                </c:pt>
                <c:pt idx="11">
                  <c:v>1908.100201</c:v>
                </c:pt>
                <c:pt idx="12">
                  <c:v>1959.6703359999999</c:v>
                </c:pt>
                <c:pt idx="13">
                  <c:v>2142.2450829999998</c:v>
                </c:pt>
                <c:pt idx="14">
                  <c:v>2261.189425</c:v>
                </c:pt>
                <c:pt idx="15">
                  <c:v>2363.4154610000001</c:v>
                </c:pt>
                <c:pt idx="16">
                  <c:v>2352.4202089999999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North Zone</c:v>
          </c:tx>
          <c:spPr>
            <a:ln w="28575">
              <a:noFill/>
            </a:ln>
          </c:spPr>
          <c:xVal>
            <c:strRef>
              <c:f>WindACAuto!$A$26:$A$49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WindACAuto!$G$26:$G$49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308.17627329999999</c:v>
                </c:pt>
                <c:pt idx="8">
                  <c:v>1707.5482</c:v>
                </c:pt>
                <c:pt idx="9">
                  <c:v>1999.2012420000001</c:v>
                </c:pt>
                <c:pt idx="10">
                  <c:v>2200.319806</c:v>
                </c:pt>
                <c:pt idx="11">
                  <c:v>2408.5546370000002</c:v>
                </c:pt>
                <c:pt idx="12">
                  <c:v>2502.0045829999999</c:v>
                </c:pt>
                <c:pt idx="13">
                  <c:v>2747.9669389999999</c:v>
                </c:pt>
                <c:pt idx="14">
                  <c:v>2865.3957820000001</c:v>
                </c:pt>
                <c:pt idx="15">
                  <c:v>2985.0158529999999</c:v>
                </c:pt>
                <c:pt idx="16">
                  <c:v>3004.7921419999998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2242880"/>
        <c:axId val="142243456"/>
      </c:scatterChart>
      <c:valAx>
        <c:axId val="14224288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</a:t>
                </a:r>
                <a:r>
                  <a:rPr lang="en-US" altLang="zh-CN" sz="1400" baseline="0"/>
                  <a:t> 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42243456"/>
        <c:crosses val="autoZero"/>
        <c:crossBetween val="midCat"/>
      </c:valAx>
      <c:valAx>
        <c:axId val="142243456"/>
        <c:scaling>
          <c:orientation val="minMax"/>
          <c:min val="15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Zone Air System Sensible Cooling Rate(w)</a:t>
                </a:r>
                <a:endParaRPr lang="zh-CN" altLang="en-US" sz="1400"/>
              </a:p>
            </c:rich>
          </c:tx>
          <c:layout>
            <c:manualLayout>
              <c:xMode val="edge"/>
              <c:yMode val="edge"/>
              <c:x val="2.6246485046656609E-2"/>
              <c:y val="0.18259897984123308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crossAx val="142242880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5372196475290365"/>
          <c:y val="0.13687712804553051"/>
          <c:w val="0.10487562641433276"/>
          <c:h val="0.1276484065938781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altLang="zh-CN"/>
              <a:t>Outside</a:t>
            </a:r>
            <a:r>
              <a:rPr lang="en-US" altLang="zh-CN" baseline="0"/>
              <a:t> Dry-bulb  Temperature</a:t>
            </a:r>
            <a:endParaRPr lang="zh-CN" altLang="en-US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8.6639582866240294E-2"/>
          <c:y val="7.8866205627876926E-2"/>
          <c:w val="0.83497336603205863"/>
          <c:h val="0.82011970608697693"/>
        </c:manualLayout>
      </c:layout>
      <c:scatterChart>
        <c:scatterStyle val="lineMarker"/>
        <c:varyColors val="0"/>
        <c:ser>
          <c:idx val="0"/>
          <c:order val="0"/>
          <c:tx>
            <c:v>14-Jan</c:v>
          </c:tx>
          <c:spPr>
            <a:ln w="28575">
              <a:noFill/>
            </a:ln>
          </c:spPr>
          <c:xVal>
            <c:numRef>
              <c:f>'outside temperature'!$A$3:$A$26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xVal>
          <c:yVal>
            <c:numRef>
              <c:f>'outside temperature'!$B$3:$B$26</c:f>
              <c:numCache>
                <c:formatCode>General</c:formatCode>
                <c:ptCount val="24"/>
                <c:pt idx="0">
                  <c:v>7.8</c:v>
                </c:pt>
                <c:pt idx="1">
                  <c:v>8.9</c:v>
                </c:pt>
                <c:pt idx="2">
                  <c:v>7.8</c:v>
                </c:pt>
                <c:pt idx="3">
                  <c:v>8.3000000000000007</c:v>
                </c:pt>
                <c:pt idx="4">
                  <c:v>8.9</c:v>
                </c:pt>
                <c:pt idx="5">
                  <c:v>7.8</c:v>
                </c:pt>
                <c:pt idx="6">
                  <c:v>7.2</c:v>
                </c:pt>
                <c:pt idx="7">
                  <c:v>6.7</c:v>
                </c:pt>
                <c:pt idx="8">
                  <c:v>6.7</c:v>
                </c:pt>
                <c:pt idx="9">
                  <c:v>7.2</c:v>
                </c:pt>
                <c:pt idx="10">
                  <c:v>7.8</c:v>
                </c:pt>
                <c:pt idx="11">
                  <c:v>9.4</c:v>
                </c:pt>
                <c:pt idx="12">
                  <c:v>11.1</c:v>
                </c:pt>
                <c:pt idx="13">
                  <c:v>10.6</c:v>
                </c:pt>
                <c:pt idx="14">
                  <c:v>10.6</c:v>
                </c:pt>
                <c:pt idx="15">
                  <c:v>11.1</c:v>
                </c:pt>
                <c:pt idx="16">
                  <c:v>12.2</c:v>
                </c:pt>
                <c:pt idx="17">
                  <c:v>11.7</c:v>
                </c:pt>
                <c:pt idx="18">
                  <c:v>11.1</c:v>
                </c:pt>
                <c:pt idx="19">
                  <c:v>10.6</c:v>
                </c:pt>
                <c:pt idx="20">
                  <c:v>11.1</c:v>
                </c:pt>
                <c:pt idx="21">
                  <c:v>11.7</c:v>
                </c:pt>
                <c:pt idx="22">
                  <c:v>11.7</c:v>
                </c:pt>
                <c:pt idx="23">
                  <c:v>10.6</c:v>
                </c:pt>
              </c:numCache>
            </c:numRef>
          </c:yVal>
          <c:smooth val="0"/>
        </c:ser>
        <c:ser>
          <c:idx val="1"/>
          <c:order val="1"/>
          <c:tx>
            <c:v>7-Jul</c:v>
          </c:tx>
          <c:spPr>
            <a:ln w="28575">
              <a:noFill/>
            </a:ln>
          </c:spPr>
          <c:xVal>
            <c:numRef>
              <c:f>'outside temperature'!$E$3:$E$26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xVal>
          <c:yVal>
            <c:numRef>
              <c:f>'outside temperature'!$F$3:$F$26</c:f>
              <c:numCache>
                <c:formatCode>General</c:formatCode>
                <c:ptCount val="24"/>
                <c:pt idx="0">
                  <c:v>13.3</c:v>
                </c:pt>
                <c:pt idx="1">
                  <c:v>12.9</c:v>
                </c:pt>
                <c:pt idx="2">
                  <c:v>12.6</c:v>
                </c:pt>
                <c:pt idx="3">
                  <c:v>12.2</c:v>
                </c:pt>
                <c:pt idx="4">
                  <c:v>12.8</c:v>
                </c:pt>
                <c:pt idx="5">
                  <c:v>13.3</c:v>
                </c:pt>
                <c:pt idx="6">
                  <c:v>13.9</c:v>
                </c:pt>
                <c:pt idx="7">
                  <c:v>14.3</c:v>
                </c:pt>
                <c:pt idx="8">
                  <c:v>14.6</c:v>
                </c:pt>
                <c:pt idx="9">
                  <c:v>15</c:v>
                </c:pt>
                <c:pt idx="10">
                  <c:v>16.100000000000001</c:v>
                </c:pt>
                <c:pt idx="11">
                  <c:v>17.2</c:v>
                </c:pt>
                <c:pt idx="12">
                  <c:v>18.3</c:v>
                </c:pt>
                <c:pt idx="13">
                  <c:v>18.5</c:v>
                </c:pt>
                <c:pt idx="14">
                  <c:v>18.7</c:v>
                </c:pt>
                <c:pt idx="15">
                  <c:v>18.899999999999999</c:v>
                </c:pt>
                <c:pt idx="16">
                  <c:v>17.8</c:v>
                </c:pt>
                <c:pt idx="17">
                  <c:v>16.7</c:v>
                </c:pt>
                <c:pt idx="18">
                  <c:v>15.6</c:v>
                </c:pt>
                <c:pt idx="19">
                  <c:v>15.6</c:v>
                </c:pt>
                <c:pt idx="20">
                  <c:v>15.6</c:v>
                </c:pt>
                <c:pt idx="21">
                  <c:v>15.6</c:v>
                </c:pt>
                <c:pt idx="22">
                  <c:v>15.2</c:v>
                </c:pt>
                <c:pt idx="23">
                  <c:v>14.8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471488"/>
        <c:axId val="53472064"/>
      </c:scatterChart>
      <c:valAx>
        <c:axId val="5347148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altLang="zh-CN" sz="1200"/>
                  <a:t>Time(hour)</a:t>
                </a:r>
                <a:endParaRPr lang="zh-CN" altLang="en-US" sz="12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3472064"/>
        <c:crosses val="autoZero"/>
        <c:crossBetween val="midCat"/>
      </c:valAx>
      <c:valAx>
        <c:axId val="53472064"/>
        <c:scaling>
          <c:orientation val="minMax"/>
          <c:min val="5"/>
        </c:scaling>
        <c:delete val="0"/>
        <c:axPos val="l"/>
        <c:title>
          <c:tx>
            <c:rich>
              <a:bodyPr/>
              <a:lstStyle/>
              <a:p>
                <a:pPr>
                  <a:defRPr sz="1200"/>
                </a:pPr>
                <a:r>
                  <a:rPr lang="en-US" altLang="zh-CN" sz="1200"/>
                  <a:t>Dry-bulb</a:t>
                </a:r>
                <a:r>
                  <a:rPr lang="en-US" altLang="zh-CN" sz="1200" baseline="0"/>
                  <a:t> Temperature</a:t>
                </a:r>
                <a:endParaRPr lang="zh-CN" altLang="en-US" sz="12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53471488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7341359621859157"/>
          <c:y val="0.12485169431596317"/>
          <c:w val="9.0008191605329635E-2"/>
          <c:h val="0.11739008693502011"/>
        </c:manualLayout>
      </c:layout>
      <c:overlay val="0"/>
    </c:legend>
    <c:plotVisOnly val="1"/>
    <c:dispBlanksAs val="gap"/>
    <c:showDLblsOverMax val="0"/>
  </c:chart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0.32072</cdr:x>
      <cdr:y>0.13151</cdr:y>
    </cdr:from>
    <cdr:to>
      <cdr:x>0.32432</cdr:x>
      <cdr:y>0.89826</cdr:y>
    </cdr:to>
    <cdr:cxnSp macro="">
      <cdr:nvCxnSpPr>
        <cdr:cNvPr id="3" name="直接连接符 2"/>
        <cdr:cNvCxnSpPr/>
      </cdr:nvCxnSpPr>
      <cdr:spPr>
        <a:xfrm xmlns:a="http://schemas.openxmlformats.org/drawingml/2006/main">
          <a:off x="2779426" y="827582"/>
          <a:ext cx="31230" cy="482495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0.56983</cdr:x>
      <cdr:y>0.12966</cdr:y>
    </cdr:from>
    <cdr:to>
      <cdr:x>0.57343</cdr:x>
      <cdr:y>0.89641</cdr:y>
    </cdr:to>
    <cdr:cxnSp macro="">
      <cdr:nvCxnSpPr>
        <cdr:cNvPr id="4" name="直接连接符 3"/>
        <cdr:cNvCxnSpPr/>
      </cdr:nvCxnSpPr>
      <cdr:spPr>
        <a:xfrm xmlns:a="http://schemas.openxmlformats.org/drawingml/2006/main">
          <a:off x="4938217" y="815922"/>
          <a:ext cx="31230" cy="482495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0.31892</cdr:x>
      <cdr:y>0.34243</cdr:y>
    </cdr:from>
    <cdr:to>
      <cdr:x>0.57297</cdr:x>
      <cdr:y>0.34491</cdr:y>
    </cdr:to>
    <cdr:cxnSp macro="">
      <cdr:nvCxnSpPr>
        <cdr:cNvPr id="6" name="直接箭头连接符 5"/>
        <cdr:cNvCxnSpPr/>
      </cdr:nvCxnSpPr>
      <cdr:spPr>
        <a:xfrm xmlns:a="http://schemas.openxmlformats.org/drawingml/2006/main">
          <a:off x="2763811" y="2154836"/>
          <a:ext cx="2201681" cy="15615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FF0000"/>
          </a:solidFill>
          <a:headEnd type="arrow"/>
          <a:tailEnd type="arrow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0.34054</cdr:x>
      <cdr:y>0.27295</cdr:y>
    </cdr:from>
    <cdr:to>
      <cdr:x>0.56396</cdr:x>
      <cdr:y>0.33499</cdr:y>
    </cdr:to>
    <cdr:sp macro="" textlink="">
      <cdr:nvSpPr>
        <cdr:cNvPr id="8" name="TextBox 7"/>
        <cdr:cNvSpPr txBox="1"/>
      </cdr:nvSpPr>
      <cdr:spPr>
        <a:xfrm xmlns:a="http://schemas.openxmlformats.org/drawingml/2006/main">
          <a:off x="2951188" y="1717623"/>
          <a:ext cx="1936230" cy="39036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/>
            <a:t>HVAC</a:t>
          </a:r>
          <a:r>
            <a:rPr lang="en-US" sz="1200" baseline="0"/>
            <a:t> is open in this period</a:t>
          </a:r>
          <a:endParaRPr lang="en-US" sz="120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0.32072</cdr:x>
      <cdr:y>0.13151</cdr:y>
    </cdr:from>
    <cdr:to>
      <cdr:x>0.32432</cdr:x>
      <cdr:y>0.89826</cdr:y>
    </cdr:to>
    <cdr:cxnSp macro="">
      <cdr:nvCxnSpPr>
        <cdr:cNvPr id="3" name="直接连接符 2"/>
        <cdr:cNvCxnSpPr/>
      </cdr:nvCxnSpPr>
      <cdr:spPr>
        <a:xfrm xmlns:a="http://schemas.openxmlformats.org/drawingml/2006/main">
          <a:off x="2779426" y="827582"/>
          <a:ext cx="31230" cy="482495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0.56983</cdr:x>
      <cdr:y>0.12966</cdr:y>
    </cdr:from>
    <cdr:to>
      <cdr:x>0.57343</cdr:x>
      <cdr:y>0.89641</cdr:y>
    </cdr:to>
    <cdr:cxnSp macro="">
      <cdr:nvCxnSpPr>
        <cdr:cNvPr id="4" name="直接连接符 3"/>
        <cdr:cNvCxnSpPr/>
      </cdr:nvCxnSpPr>
      <cdr:spPr>
        <a:xfrm xmlns:a="http://schemas.openxmlformats.org/drawingml/2006/main">
          <a:off x="4938217" y="815922"/>
          <a:ext cx="31230" cy="4824959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0.32072</cdr:x>
      <cdr:y>0.65012</cdr:y>
    </cdr:from>
    <cdr:to>
      <cdr:x>0.57477</cdr:x>
      <cdr:y>0.6526</cdr:y>
    </cdr:to>
    <cdr:cxnSp macro="">
      <cdr:nvCxnSpPr>
        <cdr:cNvPr id="6" name="直接箭头连接符 5"/>
        <cdr:cNvCxnSpPr/>
      </cdr:nvCxnSpPr>
      <cdr:spPr>
        <a:xfrm xmlns:a="http://schemas.openxmlformats.org/drawingml/2006/main">
          <a:off x="2779436" y="4091054"/>
          <a:ext cx="2201645" cy="15606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FF0000"/>
          </a:solidFill>
          <a:headEnd type="arrow"/>
          <a:tailEnd type="arrow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0.34414</cdr:x>
      <cdr:y>0.59801</cdr:y>
    </cdr:from>
    <cdr:to>
      <cdr:x>0.56756</cdr:x>
      <cdr:y>0.66005</cdr:y>
    </cdr:to>
    <cdr:sp macro="" textlink="">
      <cdr:nvSpPr>
        <cdr:cNvPr id="8" name="TextBox 7"/>
        <cdr:cNvSpPr txBox="1"/>
      </cdr:nvSpPr>
      <cdr:spPr>
        <a:xfrm xmlns:a="http://schemas.openxmlformats.org/drawingml/2006/main">
          <a:off x="2982413" y="3763137"/>
          <a:ext cx="1936200" cy="39040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/>
            <a:t>HVAC</a:t>
          </a:r>
          <a:r>
            <a:rPr lang="en-US" sz="1200" baseline="0"/>
            <a:t> is open in this period</a:t>
          </a:r>
          <a:endParaRPr lang="en-US" sz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2868E-2339-4353-B1BD-D3BDA734B2AD}" type="datetimeFigureOut">
              <a:rPr lang="en-US" smtClean="0"/>
              <a:t>5/12/2015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FB598-6BED-4AB4-9037-9B8C7906A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5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3FB598-6BED-4AB4-9037-9B8C7906A7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13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2015/5/12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462088"/>
            <a:ext cx="81915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39504" y="1390710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</a:t>
            </a:r>
            <a:r>
              <a:rPr lang="en-US" altLang="zh-CN" dirty="0" smtClean="0"/>
              <a:t>orth Zone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67933" y="364502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West</a:t>
            </a:r>
            <a:r>
              <a:rPr lang="en-US" altLang="zh-CN" dirty="0" smtClean="0"/>
              <a:t> Zone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127776" y="1772816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East</a:t>
            </a:r>
            <a:r>
              <a:rPr lang="en-US" altLang="zh-CN" dirty="0" smtClean="0"/>
              <a:t> Zone</a:t>
            </a:r>
            <a:endParaRPr lang="en-US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2484157" y="1760042"/>
            <a:ext cx="143627" cy="3821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326617" y="4014356"/>
            <a:ext cx="72510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7236296" y="2142148"/>
            <a:ext cx="144016" cy="3821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02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016234"/>
              </p:ext>
            </p:extLst>
          </p:nvPr>
        </p:nvGraphicFramePr>
        <p:xfrm>
          <a:off x="238905" y="282627"/>
          <a:ext cx="8149519" cy="5810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302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79759"/>
              </p:ext>
            </p:extLst>
          </p:nvPr>
        </p:nvGraphicFramePr>
        <p:xfrm>
          <a:off x="827584" y="404664"/>
          <a:ext cx="7861487" cy="58106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5978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630276"/>
              </p:ext>
            </p:extLst>
          </p:nvPr>
        </p:nvGraphicFramePr>
        <p:xfrm>
          <a:off x="539552" y="404664"/>
          <a:ext cx="8221527" cy="5882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9417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US" dirty="0" smtClean="0"/>
              <a:t>O</a:t>
            </a:r>
            <a:r>
              <a:rPr lang="en-US" altLang="zh-CN" dirty="0" smtClean="0"/>
              <a:t>utside-dry bulb Temperature</a:t>
            </a:r>
            <a:endParaRPr lang="en-US" dirty="0"/>
          </a:p>
        </p:txBody>
      </p:sp>
      <p:graphicFrame>
        <p:nvGraphicFramePr>
          <p:cNvPr id="4" name="图表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961305"/>
              </p:ext>
            </p:extLst>
          </p:nvPr>
        </p:nvGraphicFramePr>
        <p:xfrm>
          <a:off x="827584" y="1124743"/>
          <a:ext cx="7848872" cy="5256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8372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65</Words>
  <Application>Microsoft Office PowerPoint</Application>
  <PresentationFormat>全屏显示(4:3)</PresentationFormat>
  <Paragraphs>19</Paragraphs>
  <Slides>5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Outside-dry bulb Temperature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Shujuan Wang</dc:creator>
  <cp:lastModifiedBy>Shujuan Wang</cp:lastModifiedBy>
  <cp:revision>2</cp:revision>
  <dcterms:created xsi:type="dcterms:W3CDTF">2015-05-09T23:32:02Z</dcterms:created>
  <dcterms:modified xsi:type="dcterms:W3CDTF">2015-05-12T16:38:26Z</dcterms:modified>
</cp:coreProperties>
</file>