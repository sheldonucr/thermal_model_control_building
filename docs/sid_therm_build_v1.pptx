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394" r:id="rId3"/>
    <p:sldId id="511" r:id="rId4"/>
    <p:sldId id="493" r:id="rId5"/>
    <p:sldId id="494" r:id="rId6"/>
    <p:sldId id="496" r:id="rId7"/>
    <p:sldId id="497" r:id="rId8"/>
    <p:sldId id="498" r:id="rId9"/>
    <p:sldId id="513" r:id="rId10"/>
    <p:sldId id="514" r:id="rId11"/>
    <p:sldId id="515" r:id="rId12"/>
    <p:sldId id="516" r:id="rId13"/>
    <p:sldId id="517" r:id="rId14"/>
    <p:sldId id="499" r:id="rId15"/>
    <p:sldId id="500" r:id="rId16"/>
    <p:sldId id="501" r:id="rId17"/>
    <p:sldId id="502" r:id="rId18"/>
    <p:sldId id="503" r:id="rId19"/>
    <p:sldId id="504" r:id="rId20"/>
    <p:sldId id="505" r:id="rId21"/>
    <p:sldId id="506" r:id="rId22"/>
    <p:sldId id="507" r:id="rId23"/>
    <p:sldId id="508" r:id="rId24"/>
    <p:sldId id="509" r:id="rId25"/>
    <p:sldId id="510" r:id="rId26"/>
    <p:sldId id="512" r:id="rId27"/>
    <p:sldId id="425" r:id="rId28"/>
  </p:sldIdLst>
  <p:sldSz cx="9144000" cy="6858000" type="screen4x3"/>
  <p:notesSz cx="7034213" cy="92837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clrMode="gray" hiddenSlides="1"/>
  <p:clrMru>
    <a:srgbClr val="FF0000"/>
    <a:srgbClr val="006699"/>
    <a:srgbClr val="333300"/>
    <a:srgbClr val="FF6600"/>
    <a:srgbClr val="FF9900"/>
    <a:srgbClr val="99CC00"/>
    <a:srgbClr val="3399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6323"/>
    <p:restoredTop sz="94720"/>
  </p:normalViewPr>
  <p:slideViewPr>
    <p:cSldViewPr>
      <p:cViewPr>
        <p:scale>
          <a:sx n="82" d="100"/>
          <a:sy n="82" d="100"/>
        </p:scale>
        <p:origin x="752" y="600"/>
      </p:cViewPr>
      <p:guideLst>
        <p:guide orient="horz" pos="2160"/>
        <p:guide pos="2880"/>
      </p:guideLst>
    </p:cSldViewPr>
  </p:slideViewPr>
  <p:outlineViewPr>
    <p:cViewPr>
      <p:scale>
        <a:sx n="33" d="100"/>
        <a:sy n="33" d="100"/>
      </p:scale>
      <p:origin x="0" y="1338"/>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3048000" cy="463550"/>
          </a:xfrm>
          <a:prstGeom prst="rect">
            <a:avLst/>
          </a:prstGeom>
          <a:noFill/>
          <a:ln w="9525">
            <a:noFill/>
            <a:miter lim="800000"/>
            <a:headEnd/>
            <a:tailEnd/>
          </a:ln>
          <a:effectLst/>
        </p:spPr>
        <p:txBody>
          <a:bodyPr vert="horz" wrap="square" lIns="93241" tIns="46621" rIns="93241" bIns="46621" numCol="1" anchor="t" anchorCtr="0" compatLnSpc="1">
            <a:prstTxWarp prst="textNoShape">
              <a:avLst/>
            </a:prstTxWarp>
          </a:bodyPr>
          <a:lstStyle>
            <a:lvl1pPr defTabSz="931863">
              <a:defRPr sz="1200">
                <a:ea typeface="+mn-ea"/>
                <a:cs typeface="+mn-cs"/>
              </a:defRPr>
            </a:lvl1pPr>
          </a:lstStyle>
          <a:p>
            <a:pPr>
              <a:defRPr/>
            </a:pPr>
            <a:endParaRPr lang="en-US"/>
          </a:p>
        </p:txBody>
      </p:sp>
      <p:sp>
        <p:nvSpPr>
          <p:cNvPr id="31747" name="Rectangle 3"/>
          <p:cNvSpPr>
            <a:spLocks noGrp="1" noChangeArrowheads="1"/>
          </p:cNvSpPr>
          <p:nvPr>
            <p:ph type="dt" idx="1"/>
          </p:nvPr>
        </p:nvSpPr>
        <p:spPr bwMode="auto">
          <a:xfrm>
            <a:off x="3984625" y="0"/>
            <a:ext cx="3048000" cy="463550"/>
          </a:xfrm>
          <a:prstGeom prst="rect">
            <a:avLst/>
          </a:prstGeom>
          <a:noFill/>
          <a:ln w="9525">
            <a:noFill/>
            <a:miter lim="800000"/>
            <a:headEnd/>
            <a:tailEnd/>
          </a:ln>
          <a:effectLst/>
        </p:spPr>
        <p:txBody>
          <a:bodyPr vert="horz" wrap="square" lIns="93241" tIns="46621" rIns="93241" bIns="46621" numCol="1" anchor="t" anchorCtr="0" compatLnSpc="1">
            <a:prstTxWarp prst="textNoShape">
              <a:avLst/>
            </a:prstTxWarp>
          </a:bodyPr>
          <a:lstStyle>
            <a:lvl1pPr algn="r" defTabSz="931863">
              <a:defRPr sz="1200">
                <a:ea typeface="+mn-ea"/>
                <a:cs typeface="+mn-cs"/>
              </a:defRPr>
            </a:lvl1pPr>
          </a:lstStyle>
          <a:p>
            <a:pPr>
              <a:defRPr/>
            </a:pPr>
            <a:endParaRPr lang="en-US"/>
          </a:p>
        </p:txBody>
      </p:sp>
      <p:sp>
        <p:nvSpPr>
          <p:cNvPr id="16388" name="Rectangle 4"/>
          <p:cNvSpPr>
            <a:spLocks noGrp="1" noRot="1" noChangeAspect="1" noChangeArrowheads="1" noTextEdit="1"/>
          </p:cNvSpPr>
          <p:nvPr>
            <p:ph type="sldImg" idx="2"/>
          </p:nvPr>
        </p:nvSpPr>
        <p:spPr bwMode="auto">
          <a:xfrm>
            <a:off x="1196975" y="696913"/>
            <a:ext cx="4641850" cy="3481387"/>
          </a:xfrm>
          <a:prstGeom prst="rect">
            <a:avLst/>
          </a:prstGeom>
          <a:noFill/>
          <a:ln w="9525">
            <a:solidFill>
              <a:srgbClr val="000000"/>
            </a:solidFill>
            <a:miter lim="800000"/>
            <a:headEnd/>
            <a:tailEnd/>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31749" name="Rectangle 5"/>
          <p:cNvSpPr>
            <a:spLocks noGrp="1" noChangeArrowheads="1"/>
          </p:cNvSpPr>
          <p:nvPr>
            <p:ph type="body" sz="quarter" idx="3"/>
          </p:nvPr>
        </p:nvSpPr>
        <p:spPr bwMode="auto">
          <a:xfrm>
            <a:off x="703263" y="4410075"/>
            <a:ext cx="5627687" cy="4176713"/>
          </a:xfrm>
          <a:prstGeom prst="rect">
            <a:avLst/>
          </a:prstGeom>
          <a:noFill/>
          <a:ln w="9525">
            <a:noFill/>
            <a:miter lim="800000"/>
            <a:headEnd/>
            <a:tailEnd/>
          </a:ln>
          <a:effectLst/>
        </p:spPr>
        <p:txBody>
          <a:bodyPr vert="horz" wrap="square" lIns="93241" tIns="46621" rIns="93241" bIns="4662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1750" name="Rectangle 6"/>
          <p:cNvSpPr>
            <a:spLocks noGrp="1" noChangeArrowheads="1"/>
          </p:cNvSpPr>
          <p:nvPr>
            <p:ph type="ftr" sz="quarter" idx="4"/>
          </p:nvPr>
        </p:nvSpPr>
        <p:spPr bwMode="auto">
          <a:xfrm>
            <a:off x="0" y="8818563"/>
            <a:ext cx="3048000" cy="463550"/>
          </a:xfrm>
          <a:prstGeom prst="rect">
            <a:avLst/>
          </a:prstGeom>
          <a:noFill/>
          <a:ln w="9525">
            <a:noFill/>
            <a:miter lim="800000"/>
            <a:headEnd/>
            <a:tailEnd/>
          </a:ln>
          <a:effectLst/>
        </p:spPr>
        <p:txBody>
          <a:bodyPr vert="horz" wrap="square" lIns="93241" tIns="46621" rIns="93241" bIns="46621" numCol="1" anchor="b" anchorCtr="0" compatLnSpc="1">
            <a:prstTxWarp prst="textNoShape">
              <a:avLst/>
            </a:prstTxWarp>
          </a:bodyPr>
          <a:lstStyle>
            <a:lvl1pPr defTabSz="931863">
              <a:defRPr sz="1200">
                <a:ea typeface="+mn-ea"/>
                <a:cs typeface="+mn-cs"/>
              </a:defRPr>
            </a:lvl1pPr>
          </a:lstStyle>
          <a:p>
            <a:pPr>
              <a:defRPr/>
            </a:pPr>
            <a:endParaRPr lang="en-US"/>
          </a:p>
        </p:txBody>
      </p:sp>
      <p:sp>
        <p:nvSpPr>
          <p:cNvPr id="31751" name="Rectangle 7"/>
          <p:cNvSpPr>
            <a:spLocks noGrp="1" noChangeArrowheads="1"/>
          </p:cNvSpPr>
          <p:nvPr>
            <p:ph type="sldNum" sz="quarter" idx="5"/>
          </p:nvPr>
        </p:nvSpPr>
        <p:spPr bwMode="auto">
          <a:xfrm>
            <a:off x="3984625" y="8818563"/>
            <a:ext cx="3048000" cy="463550"/>
          </a:xfrm>
          <a:prstGeom prst="rect">
            <a:avLst/>
          </a:prstGeom>
          <a:noFill/>
          <a:ln w="9525">
            <a:noFill/>
            <a:miter lim="800000"/>
            <a:headEnd/>
            <a:tailEnd/>
          </a:ln>
          <a:effectLst/>
        </p:spPr>
        <p:txBody>
          <a:bodyPr vert="horz" wrap="square" lIns="93241" tIns="46621" rIns="93241" bIns="46621" numCol="1" anchor="b" anchorCtr="0" compatLnSpc="1">
            <a:prstTxWarp prst="textNoShape">
              <a:avLst/>
            </a:prstTxWarp>
          </a:bodyPr>
          <a:lstStyle>
            <a:lvl1pPr algn="r" defTabSz="931863">
              <a:defRPr sz="1200">
                <a:cs typeface="+mn-cs"/>
              </a:defRPr>
            </a:lvl1pPr>
          </a:lstStyle>
          <a:p>
            <a:pPr>
              <a:defRPr/>
            </a:pPr>
            <a:fld id="{3DE8CADA-B7C0-5641-AB52-B1E11B8563F1}" type="slidenum">
              <a:rPr lang="en-US"/>
              <a:pPr>
                <a:defRPr/>
              </a:pPr>
              <a:t>‹#›</a:t>
            </a:fld>
            <a:endParaRPr lang="en-US"/>
          </a:p>
        </p:txBody>
      </p:sp>
    </p:spTree>
    <p:extLst>
      <p:ext uri="{BB962C8B-B14F-4D97-AF65-F5344CB8AC3E}">
        <p14:creationId xmlns:p14="http://schemas.microsoft.com/office/powerpoint/2010/main" val="12887491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1863" eaLnBrk="0" hangingPunct="0">
              <a:defRPr sz="2400">
                <a:solidFill>
                  <a:schemeClr val="tx1"/>
                </a:solidFill>
                <a:latin typeface="Arial" charset="0"/>
                <a:ea typeface="ＭＳ Ｐゴシック" charset="0"/>
                <a:cs typeface="ＭＳ Ｐゴシック" charset="0"/>
              </a:defRPr>
            </a:lvl1pPr>
            <a:lvl2pPr marL="742950" indent="-285750" defTabSz="931863" eaLnBrk="0" hangingPunct="0">
              <a:defRPr sz="2400">
                <a:solidFill>
                  <a:schemeClr val="tx1"/>
                </a:solidFill>
                <a:latin typeface="Arial" charset="0"/>
                <a:ea typeface="ＭＳ Ｐゴシック" charset="0"/>
              </a:defRPr>
            </a:lvl2pPr>
            <a:lvl3pPr marL="1143000" indent="-228600" defTabSz="931863" eaLnBrk="0" hangingPunct="0">
              <a:defRPr sz="2400">
                <a:solidFill>
                  <a:schemeClr val="tx1"/>
                </a:solidFill>
                <a:latin typeface="Arial" charset="0"/>
                <a:ea typeface="ＭＳ Ｐゴシック" charset="0"/>
              </a:defRPr>
            </a:lvl3pPr>
            <a:lvl4pPr marL="1600200" indent="-228600" defTabSz="931863" eaLnBrk="0" hangingPunct="0">
              <a:defRPr sz="2400">
                <a:solidFill>
                  <a:schemeClr val="tx1"/>
                </a:solidFill>
                <a:latin typeface="Arial" charset="0"/>
                <a:ea typeface="ＭＳ Ｐゴシック" charset="0"/>
              </a:defRPr>
            </a:lvl4pPr>
            <a:lvl5pPr marL="2057400" indent="-228600" defTabSz="931863" eaLnBrk="0" hangingPunct="0">
              <a:defRPr sz="2400">
                <a:solidFill>
                  <a:schemeClr val="tx1"/>
                </a:solidFill>
                <a:latin typeface="Arial" charset="0"/>
                <a:ea typeface="ＭＳ Ｐゴシック" charset="0"/>
              </a:defRPr>
            </a:lvl5pPr>
            <a:lvl6pPr marL="2514600" indent="-228600" defTabSz="93186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93186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93186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93186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B1E92A7-6C67-5849-B134-14A4E4D39B18}" type="slidenum">
              <a:rPr lang="en-US" sz="1200"/>
              <a:pPr eaLnBrk="1" hangingPunct="1"/>
              <a:t>1</a:t>
            </a:fld>
            <a:endParaRPr lang="en-US" sz="1200"/>
          </a:p>
        </p:txBody>
      </p:sp>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590335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ChangeArrowheads="1" noTextEdit="1"/>
          </p:cNvSpPr>
          <p:nvPr>
            <p:ph type="sldImg"/>
          </p:nvPr>
        </p:nvSpPr>
        <p:spPr>
          <a:xfrm>
            <a:off x="1195388" y="695325"/>
            <a:ext cx="4641850" cy="3481388"/>
          </a:xfrm>
          <a:ln/>
        </p:spPr>
      </p:sp>
      <p:sp>
        <p:nvSpPr>
          <p:cNvPr id="20482" name="Rectangle 3"/>
          <p:cNvSpPr>
            <a:spLocks noGrp="1" noChangeArrowheads="1"/>
          </p:cNvSpPr>
          <p:nvPr>
            <p:ph type="body" idx="1"/>
          </p:nvPr>
        </p:nvSpPr>
        <p:spPr>
          <a:xfrm>
            <a:off x="703263" y="4410075"/>
            <a:ext cx="5627687" cy="4178300"/>
          </a:xfrm>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513937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Need to control the heating</a:t>
            </a:r>
            <a:r>
              <a:rPr lang="en-US" baseline="0" dirty="0" smtClean="0"/>
              <a:t>, ventilation and air conditioning in a more energy-efficient way.</a:t>
            </a:r>
            <a:endParaRPr lang="en-US" dirty="0"/>
          </a:p>
        </p:txBody>
      </p:sp>
      <p:sp>
        <p:nvSpPr>
          <p:cNvPr id="4" name="Slide Number Placeholder 3"/>
          <p:cNvSpPr>
            <a:spLocks noGrp="1"/>
          </p:cNvSpPr>
          <p:nvPr>
            <p:ph type="sldNum" sz="quarter" idx="10"/>
          </p:nvPr>
        </p:nvSpPr>
        <p:spPr/>
        <p:txBody>
          <a:bodyPr/>
          <a:lstStyle/>
          <a:p>
            <a:pPr>
              <a:defRPr/>
            </a:pPr>
            <a:fld id="{3DE8CADA-B7C0-5641-AB52-B1E11B8563F1}" type="slidenum">
              <a:rPr lang="en-US" smtClean="0"/>
              <a:pPr>
                <a:defRPr/>
              </a:pPr>
              <a:t>3</a:t>
            </a:fld>
            <a:endParaRPr lang="en-US"/>
          </a:p>
        </p:txBody>
      </p:sp>
    </p:spTree>
    <p:extLst>
      <p:ext uri="{BB962C8B-B14F-4D97-AF65-F5344CB8AC3E}">
        <p14:creationId xmlns:p14="http://schemas.microsoft.com/office/powerpoint/2010/main" val="45424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a:ln/>
        </p:spPr>
      </p:sp>
      <p:sp>
        <p:nvSpPr>
          <p:cNvPr id="22530" name="Notes Placeholder 2"/>
          <p:cNvSpPr>
            <a:spLocks noGrp="1"/>
          </p:cNvSpPr>
          <p:nvPr>
            <p:ph type="body" idx="1"/>
          </p:nvPr>
        </p:nvSpPr>
        <p:spPr>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531"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1863" eaLnBrk="0" hangingPunct="0">
              <a:defRPr sz="2400">
                <a:solidFill>
                  <a:schemeClr val="tx1"/>
                </a:solidFill>
                <a:latin typeface="Arial" charset="0"/>
                <a:ea typeface="ＭＳ Ｐゴシック" charset="0"/>
                <a:cs typeface="ＭＳ Ｐゴシック" charset="0"/>
              </a:defRPr>
            </a:lvl1pPr>
            <a:lvl2pPr marL="742950" indent="-285750" defTabSz="931863" eaLnBrk="0" hangingPunct="0">
              <a:defRPr sz="2400">
                <a:solidFill>
                  <a:schemeClr val="tx1"/>
                </a:solidFill>
                <a:latin typeface="Arial" charset="0"/>
                <a:ea typeface="ＭＳ Ｐゴシック" charset="0"/>
              </a:defRPr>
            </a:lvl2pPr>
            <a:lvl3pPr marL="1143000" indent="-228600" defTabSz="931863" eaLnBrk="0" hangingPunct="0">
              <a:defRPr sz="2400">
                <a:solidFill>
                  <a:schemeClr val="tx1"/>
                </a:solidFill>
                <a:latin typeface="Arial" charset="0"/>
                <a:ea typeface="ＭＳ Ｐゴシック" charset="0"/>
              </a:defRPr>
            </a:lvl3pPr>
            <a:lvl4pPr marL="1600200" indent="-228600" defTabSz="931863" eaLnBrk="0" hangingPunct="0">
              <a:defRPr sz="2400">
                <a:solidFill>
                  <a:schemeClr val="tx1"/>
                </a:solidFill>
                <a:latin typeface="Arial" charset="0"/>
                <a:ea typeface="ＭＳ Ｐゴシック" charset="0"/>
              </a:defRPr>
            </a:lvl4pPr>
            <a:lvl5pPr marL="2057400" indent="-228600" defTabSz="931863" eaLnBrk="0" hangingPunct="0">
              <a:defRPr sz="2400">
                <a:solidFill>
                  <a:schemeClr val="tx1"/>
                </a:solidFill>
                <a:latin typeface="Arial" charset="0"/>
                <a:ea typeface="ＭＳ Ｐゴシック" charset="0"/>
              </a:defRPr>
            </a:lvl5pPr>
            <a:lvl6pPr marL="2514600" indent="-228600" defTabSz="93186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93186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93186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93186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E15CF5F-B729-3345-B54D-073602371DDE}" type="slidenum">
              <a:rPr lang="en-US" sz="1200"/>
              <a:pPr eaLnBrk="1" hangingPunct="1"/>
              <a:t>4</a:t>
            </a:fld>
            <a:endParaRPr lang="en-US" sz="1200"/>
          </a:p>
        </p:txBody>
      </p:sp>
    </p:spTree>
    <p:extLst>
      <p:ext uri="{BB962C8B-B14F-4D97-AF65-F5344CB8AC3E}">
        <p14:creationId xmlns:p14="http://schemas.microsoft.com/office/powerpoint/2010/main" val="204102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Rot="1" noChangeAspect="1" noChangeArrowheads="1" noTextEdit="1"/>
          </p:cNvSpPr>
          <p:nvPr>
            <p:ph type="sldImg"/>
          </p:nvPr>
        </p:nvSpPr>
        <p:spPr>
          <a:ln/>
        </p:spPr>
      </p:sp>
      <p:sp>
        <p:nvSpPr>
          <p:cNvPr id="276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i="1" smtClean="0"/>
              <a:t>A </a:t>
            </a:r>
            <a:r>
              <a:rPr lang="en-US" altLang="zh-CN" smtClean="0"/>
              <a:t>is a stable matrix. The sequences w, and </a:t>
            </a:r>
            <a:r>
              <a:rPr lang="en-US" altLang="zh-CN" b="1" i="1" smtClean="0"/>
              <a:t>v </a:t>
            </a:r>
            <a:r>
              <a:rPr lang="en-US" altLang="zh-CN" smtClean="0"/>
              <a:t>are stationary zero-mean white noise sequences. Only the</a:t>
            </a:r>
          </a:p>
          <a:p>
            <a:r>
              <a:rPr lang="en-US" altLang="zh-CN" smtClean="0"/>
              <a:t>sequences y and </a:t>
            </a:r>
            <a:r>
              <a:rPr lang="en-US" altLang="zh-CN" b="1" i="1" smtClean="0"/>
              <a:t>U </a:t>
            </a:r>
            <a:r>
              <a:rPr lang="en-US" altLang="zh-CN" smtClean="0"/>
              <a:t>are measured. </a:t>
            </a:r>
            <a:r>
              <a:rPr lang="en-US" altLang="zh-CN" b="1" i="1" smtClean="0"/>
              <a:t>Our </a:t>
            </a:r>
            <a:r>
              <a:rPr lang="en-US" altLang="zh-CN" smtClean="0"/>
              <a:t>goal is to use the measured y and </a:t>
            </a:r>
            <a:r>
              <a:rPr lang="en-US" altLang="zh-CN" b="1" i="1" smtClean="0"/>
              <a:t>U </a:t>
            </a:r>
            <a:r>
              <a:rPr lang="en-US" altLang="zh-CN" smtClean="0"/>
              <a:t>to identify unbiased system matrices</a:t>
            </a:r>
          </a:p>
          <a:p>
            <a:r>
              <a:rPr lang="en-US" altLang="zh-CN" b="1" i="1" smtClean="0"/>
              <a:t>(A, B", </a:t>
            </a:r>
            <a:r>
              <a:rPr lang="en-US" altLang="zh-CN" smtClean="0"/>
              <a:t>C).</a:t>
            </a:r>
          </a:p>
          <a:p>
            <a:r>
              <a:rPr lang="en-US" altLang="zh-CN" smtClean="0"/>
              <a:t>recursive least-squares (RLS) estimation.</a:t>
            </a:r>
          </a:p>
          <a:p>
            <a:endParaRPr lang="en-US" altLang="zh-CN" smtClean="0"/>
          </a:p>
          <a:p>
            <a:endParaRPr lang="zh-CN" altLang="en-US" smtClean="0"/>
          </a:p>
        </p:txBody>
      </p:sp>
    </p:spTree>
    <p:extLst>
      <p:ext uri="{BB962C8B-B14F-4D97-AF65-F5344CB8AC3E}">
        <p14:creationId xmlns:p14="http://schemas.microsoft.com/office/powerpoint/2010/main" val="217927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Rot="1" noChangeAspect="1" noChangeArrowheads="1" noTextEdit="1"/>
          </p:cNvSpPr>
          <p:nvPr>
            <p:ph type="sldImg"/>
          </p:nvPr>
        </p:nvSpPr>
        <p:spPr>
          <a:ln/>
        </p:spPr>
      </p:sp>
      <p:sp>
        <p:nvSpPr>
          <p:cNvPr id="2754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This figure illustrates the basic steps in subspace identification of a state space model of a linear time invariant</a:t>
            </a:r>
          </a:p>
          <a:p>
            <a:r>
              <a:rPr lang="en-US" altLang="zh-CN" smtClean="0"/>
              <a:t>(LTI) system.</a:t>
            </a:r>
          </a:p>
          <a:p>
            <a:endParaRPr lang="zh-CN" altLang="en-US" smtClean="0"/>
          </a:p>
        </p:txBody>
      </p:sp>
    </p:spTree>
    <p:extLst>
      <p:ext uri="{BB962C8B-B14F-4D97-AF65-F5344CB8AC3E}">
        <p14:creationId xmlns:p14="http://schemas.microsoft.com/office/powerpoint/2010/main" val="750167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Rot="1" noChangeAspect="1" noChangeArrowheads="1" noTextEdit="1"/>
          </p:cNvSpPr>
          <p:nvPr>
            <p:ph type="sldImg"/>
          </p:nvPr>
        </p:nvSpPr>
        <p:spPr>
          <a:xfrm>
            <a:off x="1195388" y="695325"/>
            <a:ext cx="4641850" cy="3481388"/>
          </a:xfrm>
          <a:ln/>
        </p:spPr>
      </p:sp>
      <p:sp>
        <p:nvSpPr>
          <p:cNvPr id="24578" name="Rectangle 3"/>
          <p:cNvSpPr>
            <a:spLocks noGrp="1" noChangeArrowheads="1"/>
          </p:cNvSpPr>
          <p:nvPr>
            <p:ph type="body" idx="1"/>
          </p:nvPr>
        </p:nvSpPr>
        <p:spPr>
          <a:xfrm>
            <a:off x="703263" y="4410075"/>
            <a:ext cx="5627687" cy="4178300"/>
          </a:xfrm>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595311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41"/>
          <p:cNvSpPr>
            <a:spLocks noChangeShapeType="1"/>
          </p:cNvSpPr>
          <p:nvPr userDrawn="1"/>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 name="Line 47"/>
          <p:cNvSpPr>
            <a:spLocks noChangeShapeType="1"/>
          </p:cNvSpPr>
          <p:nvPr userDrawn="1"/>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pic>
        <p:nvPicPr>
          <p:cNvPr id="6" name="Picture 48" descr="ucr_seal"/>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43800" y="914400"/>
            <a:ext cx="1219200" cy="1219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49" descr="ucr_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4763"/>
            <a:ext cx="1676400" cy="503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3594" name="Rectangle 42"/>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23595" name="Rectangle 43"/>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8" name="Rectangle 44"/>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en-US"/>
          </a:p>
        </p:txBody>
      </p:sp>
      <p:sp>
        <p:nvSpPr>
          <p:cNvPr id="9" name="Rectangle 46"/>
          <p:cNvSpPr>
            <a:spLocks noGrp="1" noChangeArrowheads="1"/>
          </p:cNvSpPr>
          <p:nvPr>
            <p:ph type="sldNum" sz="quarter" idx="11"/>
          </p:nvPr>
        </p:nvSpPr>
        <p:spPr>
          <a:xfrm>
            <a:off x="6553200" y="6248400"/>
            <a:ext cx="2133600" cy="457200"/>
          </a:xfrm>
        </p:spPr>
        <p:txBody>
          <a:bodyPr/>
          <a:lstStyle>
            <a:lvl1pPr>
              <a:defRPr/>
            </a:lvl1pPr>
          </a:lstStyle>
          <a:p>
            <a:pPr>
              <a:defRPr/>
            </a:pPr>
            <a:fld id="{6170F3D8-6F41-6240-A086-0A35E254049F}" type="slidenum">
              <a:rPr lang="en-US"/>
              <a:pPr>
                <a:defRPr/>
              </a:pPr>
              <a:t>‹#›</a:t>
            </a:fld>
            <a:endParaRPr lang="en-US"/>
          </a:p>
        </p:txBody>
      </p:sp>
    </p:spTree>
    <p:extLst>
      <p:ext uri="{BB962C8B-B14F-4D97-AF65-F5344CB8AC3E}">
        <p14:creationId xmlns:p14="http://schemas.microsoft.com/office/powerpoint/2010/main" val="1468457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44"/>
          <p:cNvSpPr>
            <a:spLocks noGrp="1" noChangeArrowheads="1"/>
          </p:cNvSpPr>
          <p:nvPr>
            <p:ph type="sldNum" sz="quarter" idx="11"/>
          </p:nvPr>
        </p:nvSpPr>
        <p:spPr>
          <a:ln/>
        </p:spPr>
        <p:txBody>
          <a:bodyPr/>
          <a:lstStyle>
            <a:lvl1pPr>
              <a:defRPr/>
            </a:lvl1pPr>
          </a:lstStyle>
          <a:p>
            <a:pPr>
              <a:defRPr/>
            </a:pPr>
            <a:fld id="{AA90726C-FA00-A04A-B941-1A020A7C9675}" type="slidenum">
              <a:rPr lang="en-US"/>
              <a:pPr>
                <a:defRPr/>
              </a:pPr>
              <a:t>‹#›</a:t>
            </a:fld>
            <a:endParaRPr lang="en-US"/>
          </a:p>
        </p:txBody>
      </p:sp>
    </p:spTree>
    <p:extLst>
      <p:ext uri="{BB962C8B-B14F-4D97-AF65-F5344CB8AC3E}">
        <p14:creationId xmlns:p14="http://schemas.microsoft.com/office/powerpoint/2010/main" val="3513877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44"/>
          <p:cNvSpPr>
            <a:spLocks noGrp="1" noChangeArrowheads="1"/>
          </p:cNvSpPr>
          <p:nvPr>
            <p:ph type="sldNum" sz="quarter" idx="11"/>
          </p:nvPr>
        </p:nvSpPr>
        <p:spPr>
          <a:ln/>
        </p:spPr>
        <p:txBody>
          <a:bodyPr/>
          <a:lstStyle>
            <a:lvl1pPr>
              <a:defRPr/>
            </a:lvl1pPr>
          </a:lstStyle>
          <a:p>
            <a:pPr>
              <a:defRPr/>
            </a:pPr>
            <a:fld id="{340F53B5-8FB6-DE47-A7DA-E03D06273221}" type="slidenum">
              <a:rPr lang="en-US"/>
              <a:pPr>
                <a:defRPr/>
              </a:pPr>
              <a:t>‹#›</a:t>
            </a:fld>
            <a:endParaRPr lang="en-US"/>
          </a:p>
        </p:txBody>
      </p:sp>
    </p:spTree>
    <p:extLst>
      <p:ext uri="{BB962C8B-B14F-4D97-AF65-F5344CB8AC3E}">
        <p14:creationId xmlns:p14="http://schemas.microsoft.com/office/powerpoint/2010/main" val="480915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44"/>
          <p:cNvSpPr>
            <a:spLocks noGrp="1" noChangeArrowheads="1"/>
          </p:cNvSpPr>
          <p:nvPr>
            <p:ph type="sldNum" sz="quarter" idx="11"/>
          </p:nvPr>
        </p:nvSpPr>
        <p:spPr>
          <a:ln/>
        </p:spPr>
        <p:txBody>
          <a:bodyPr/>
          <a:lstStyle>
            <a:lvl1pPr>
              <a:defRPr/>
            </a:lvl1pPr>
          </a:lstStyle>
          <a:p>
            <a:pPr>
              <a:defRPr/>
            </a:pPr>
            <a:fld id="{07F86CE9-8139-0A4C-AC44-8689978B552F}" type="slidenum">
              <a:rPr lang="en-US"/>
              <a:pPr>
                <a:defRPr/>
              </a:pPr>
              <a:t>‹#›</a:t>
            </a:fld>
            <a:endParaRPr lang="en-US"/>
          </a:p>
        </p:txBody>
      </p:sp>
    </p:spTree>
    <p:extLst>
      <p:ext uri="{BB962C8B-B14F-4D97-AF65-F5344CB8AC3E}">
        <p14:creationId xmlns:p14="http://schemas.microsoft.com/office/powerpoint/2010/main" val="232834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44"/>
          <p:cNvSpPr>
            <a:spLocks noGrp="1" noChangeArrowheads="1"/>
          </p:cNvSpPr>
          <p:nvPr>
            <p:ph type="sldNum" sz="quarter" idx="11"/>
          </p:nvPr>
        </p:nvSpPr>
        <p:spPr>
          <a:ln/>
        </p:spPr>
        <p:txBody>
          <a:bodyPr/>
          <a:lstStyle>
            <a:lvl1pPr>
              <a:defRPr/>
            </a:lvl1pPr>
          </a:lstStyle>
          <a:p>
            <a:pPr>
              <a:defRPr/>
            </a:pPr>
            <a:fld id="{37100582-73FE-E347-963D-C81AB7279706}" type="slidenum">
              <a:rPr lang="en-US"/>
              <a:pPr>
                <a:defRPr/>
              </a:pPr>
              <a:t>‹#›</a:t>
            </a:fld>
            <a:endParaRPr lang="en-US"/>
          </a:p>
        </p:txBody>
      </p:sp>
    </p:spTree>
    <p:extLst>
      <p:ext uri="{BB962C8B-B14F-4D97-AF65-F5344CB8AC3E}">
        <p14:creationId xmlns:p14="http://schemas.microsoft.com/office/powerpoint/2010/main" val="1932684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44"/>
          <p:cNvSpPr>
            <a:spLocks noGrp="1" noChangeArrowheads="1"/>
          </p:cNvSpPr>
          <p:nvPr>
            <p:ph type="sldNum" sz="quarter" idx="11"/>
          </p:nvPr>
        </p:nvSpPr>
        <p:spPr>
          <a:ln/>
        </p:spPr>
        <p:txBody>
          <a:bodyPr/>
          <a:lstStyle>
            <a:lvl1pPr>
              <a:defRPr/>
            </a:lvl1pPr>
          </a:lstStyle>
          <a:p>
            <a:pPr>
              <a:defRPr/>
            </a:pPr>
            <a:fld id="{DF14457F-4FE2-144E-B086-C306CC90BC4E}" type="slidenum">
              <a:rPr lang="en-US"/>
              <a:pPr>
                <a:defRPr/>
              </a:pPr>
              <a:t>‹#›</a:t>
            </a:fld>
            <a:endParaRPr lang="en-US"/>
          </a:p>
        </p:txBody>
      </p:sp>
    </p:spTree>
    <p:extLst>
      <p:ext uri="{BB962C8B-B14F-4D97-AF65-F5344CB8AC3E}">
        <p14:creationId xmlns:p14="http://schemas.microsoft.com/office/powerpoint/2010/main" val="2613301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44"/>
          <p:cNvSpPr>
            <a:spLocks noGrp="1" noChangeArrowheads="1"/>
          </p:cNvSpPr>
          <p:nvPr>
            <p:ph type="sldNum" sz="quarter" idx="11"/>
          </p:nvPr>
        </p:nvSpPr>
        <p:spPr>
          <a:ln/>
        </p:spPr>
        <p:txBody>
          <a:bodyPr/>
          <a:lstStyle>
            <a:lvl1pPr>
              <a:defRPr/>
            </a:lvl1pPr>
          </a:lstStyle>
          <a:p>
            <a:pPr>
              <a:defRPr/>
            </a:pPr>
            <a:fld id="{E1275C12-2B8C-354B-8AF7-6986DF3A6756}" type="slidenum">
              <a:rPr lang="en-US"/>
              <a:pPr>
                <a:defRPr/>
              </a:pPr>
              <a:t>‹#›</a:t>
            </a:fld>
            <a:endParaRPr lang="en-US"/>
          </a:p>
        </p:txBody>
      </p:sp>
    </p:spTree>
    <p:extLst>
      <p:ext uri="{BB962C8B-B14F-4D97-AF65-F5344CB8AC3E}">
        <p14:creationId xmlns:p14="http://schemas.microsoft.com/office/powerpoint/2010/main" val="3506667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44"/>
          <p:cNvSpPr>
            <a:spLocks noGrp="1" noChangeArrowheads="1"/>
          </p:cNvSpPr>
          <p:nvPr>
            <p:ph type="sldNum" sz="quarter" idx="11"/>
          </p:nvPr>
        </p:nvSpPr>
        <p:spPr>
          <a:ln/>
        </p:spPr>
        <p:txBody>
          <a:bodyPr/>
          <a:lstStyle>
            <a:lvl1pPr>
              <a:defRPr/>
            </a:lvl1pPr>
          </a:lstStyle>
          <a:p>
            <a:pPr>
              <a:defRPr/>
            </a:pPr>
            <a:fld id="{42249077-7A23-2147-AA6D-5754CC76EEDF}" type="slidenum">
              <a:rPr lang="en-US"/>
              <a:pPr>
                <a:defRPr/>
              </a:pPr>
              <a:t>‹#›</a:t>
            </a:fld>
            <a:endParaRPr lang="en-US"/>
          </a:p>
        </p:txBody>
      </p:sp>
    </p:spTree>
    <p:extLst>
      <p:ext uri="{BB962C8B-B14F-4D97-AF65-F5344CB8AC3E}">
        <p14:creationId xmlns:p14="http://schemas.microsoft.com/office/powerpoint/2010/main" val="2023405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44"/>
          <p:cNvSpPr>
            <a:spLocks noGrp="1" noChangeArrowheads="1"/>
          </p:cNvSpPr>
          <p:nvPr>
            <p:ph type="sldNum" sz="quarter" idx="11"/>
          </p:nvPr>
        </p:nvSpPr>
        <p:spPr>
          <a:ln/>
        </p:spPr>
        <p:txBody>
          <a:bodyPr/>
          <a:lstStyle>
            <a:lvl1pPr>
              <a:defRPr/>
            </a:lvl1pPr>
          </a:lstStyle>
          <a:p>
            <a:pPr>
              <a:defRPr/>
            </a:pPr>
            <a:fld id="{9197E3E7-515D-634F-B834-EE542A7BAB94}" type="slidenum">
              <a:rPr lang="en-US"/>
              <a:pPr>
                <a:defRPr/>
              </a:pPr>
              <a:t>‹#›</a:t>
            </a:fld>
            <a:endParaRPr lang="en-US"/>
          </a:p>
        </p:txBody>
      </p:sp>
    </p:spTree>
    <p:extLst>
      <p:ext uri="{BB962C8B-B14F-4D97-AF65-F5344CB8AC3E}">
        <p14:creationId xmlns:p14="http://schemas.microsoft.com/office/powerpoint/2010/main" val="1741117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44"/>
          <p:cNvSpPr>
            <a:spLocks noGrp="1" noChangeArrowheads="1"/>
          </p:cNvSpPr>
          <p:nvPr>
            <p:ph type="sldNum" sz="quarter" idx="11"/>
          </p:nvPr>
        </p:nvSpPr>
        <p:spPr>
          <a:ln/>
        </p:spPr>
        <p:txBody>
          <a:bodyPr/>
          <a:lstStyle>
            <a:lvl1pPr>
              <a:defRPr/>
            </a:lvl1pPr>
          </a:lstStyle>
          <a:p>
            <a:pPr>
              <a:defRPr/>
            </a:pPr>
            <a:fld id="{70096297-B9FF-404E-A688-8949BB106EAD}" type="slidenum">
              <a:rPr lang="en-US"/>
              <a:pPr>
                <a:defRPr/>
              </a:pPr>
              <a:t>‹#›</a:t>
            </a:fld>
            <a:endParaRPr lang="en-US"/>
          </a:p>
        </p:txBody>
      </p:sp>
    </p:spTree>
    <p:extLst>
      <p:ext uri="{BB962C8B-B14F-4D97-AF65-F5344CB8AC3E}">
        <p14:creationId xmlns:p14="http://schemas.microsoft.com/office/powerpoint/2010/main" val="3820814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44"/>
          <p:cNvSpPr>
            <a:spLocks noGrp="1" noChangeArrowheads="1"/>
          </p:cNvSpPr>
          <p:nvPr>
            <p:ph type="sldNum" sz="quarter" idx="11"/>
          </p:nvPr>
        </p:nvSpPr>
        <p:spPr>
          <a:ln/>
        </p:spPr>
        <p:txBody>
          <a:bodyPr/>
          <a:lstStyle>
            <a:lvl1pPr>
              <a:defRPr/>
            </a:lvl1pPr>
          </a:lstStyle>
          <a:p>
            <a:pPr>
              <a:defRPr/>
            </a:pPr>
            <a:fld id="{D650EBDF-C52C-1B49-A986-F844FAD9841A}" type="slidenum">
              <a:rPr lang="en-US"/>
              <a:pPr>
                <a:defRPr/>
              </a:pPr>
              <a:t>‹#›</a:t>
            </a:fld>
            <a:endParaRPr lang="en-US"/>
          </a:p>
        </p:txBody>
      </p:sp>
    </p:spTree>
    <p:extLst>
      <p:ext uri="{BB962C8B-B14F-4D97-AF65-F5344CB8AC3E}">
        <p14:creationId xmlns:p14="http://schemas.microsoft.com/office/powerpoint/2010/main" val="1867427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44"/>
          <p:cNvSpPr>
            <a:spLocks noGrp="1" noChangeArrowheads="1"/>
          </p:cNvSpPr>
          <p:nvPr>
            <p:ph type="sldNum" sz="quarter" idx="11"/>
          </p:nvPr>
        </p:nvSpPr>
        <p:spPr>
          <a:ln/>
        </p:spPr>
        <p:txBody>
          <a:bodyPr/>
          <a:lstStyle>
            <a:lvl1pPr>
              <a:defRPr/>
            </a:lvl1pPr>
          </a:lstStyle>
          <a:p>
            <a:pPr>
              <a:defRPr/>
            </a:pPr>
            <a:fld id="{ED55C78F-CB68-D943-A4C4-6699ED67FAF5}" type="slidenum">
              <a:rPr lang="en-US"/>
              <a:pPr>
                <a:defRPr/>
              </a:pPr>
              <a:t>‹#›</a:t>
            </a:fld>
            <a:endParaRPr lang="en-US"/>
          </a:p>
        </p:txBody>
      </p:sp>
    </p:spTree>
    <p:extLst>
      <p:ext uri="{BB962C8B-B14F-4D97-AF65-F5344CB8AC3E}">
        <p14:creationId xmlns:p14="http://schemas.microsoft.com/office/powerpoint/2010/main" val="7459288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772400" cy="868363"/>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228600" y="1295400"/>
            <a:ext cx="8686800" cy="4953000"/>
          </a:xfrm>
        </p:spPr>
        <p:txBody>
          <a:bodyPr/>
          <a:lstStyle/>
          <a:p>
            <a:pPr lvl="0"/>
            <a:endParaRPr lang="en-US" noProof="0"/>
          </a:p>
        </p:txBody>
      </p:sp>
      <p:sp>
        <p:nvSpPr>
          <p:cNvPr id="4"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44"/>
          <p:cNvSpPr>
            <a:spLocks noGrp="1" noChangeArrowheads="1"/>
          </p:cNvSpPr>
          <p:nvPr>
            <p:ph type="sldNum" sz="quarter" idx="11"/>
          </p:nvPr>
        </p:nvSpPr>
        <p:spPr>
          <a:ln/>
        </p:spPr>
        <p:txBody>
          <a:bodyPr/>
          <a:lstStyle>
            <a:lvl1pPr>
              <a:defRPr/>
            </a:lvl1pPr>
          </a:lstStyle>
          <a:p>
            <a:pPr>
              <a:defRPr/>
            </a:pPr>
            <a:fld id="{8D7BEF88-24B4-6243-B862-D85389D3F133}" type="slidenum">
              <a:rPr lang="en-US"/>
              <a:pPr>
                <a:defRPr/>
              </a:pPr>
              <a:t>‹#›</a:t>
            </a:fld>
            <a:endParaRPr lang="en-US"/>
          </a:p>
        </p:txBody>
      </p:sp>
    </p:spTree>
    <p:extLst>
      <p:ext uri="{BB962C8B-B14F-4D97-AF65-F5344CB8AC3E}">
        <p14:creationId xmlns:p14="http://schemas.microsoft.com/office/powerpoint/2010/main" val="4213400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772400" cy="868363"/>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28600" y="1295400"/>
            <a:ext cx="42672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295400"/>
            <a:ext cx="4267200" cy="2400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848100"/>
            <a:ext cx="4267200" cy="2400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2"/>
          <p:cNvSpPr>
            <a:spLocks noGrp="1" noChangeArrowheads="1"/>
          </p:cNvSpPr>
          <p:nvPr>
            <p:ph type="dt" sz="half" idx="10"/>
          </p:nvPr>
        </p:nvSpPr>
        <p:spPr>
          <a:ln/>
        </p:spPr>
        <p:txBody>
          <a:bodyPr/>
          <a:lstStyle>
            <a:lvl1pPr>
              <a:defRPr/>
            </a:lvl1pPr>
          </a:lstStyle>
          <a:p>
            <a:pPr>
              <a:defRPr/>
            </a:pPr>
            <a:endParaRPr lang="en-US" altLang="en-US"/>
          </a:p>
        </p:txBody>
      </p:sp>
      <p:sp>
        <p:nvSpPr>
          <p:cNvPr id="7" name="Rectangle 44"/>
          <p:cNvSpPr>
            <a:spLocks noGrp="1" noChangeArrowheads="1"/>
          </p:cNvSpPr>
          <p:nvPr>
            <p:ph type="sldNum" sz="quarter" idx="11"/>
          </p:nvPr>
        </p:nvSpPr>
        <p:spPr>
          <a:ln/>
        </p:spPr>
        <p:txBody>
          <a:bodyPr/>
          <a:lstStyle>
            <a:lvl1pPr>
              <a:defRPr/>
            </a:lvl1pPr>
          </a:lstStyle>
          <a:p>
            <a:pPr>
              <a:defRPr/>
            </a:pPr>
            <a:fld id="{AB9F14F3-1642-0C45-9B8F-616EF0A07D97}" type="slidenum">
              <a:rPr lang="en-US"/>
              <a:pPr>
                <a:defRPr/>
              </a:pPr>
              <a:t>‹#›</a:t>
            </a:fld>
            <a:endParaRPr lang="en-US"/>
          </a:p>
        </p:txBody>
      </p:sp>
    </p:spTree>
    <p:extLst>
      <p:ext uri="{BB962C8B-B14F-4D97-AF65-F5344CB8AC3E}">
        <p14:creationId xmlns:p14="http://schemas.microsoft.com/office/powerpoint/2010/main" val="23385153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772400" cy="868363"/>
          </a:xfrm>
        </p:spPr>
        <p:txBody>
          <a:bodyPr/>
          <a:lstStyle/>
          <a:p>
            <a:r>
              <a:rPr lang="en-US"/>
              <a:t>Click to edit Master title style</a:t>
            </a:r>
          </a:p>
        </p:txBody>
      </p:sp>
      <p:sp>
        <p:nvSpPr>
          <p:cNvPr id="3" name="Content Placeholder 2"/>
          <p:cNvSpPr>
            <a:spLocks noGrp="1"/>
          </p:cNvSpPr>
          <p:nvPr>
            <p:ph sz="half" idx="1"/>
          </p:nvPr>
        </p:nvSpPr>
        <p:spPr>
          <a:xfrm>
            <a:off x="228600" y="1295400"/>
            <a:ext cx="42672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295400"/>
            <a:ext cx="42672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48100"/>
            <a:ext cx="42672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400800"/>
            <a:ext cx="2133600" cy="304800"/>
          </a:xfrm>
        </p:spPr>
        <p:txBody>
          <a:bodyPr/>
          <a:lstStyle>
            <a:lvl1pPr>
              <a:defRPr/>
            </a:lvl1pPr>
          </a:lstStyle>
          <a:p>
            <a:endParaRPr lang="en-US" altLang="en-US"/>
          </a:p>
        </p:txBody>
      </p:sp>
      <p:sp>
        <p:nvSpPr>
          <p:cNvPr id="7" name="Slide Number Placeholder 6"/>
          <p:cNvSpPr>
            <a:spLocks noGrp="1"/>
          </p:cNvSpPr>
          <p:nvPr>
            <p:ph type="sldNum" sz="quarter" idx="11"/>
          </p:nvPr>
        </p:nvSpPr>
        <p:spPr>
          <a:xfrm>
            <a:off x="6553200" y="6324600"/>
            <a:ext cx="2133600" cy="381000"/>
          </a:xfrm>
        </p:spPr>
        <p:txBody>
          <a:bodyPr/>
          <a:lstStyle>
            <a:lvl1pPr>
              <a:defRPr/>
            </a:lvl1pPr>
          </a:lstStyle>
          <a:p>
            <a:fld id="{6A18959D-686C-4DB8-B8BA-4CE77B6E71AF}" type="slidenum">
              <a:rPr lang="en-US" altLang="en-US"/>
              <a:pPr/>
              <a:t>‹#›</a:t>
            </a:fld>
            <a:endParaRPr lang="en-US" altLang="en-US"/>
          </a:p>
        </p:txBody>
      </p:sp>
    </p:spTree>
    <p:extLst>
      <p:ext uri="{BB962C8B-B14F-4D97-AF65-F5344CB8AC3E}">
        <p14:creationId xmlns:p14="http://schemas.microsoft.com/office/powerpoint/2010/main" val="140249297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40"/>
          <p:cNvSpPr>
            <a:spLocks noGrp="1" noChangeArrowheads="1"/>
          </p:cNvSpPr>
          <p:nvPr>
            <p:ph type="title"/>
          </p:nvPr>
        </p:nvSpPr>
        <p:spPr bwMode="auto">
          <a:xfrm>
            <a:off x="228600" y="0"/>
            <a:ext cx="7772400" cy="868363"/>
          </a:xfrm>
          <a:prstGeom prst="rect">
            <a:avLst/>
          </a:prstGeom>
          <a:noFill/>
          <a:ln>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41"/>
          <p:cNvSpPr>
            <a:spLocks noGrp="1" noChangeArrowheads="1"/>
          </p:cNvSpPr>
          <p:nvPr>
            <p:ph type="body" idx="1"/>
          </p:nvPr>
        </p:nvSpPr>
        <p:spPr bwMode="auto">
          <a:xfrm>
            <a:off x="228600" y="1295400"/>
            <a:ext cx="8686800" cy="4953000"/>
          </a:xfrm>
          <a:prstGeom prst="rect">
            <a:avLst/>
          </a:prstGeom>
          <a:noFill/>
          <a:ln>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570" name="Rectangle 42"/>
          <p:cNvSpPr>
            <a:spLocks noGrp="1" noChangeArrowheads="1"/>
          </p:cNvSpPr>
          <p:nvPr>
            <p:ph type="dt" sz="half" idx="2"/>
          </p:nvPr>
        </p:nvSpPr>
        <p:spPr bwMode="auto">
          <a:xfrm>
            <a:off x="457200" y="6400800"/>
            <a:ext cx="2133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a typeface="+mn-ea"/>
                <a:cs typeface="+mn-cs"/>
              </a:defRPr>
            </a:lvl1pPr>
          </a:lstStyle>
          <a:p>
            <a:pPr>
              <a:defRPr/>
            </a:pPr>
            <a:endParaRPr lang="en-US" altLang="en-US"/>
          </a:p>
        </p:txBody>
      </p:sp>
      <p:sp>
        <p:nvSpPr>
          <p:cNvPr id="22572" name="Rectangle 44"/>
          <p:cNvSpPr>
            <a:spLocks noGrp="1" noChangeArrowheads="1"/>
          </p:cNvSpPr>
          <p:nvPr>
            <p:ph type="sldNum" sz="quarter" idx="4"/>
          </p:nvPr>
        </p:nvSpPr>
        <p:spPr bwMode="auto">
          <a:xfrm>
            <a:off x="6553200" y="6324600"/>
            <a:ext cx="21336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cs typeface="+mn-cs"/>
              </a:defRPr>
            </a:lvl1pPr>
          </a:lstStyle>
          <a:p>
            <a:pPr>
              <a:defRPr/>
            </a:pPr>
            <a:fld id="{1B0C86D5-2624-6D4E-8A5E-66DEED2A2B78}" type="slidenum">
              <a:rPr lang="en-US"/>
              <a:pPr>
                <a:defRPr/>
              </a:pPr>
              <a:t>‹#›</a:t>
            </a:fld>
            <a:endParaRPr lang="en-US"/>
          </a:p>
        </p:txBody>
      </p:sp>
      <p:pic>
        <p:nvPicPr>
          <p:cNvPr id="1030" name="Picture 45" descr="ucr_seal"/>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8001000" y="304800"/>
            <a:ext cx="952500" cy="952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7"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8" r:id="rId15"/>
  </p:sldLayoutIdLst>
  <p:timing>
    <p:tnLst>
      <p:par>
        <p:cTn id="1" dur="indefinite" restart="never" nodeType="tmRoot"/>
      </p:par>
    </p:tnLst>
  </p:timing>
  <p:txStyles>
    <p:titleStyle>
      <a:lvl1pPr algn="l" rtl="0" eaLnBrk="0" fontAlgn="base" hangingPunct="0">
        <a:spcBef>
          <a:spcPct val="0"/>
        </a:spcBef>
        <a:spcAft>
          <a:spcPct val="0"/>
        </a:spcAft>
        <a:defRPr sz="3900" b="1">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3900" b="1">
          <a:solidFill>
            <a:schemeClr val="tx2"/>
          </a:solidFill>
          <a:latin typeface="Arial" charset="0"/>
          <a:ea typeface="ＭＳ Ｐゴシック" charset="0"/>
          <a:cs typeface="ＭＳ Ｐゴシック" charset="0"/>
        </a:defRPr>
      </a:lvl2pPr>
      <a:lvl3pPr algn="l" rtl="0" eaLnBrk="0" fontAlgn="base" hangingPunct="0">
        <a:spcBef>
          <a:spcPct val="0"/>
        </a:spcBef>
        <a:spcAft>
          <a:spcPct val="0"/>
        </a:spcAft>
        <a:defRPr sz="3900" b="1">
          <a:solidFill>
            <a:schemeClr val="tx2"/>
          </a:solidFill>
          <a:latin typeface="Arial" charset="0"/>
          <a:ea typeface="ＭＳ Ｐゴシック" charset="0"/>
          <a:cs typeface="ＭＳ Ｐゴシック" charset="0"/>
        </a:defRPr>
      </a:lvl3pPr>
      <a:lvl4pPr algn="l" rtl="0" eaLnBrk="0" fontAlgn="base" hangingPunct="0">
        <a:spcBef>
          <a:spcPct val="0"/>
        </a:spcBef>
        <a:spcAft>
          <a:spcPct val="0"/>
        </a:spcAft>
        <a:defRPr sz="3900" b="1">
          <a:solidFill>
            <a:schemeClr val="tx2"/>
          </a:solidFill>
          <a:latin typeface="Arial" charset="0"/>
          <a:ea typeface="ＭＳ Ｐゴシック" charset="0"/>
          <a:cs typeface="ＭＳ Ｐゴシック" charset="0"/>
        </a:defRPr>
      </a:lvl4pPr>
      <a:lvl5pPr algn="l" rtl="0" eaLnBrk="0" fontAlgn="base" hangingPunct="0">
        <a:spcBef>
          <a:spcPct val="0"/>
        </a:spcBef>
        <a:spcAft>
          <a:spcPct val="0"/>
        </a:spcAft>
        <a:defRPr sz="3900" b="1">
          <a:solidFill>
            <a:schemeClr val="tx2"/>
          </a:solidFill>
          <a:latin typeface="Arial" charset="0"/>
          <a:ea typeface="ＭＳ Ｐゴシック" charset="0"/>
          <a:cs typeface="ＭＳ Ｐゴシック"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charset="0"/>
        <a:buChar char="l"/>
        <a:defRPr sz="3000">
          <a:solidFill>
            <a:srgbClr val="333300"/>
          </a:solidFill>
          <a:latin typeface="+mn-lt"/>
          <a:ea typeface="ＭＳ Ｐゴシック" charset="0"/>
          <a:cs typeface="ＭＳ Ｐゴシック" charset="0"/>
        </a:defRPr>
      </a:lvl1pPr>
      <a:lvl2pPr marL="692150" indent="-347663" algn="l" rtl="0" eaLnBrk="0" fontAlgn="base" hangingPunct="0">
        <a:spcBef>
          <a:spcPct val="20000"/>
        </a:spcBef>
        <a:spcAft>
          <a:spcPct val="0"/>
        </a:spcAft>
        <a:buClr>
          <a:schemeClr val="accent2"/>
        </a:buClr>
        <a:buSzPct val="70000"/>
        <a:buFont typeface="Wingdings" charset="0"/>
        <a:buChar char="l"/>
        <a:defRPr sz="2600">
          <a:solidFill>
            <a:srgbClr val="006699"/>
          </a:solidFill>
          <a:latin typeface="+mn-lt"/>
          <a:ea typeface="ＭＳ Ｐゴシック" charset="0"/>
        </a:defRPr>
      </a:lvl2pPr>
      <a:lvl3pPr marL="987425" indent="-293688" algn="l" rtl="0" eaLnBrk="0" fontAlgn="base" hangingPunct="0">
        <a:spcBef>
          <a:spcPct val="20000"/>
        </a:spcBef>
        <a:spcAft>
          <a:spcPct val="0"/>
        </a:spcAft>
        <a:buClr>
          <a:schemeClr val="accent1"/>
        </a:buClr>
        <a:buSzPct val="70000"/>
        <a:buFont typeface="Wingdings" charset="0"/>
        <a:buChar char="l"/>
        <a:defRPr sz="2300">
          <a:solidFill>
            <a:schemeClr val="hlink"/>
          </a:solidFill>
          <a:latin typeface="+mn-lt"/>
          <a:ea typeface="ＭＳ Ｐゴシック" charset="0"/>
        </a:defRPr>
      </a:lvl3pPr>
      <a:lvl4pPr marL="1281113" indent="-292100" algn="l" rtl="0" eaLnBrk="0" fontAlgn="base" hangingPunct="0">
        <a:spcBef>
          <a:spcPct val="20000"/>
        </a:spcBef>
        <a:spcAft>
          <a:spcPct val="0"/>
        </a:spcAft>
        <a:buClr>
          <a:schemeClr val="tx2"/>
        </a:buClr>
        <a:buSzPct val="75000"/>
        <a:buFont typeface="Wingdings" charset="0"/>
        <a:buChar char="§"/>
        <a:defRPr sz="2000">
          <a:solidFill>
            <a:srgbClr val="333300"/>
          </a:solidFill>
          <a:latin typeface="+mn-lt"/>
          <a:ea typeface="ＭＳ Ｐゴシック" charset="0"/>
        </a:defRPr>
      </a:lvl4pPr>
      <a:lvl5pPr marL="1598613" indent="-315913" algn="l" rtl="0" eaLnBrk="0" fontAlgn="base" hangingPunct="0">
        <a:spcBef>
          <a:spcPct val="20000"/>
        </a:spcBef>
        <a:spcAft>
          <a:spcPct val="0"/>
        </a:spcAft>
        <a:buClr>
          <a:schemeClr val="folHlink"/>
        </a:buClr>
        <a:buSzPct val="80000"/>
        <a:buFont typeface="Wingdings" charset="0"/>
        <a:buChar char="§"/>
        <a:defRPr sz="2000">
          <a:solidFill>
            <a:schemeClr val="tx1"/>
          </a:solidFill>
          <a:latin typeface="+mn-lt"/>
          <a:ea typeface="ＭＳ Ｐゴシック" charset="0"/>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4" Type="http://schemas.openxmlformats.org/officeDocument/2006/relationships/image" Target="../media/image12.png"/><Relationship Id="rId5" Type="http://schemas.openxmlformats.org/officeDocument/2006/relationships/oleObject" Target="../embeddings/oleObject1.bin"/><Relationship Id="rId6" Type="http://schemas.openxmlformats.org/officeDocument/2006/relationships/image" Target="../media/image9.wmf"/><Relationship Id="rId7" Type="http://schemas.openxmlformats.org/officeDocument/2006/relationships/image" Target="../media/image13.png"/><Relationship Id="rId8" Type="http://schemas.openxmlformats.org/officeDocument/2006/relationships/image" Target="../media/image14.png"/><Relationship Id="rId1" Type="http://schemas.openxmlformats.org/officeDocument/2006/relationships/vmlDrawing" Target="../drawings/vmlDrawing1.vml"/><Relationship Id="rId2"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1.png"/><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emf"/><Relationship Id="rId3" Type="http://schemas.openxmlformats.org/officeDocument/2006/relationships/image" Target="../media/image27.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Grp="1" noChangeArrowheads="1"/>
          </p:cNvSpPr>
          <p:nvPr>
            <p:ph type="subTitle" idx="1"/>
          </p:nvPr>
        </p:nvSpPr>
        <p:spPr>
          <a:xfrm>
            <a:off x="3124200" y="3200400"/>
            <a:ext cx="3973513" cy="2894013"/>
          </a:xfrm>
        </p:spPr>
        <p:txBody>
          <a:bodyPr/>
          <a:lstStyle/>
          <a:p>
            <a:pPr algn="ctr">
              <a:defRPr/>
            </a:pPr>
            <a:r>
              <a:rPr lang="en-US" sz="2000" dirty="0" smtClean="0">
                <a:cs typeface="+mn-cs"/>
              </a:rPr>
              <a:t>Daniel Quach, </a:t>
            </a:r>
            <a:r>
              <a:rPr lang="en-US" sz="2000" dirty="0" err="1" smtClean="0">
                <a:cs typeface="+mn-cs"/>
              </a:rPr>
              <a:t>Shujuan</a:t>
            </a:r>
            <a:r>
              <a:rPr lang="en-US" sz="2000" dirty="0" smtClean="0">
                <a:cs typeface="+mn-cs"/>
              </a:rPr>
              <a:t> Wang, Jian Ma, Hengyang Zhao, Hai Wang, Sheldon X.-D. Tan</a:t>
            </a:r>
          </a:p>
          <a:p>
            <a:pPr algn="ctr">
              <a:defRPr/>
            </a:pPr>
            <a:endParaRPr lang="en-US" sz="2000" b="1" dirty="0" smtClean="0">
              <a:solidFill>
                <a:srgbClr val="FF6600"/>
              </a:solidFill>
              <a:effectLst>
                <a:outerShdw blurRad="38100" dist="38100" dir="2700000" algn="tl">
                  <a:srgbClr val="C0C0C0"/>
                </a:outerShdw>
              </a:effectLst>
              <a:ea typeface="FangSong" pitchFamily="49" charset="-122"/>
              <a:cs typeface="Arial Unicode MS" pitchFamily="34" charset="-128"/>
            </a:endParaRPr>
          </a:p>
          <a:p>
            <a:pPr algn="ctr" eaLnBrk="1" hangingPunct="1">
              <a:lnSpc>
                <a:spcPct val="90000"/>
              </a:lnSpc>
              <a:defRPr/>
            </a:pPr>
            <a:r>
              <a:rPr lang="en-US" sz="2400" dirty="0" smtClean="0">
                <a:effectLst>
                  <a:outerShdw blurRad="38100" dist="38100" dir="2700000" algn="tl">
                    <a:srgbClr val="C0C0C0"/>
                  </a:outerShdw>
                </a:effectLst>
                <a:ea typeface="FangSong" pitchFamily="49" charset="-122"/>
                <a:cs typeface="Arial Unicode MS" pitchFamily="34" charset="-128"/>
              </a:rPr>
              <a:t>Department of Electrical and Computer Engineering </a:t>
            </a:r>
          </a:p>
          <a:p>
            <a:pPr algn="ctr" eaLnBrk="1" hangingPunct="1">
              <a:lnSpc>
                <a:spcPct val="90000"/>
              </a:lnSpc>
              <a:defRPr/>
            </a:pPr>
            <a:r>
              <a:rPr lang="en-US" sz="2400" dirty="0" smtClean="0">
                <a:effectLst>
                  <a:outerShdw blurRad="38100" dist="38100" dir="2700000" algn="tl">
                    <a:srgbClr val="C0C0C0"/>
                  </a:outerShdw>
                </a:effectLst>
                <a:ea typeface="FangSong" pitchFamily="49" charset="-122"/>
                <a:cs typeface="Arial Unicode MS" pitchFamily="34" charset="-128"/>
              </a:rPr>
              <a:t>University of California, Riverside, CA</a:t>
            </a:r>
          </a:p>
          <a:p>
            <a:pPr algn="ctr" eaLnBrk="1" hangingPunct="1">
              <a:lnSpc>
                <a:spcPct val="90000"/>
              </a:lnSpc>
              <a:defRPr/>
            </a:pPr>
            <a:endParaRPr lang="en-US" sz="2400" dirty="0" smtClean="0">
              <a:ea typeface="FangSong" pitchFamily="49" charset="-122"/>
              <a:cs typeface="Arial Unicode MS" pitchFamily="34" charset="-128"/>
            </a:endParaRPr>
          </a:p>
          <a:p>
            <a:pPr algn="ctr" eaLnBrk="1" hangingPunct="1">
              <a:lnSpc>
                <a:spcPct val="90000"/>
              </a:lnSpc>
              <a:defRPr/>
            </a:pPr>
            <a:endParaRPr lang="en-US" sz="2400" dirty="0" smtClean="0">
              <a:ea typeface="FangSong" pitchFamily="49" charset="-122"/>
              <a:cs typeface="Arial Unicode MS" pitchFamily="34" charset="-128"/>
            </a:endParaRPr>
          </a:p>
          <a:p>
            <a:pPr eaLnBrk="1" hangingPunct="1">
              <a:lnSpc>
                <a:spcPct val="90000"/>
              </a:lnSpc>
              <a:defRPr/>
            </a:pPr>
            <a:endParaRPr lang="en-US" sz="2400" dirty="0" smtClean="0">
              <a:ea typeface="FangSong" pitchFamily="49" charset="-122"/>
              <a:cs typeface="Arial Unicode MS" pitchFamily="34" charset="-128"/>
            </a:endParaRPr>
          </a:p>
          <a:p>
            <a:pPr algn="ctr" eaLnBrk="1" hangingPunct="1">
              <a:lnSpc>
                <a:spcPct val="90000"/>
              </a:lnSpc>
              <a:defRPr/>
            </a:pPr>
            <a:endParaRPr lang="en-US" sz="1800" dirty="0" smtClean="0">
              <a:ea typeface="FangSong" pitchFamily="49" charset="-122"/>
              <a:cs typeface="Arial Unicode MS" pitchFamily="34" charset="-128"/>
            </a:endParaRPr>
          </a:p>
        </p:txBody>
      </p:sp>
      <p:sp>
        <p:nvSpPr>
          <p:cNvPr id="2057" name="Rectangle 9"/>
          <p:cNvSpPr>
            <a:spLocks noGrp="1" noChangeArrowheads="1"/>
          </p:cNvSpPr>
          <p:nvPr>
            <p:ph type="ctrTitle"/>
          </p:nvPr>
        </p:nvSpPr>
        <p:spPr/>
        <p:txBody>
          <a:bodyPr/>
          <a:lstStyle/>
          <a:p>
            <a:pPr algn="ctr" eaLnBrk="1" hangingPunct="1">
              <a:defRPr/>
            </a:pPr>
            <a:r>
              <a:rPr lang="en-US" sz="3600" dirty="0"/>
              <a:t>Building Thermal Modeling for Energy-Efficient Smart Building Control</a:t>
            </a:r>
            <a:endParaRPr lang="en-US" sz="3600" dirty="0">
              <a:effectLst>
                <a:outerShdw blurRad="38100" dist="38100" dir="2700000" algn="tl">
                  <a:srgbClr val="DDDDDD"/>
                </a:outerShdw>
              </a:effectLst>
              <a:latin typeface="Arial" charset="0"/>
              <a:cs typeface="+mj-cs"/>
            </a:endParaRPr>
          </a:p>
        </p:txBody>
      </p:sp>
      <p:pic>
        <p:nvPicPr>
          <p:cNvPr id="17411" name="Picture 19" descr="pict_towe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505200"/>
            <a:ext cx="2143125" cy="1714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extBox 1"/>
          <p:cNvSpPr txBox="1"/>
          <p:nvPr/>
        </p:nvSpPr>
        <p:spPr>
          <a:xfrm>
            <a:off x="4114800" y="2974769"/>
            <a:ext cx="65" cy="276999"/>
          </a:xfrm>
          <a:prstGeom prst="rect">
            <a:avLst/>
          </a:prstGeom>
          <a:noFill/>
        </p:spPr>
        <p:txBody>
          <a:bodyPr wrap="none" lIns="0" tIns="0" rIns="0" bIns="0" rtlCol="0">
            <a:spAutoFit/>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p:txBody>
          <a:bodyPr/>
          <a:lstStyle/>
          <a:p>
            <a:r>
              <a:rPr lang="en-US">
                <a:latin typeface="Arial" charset="0"/>
              </a:rPr>
              <a:t>Outline</a:t>
            </a:r>
          </a:p>
        </p:txBody>
      </p:sp>
      <p:sp>
        <p:nvSpPr>
          <p:cNvPr id="19458" name="Rectangle 3"/>
          <p:cNvSpPr>
            <a:spLocks noGrp="1" noChangeArrowheads="1"/>
          </p:cNvSpPr>
          <p:nvPr>
            <p:ph idx="1"/>
          </p:nvPr>
        </p:nvSpPr>
        <p:spPr/>
        <p:txBody>
          <a:bodyPr/>
          <a:lstStyle/>
          <a:p>
            <a:r>
              <a:rPr lang="en-US" sz="2600" dirty="0" smtClean="0">
                <a:latin typeface="Arial" charset="0"/>
              </a:rPr>
              <a:t>Motivation</a:t>
            </a:r>
          </a:p>
          <a:p>
            <a:r>
              <a:rPr lang="en-US" sz="2600" dirty="0" smtClean="0">
                <a:latin typeface="Arial" charset="0"/>
              </a:rPr>
              <a:t>EnergyPlus Review</a:t>
            </a:r>
          </a:p>
          <a:p>
            <a:r>
              <a:rPr lang="en-US" sz="2600" dirty="0" smtClean="0">
                <a:latin typeface="Arial" charset="0"/>
              </a:rPr>
              <a:t>Subspace Identification based method</a:t>
            </a:r>
            <a:endParaRPr lang="en-US" sz="2600" dirty="0">
              <a:latin typeface="Arial" charset="0"/>
            </a:endParaRPr>
          </a:p>
          <a:p>
            <a:r>
              <a:rPr lang="en-US" sz="2600" dirty="0" smtClean="0">
                <a:latin typeface="Arial" charset="0"/>
              </a:rPr>
              <a:t>Initial Results with no extra factors</a:t>
            </a:r>
          </a:p>
          <a:p>
            <a:r>
              <a:rPr lang="en-US" sz="2600" dirty="0" smtClean="0">
                <a:latin typeface="Arial" charset="0"/>
              </a:rPr>
              <a:t>Results with extra factors</a:t>
            </a:r>
          </a:p>
          <a:p>
            <a:r>
              <a:rPr lang="en-US" sz="2600" dirty="0" smtClean="0">
                <a:latin typeface="Arial" charset="0"/>
              </a:rPr>
              <a:t>Optimization and Final Results</a:t>
            </a:r>
          </a:p>
          <a:p>
            <a:r>
              <a:rPr lang="en-US" sz="2600" dirty="0" smtClean="0">
                <a:latin typeface="Arial" charset="0"/>
              </a:rPr>
              <a:t>Summary</a:t>
            </a:r>
            <a:endParaRPr lang="en-US" sz="2600" dirty="0">
              <a:latin typeface="Arial"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a:t>
            </a:r>
            <a:endParaRPr lang="en-US" dirty="0"/>
          </a:p>
        </p:txBody>
      </p:sp>
      <p:sp>
        <p:nvSpPr>
          <p:cNvPr id="3" name="Content Placeholder 2"/>
          <p:cNvSpPr>
            <a:spLocks noGrp="1"/>
          </p:cNvSpPr>
          <p:nvPr>
            <p:ph idx="1"/>
          </p:nvPr>
        </p:nvSpPr>
        <p:spPr/>
        <p:txBody>
          <a:bodyPr/>
          <a:lstStyle/>
          <a:p>
            <a:r>
              <a:rPr lang="en-US" dirty="0" smtClean="0"/>
              <a:t>Estimated building section makes up about 40% energy consumption in U.S.</a:t>
            </a:r>
          </a:p>
          <a:p>
            <a:r>
              <a:rPr lang="en-US" dirty="0" smtClean="0"/>
              <a:t>Responsible for 70% of electricity use on average households</a:t>
            </a:r>
          </a:p>
          <a:p>
            <a:r>
              <a:rPr lang="en-US" dirty="0" smtClean="0"/>
              <a:t>About 50% of energy consumed in buildings are related to space heating, cooling, and ventilation</a:t>
            </a:r>
          </a:p>
          <a:p>
            <a:endParaRPr lang="en-US" dirty="0"/>
          </a:p>
        </p:txBody>
      </p:sp>
    </p:spTree>
    <p:extLst>
      <p:ext uri="{BB962C8B-B14F-4D97-AF65-F5344CB8AC3E}">
        <p14:creationId xmlns:p14="http://schemas.microsoft.com/office/powerpoint/2010/main" val="19753149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dirty="0" smtClean="0">
                <a:latin typeface="Arial" charset="0"/>
              </a:rPr>
              <a:t>EnergyPlus</a:t>
            </a:r>
            <a:endParaRPr lang="en-US" dirty="0">
              <a:latin typeface="Arial" charset="0"/>
            </a:endParaRPr>
          </a:p>
        </p:txBody>
      </p:sp>
      <p:sp>
        <p:nvSpPr>
          <p:cNvPr id="21506" name="Content Placeholder 8"/>
          <p:cNvSpPr>
            <a:spLocks noGrp="1"/>
          </p:cNvSpPr>
          <p:nvPr>
            <p:ph idx="1"/>
          </p:nvPr>
        </p:nvSpPr>
        <p:spPr/>
        <p:txBody>
          <a:bodyPr/>
          <a:lstStyle/>
          <a:p>
            <a:r>
              <a:rPr lang="en-US" dirty="0" smtClean="0"/>
              <a:t>Software package by U.S.</a:t>
            </a:r>
            <a:br>
              <a:rPr lang="en-US" dirty="0" smtClean="0"/>
            </a:br>
            <a:r>
              <a:rPr lang="en-US" dirty="0" smtClean="0"/>
              <a:t>Dept. of Energy used for</a:t>
            </a:r>
            <a:br>
              <a:rPr lang="en-US" dirty="0" smtClean="0"/>
            </a:br>
            <a:r>
              <a:rPr lang="en-US" dirty="0" smtClean="0"/>
              <a:t>modeling thermal behavior,</a:t>
            </a:r>
            <a:br>
              <a:rPr lang="en-US" dirty="0" smtClean="0"/>
            </a:br>
            <a:r>
              <a:rPr lang="en-US" dirty="0" smtClean="0"/>
              <a:t>energy, and water use.</a:t>
            </a:r>
          </a:p>
          <a:p>
            <a:r>
              <a:rPr lang="en-US" dirty="0" smtClean="0"/>
              <a:t>Capable of modifying</a:t>
            </a:r>
            <a:br>
              <a:rPr lang="en-US" dirty="0" smtClean="0"/>
            </a:br>
            <a:r>
              <a:rPr lang="en-US" dirty="0" smtClean="0"/>
              <a:t>specific settings for each </a:t>
            </a:r>
            <a:br>
              <a:rPr lang="en-US" dirty="0" smtClean="0"/>
            </a:br>
            <a:r>
              <a:rPr lang="en-US" dirty="0" smtClean="0"/>
              <a:t>zone</a:t>
            </a:r>
          </a:p>
          <a:p>
            <a:pPr lvl="1"/>
            <a:r>
              <a:rPr lang="en-US" dirty="0" smtClean="0"/>
              <a:t>Thermal zones, Space type, Schedule, Outdoor Air, People, Lights, Electric Equipment, Surfaces, etc.</a:t>
            </a:r>
          </a:p>
          <a:p>
            <a:endParaRPr lang="en-US" dirty="0">
              <a:latin typeface="Arial" charset="0"/>
            </a:endParaRPr>
          </a:p>
        </p:txBody>
      </p:sp>
      <p:pic>
        <p:nvPicPr>
          <p:cNvPr id="4" name="Picture 3" descr="5zone-b.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2667000"/>
            <a:ext cx="3428655" cy="1676400"/>
          </a:xfrm>
          <a:prstGeom prst="rect">
            <a:avLst/>
          </a:prstGeom>
        </p:spPr>
      </p:pic>
      <p:pic>
        <p:nvPicPr>
          <p:cNvPr id="5" name="Picture 4" descr="5zone-a.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2600" y="1371600"/>
            <a:ext cx="3496236" cy="11430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Setting For Each Thermal Zone</a:t>
            </a:r>
            <a:endParaRPr lang="en-US" dirty="0"/>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828800"/>
            <a:ext cx="9048750" cy="428590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255033697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EnergyPlus Results</a:t>
            </a:r>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399" y="1785938"/>
            <a:ext cx="7070725" cy="482239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椭圆 3"/>
          <p:cNvSpPr/>
          <p:nvPr/>
        </p:nvSpPr>
        <p:spPr>
          <a:xfrm>
            <a:off x="622300" y="6286500"/>
            <a:ext cx="927100" cy="49530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椭圆 5"/>
          <p:cNvSpPr/>
          <p:nvPr/>
        </p:nvSpPr>
        <p:spPr>
          <a:xfrm>
            <a:off x="6527800" y="1917700"/>
            <a:ext cx="1663700" cy="49530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直接箭头连接符 6"/>
          <p:cNvCxnSpPr/>
          <p:nvPr/>
        </p:nvCxnSpPr>
        <p:spPr>
          <a:xfrm>
            <a:off x="7086600" y="1371600"/>
            <a:ext cx="273050" cy="54610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24600" y="699869"/>
            <a:ext cx="2082800" cy="646331"/>
          </a:xfrm>
          <a:prstGeom prst="rect">
            <a:avLst/>
          </a:prstGeom>
          <a:noFill/>
        </p:spPr>
        <p:txBody>
          <a:bodyPr wrap="square" rtlCol="0">
            <a:spAutoFit/>
          </a:bodyPr>
          <a:lstStyle/>
          <a:p>
            <a:r>
              <a:rPr lang="en-US" dirty="0" smtClean="0"/>
              <a:t>Use this to get more results</a:t>
            </a:r>
            <a:endParaRPr lang="en-US" dirty="0"/>
          </a:p>
        </p:txBody>
      </p:sp>
    </p:spTree>
    <p:extLst>
      <p:ext uri="{BB962C8B-B14F-4D97-AF65-F5344CB8AC3E}">
        <p14:creationId xmlns:p14="http://schemas.microsoft.com/office/powerpoint/2010/main" val="29850600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EnergyPlus Results</a:t>
            </a:r>
            <a:endParaRPr lang="en-US" dirty="0"/>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1135" y="2066925"/>
            <a:ext cx="6181725" cy="34099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24030969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200" dirty="0" smtClean="0"/>
              <a:t>Proposed thermal modeling method</a:t>
            </a:r>
            <a:endParaRPr lang="en-US" sz="3200" dirty="0"/>
          </a:p>
        </p:txBody>
      </p:sp>
      <p:sp>
        <p:nvSpPr>
          <p:cNvPr id="6" name="Content Placeholder 5"/>
          <p:cNvSpPr>
            <a:spLocks noGrp="1"/>
          </p:cNvSpPr>
          <p:nvPr>
            <p:ph idx="1"/>
          </p:nvPr>
        </p:nvSpPr>
        <p:spPr>
          <a:xfrm>
            <a:off x="228600" y="1295400"/>
            <a:ext cx="8686800" cy="4953000"/>
          </a:xfrm>
        </p:spPr>
        <p:txBody>
          <a:bodyPr/>
          <a:lstStyle/>
          <a:p>
            <a:r>
              <a:rPr lang="en-US" dirty="0" smtClean="0"/>
              <a:t>Applied subspace system identification (SID) method to build the dynamic linear thermal model</a:t>
            </a:r>
          </a:p>
          <a:p>
            <a:pPr lvl="1"/>
            <a:r>
              <a:rPr lang="en-US" dirty="0" smtClean="0"/>
              <a:t>Used EnergyPlus to simulate model and generate inputs and ‘golden’ outputs</a:t>
            </a:r>
            <a:endParaRPr lang="en-US" dirty="0"/>
          </a:p>
          <a:p>
            <a:pPr lvl="1"/>
            <a:r>
              <a:rPr lang="en-US" dirty="0" smtClean="0"/>
              <a:t>Inputs: </a:t>
            </a:r>
          </a:p>
          <a:p>
            <a:pPr lvl="2"/>
            <a:r>
              <a:rPr lang="en-US" dirty="0" smtClean="0"/>
              <a:t>Ambient temperature, HVAC data, light, electrical equipment, people</a:t>
            </a:r>
          </a:p>
          <a:p>
            <a:pPr lvl="1"/>
            <a:r>
              <a:rPr lang="en-US" dirty="0" smtClean="0"/>
              <a:t>Output: </a:t>
            </a:r>
          </a:p>
          <a:p>
            <a:pPr lvl="2"/>
            <a:r>
              <a:rPr lang="en-US" dirty="0" smtClean="0"/>
              <a:t>Zone room temperature</a:t>
            </a:r>
          </a:p>
        </p:txBody>
      </p:sp>
    </p:spTree>
    <p:extLst>
      <p:ext uri="{BB962C8B-B14F-4D97-AF65-F5344CB8AC3E}">
        <p14:creationId xmlns:p14="http://schemas.microsoft.com/office/powerpoint/2010/main" val="2057372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122238"/>
            <a:ext cx="7543800" cy="715962"/>
          </a:xfrm>
        </p:spPr>
        <p:txBody>
          <a:bodyPr/>
          <a:lstStyle/>
          <a:p>
            <a:r>
              <a:rPr lang="en-US" sz="2600" dirty="0" smtClean="0"/>
              <a:t>Behavioral thermal </a:t>
            </a:r>
            <a:r>
              <a:rPr lang="en-US" sz="2600" dirty="0"/>
              <a:t>m</a:t>
            </a:r>
            <a:r>
              <a:rPr lang="en-US" sz="2600" dirty="0" smtClean="0"/>
              <a:t>odeling problem</a:t>
            </a:r>
          </a:p>
        </p:txBody>
      </p:sp>
      <p:sp>
        <p:nvSpPr>
          <p:cNvPr id="11267" name="Rectangle 3"/>
          <p:cNvSpPr>
            <a:spLocks noGrp="1" noChangeArrowheads="1"/>
          </p:cNvSpPr>
          <p:nvPr>
            <p:ph type="body" idx="1"/>
          </p:nvPr>
        </p:nvSpPr>
        <p:spPr>
          <a:xfrm>
            <a:off x="457200" y="1223169"/>
            <a:ext cx="8229600" cy="4411662"/>
          </a:xfrm>
        </p:spPr>
        <p:txBody>
          <a:bodyPr/>
          <a:lstStyle/>
          <a:p>
            <a:r>
              <a:rPr lang="en-US" dirty="0" smtClean="0"/>
              <a:t>Described as a discrete linear time invariant (LTI) system</a:t>
            </a:r>
          </a:p>
        </p:txBody>
      </p:sp>
      <p:sp>
        <p:nvSpPr>
          <p:cNvPr id="11268" name="Rectangle 4"/>
          <p:cNvSpPr>
            <a:spLocks noChangeArrowheads="1"/>
          </p:cNvSpPr>
          <p:nvPr/>
        </p:nvSpPr>
        <p:spPr bwMode="auto">
          <a:xfrm>
            <a:off x="2362200" y="2514600"/>
            <a:ext cx="4419600" cy="3048000"/>
          </a:xfrm>
          <a:prstGeom prst="rect">
            <a:avLst/>
          </a:prstGeom>
          <a:solidFill>
            <a:schemeClr val="accent1"/>
          </a:solidFill>
          <a:ln w="9525">
            <a:solidFill>
              <a:schemeClr val="tx1"/>
            </a:solidFill>
            <a:miter lim="800000"/>
            <a:headEnd/>
            <a:tailEnd/>
          </a:ln>
        </p:spPr>
        <p:txBody>
          <a:bodyPr wrap="none" anchor="ctr"/>
          <a:lstStyle/>
          <a:p>
            <a:pPr algn="ctr"/>
            <a:endParaRPr lang="en-US" altLang="zh-CN" sz="3600">
              <a:ea typeface="宋体" charset="-122"/>
            </a:endParaRPr>
          </a:p>
        </p:txBody>
      </p:sp>
      <p:sp>
        <p:nvSpPr>
          <p:cNvPr id="11269" name="Line 6"/>
          <p:cNvSpPr>
            <a:spLocks noChangeShapeType="1"/>
          </p:cNvSpPr>
          <p:nvPr/>
        </p:nvSpPr>
        <p:spPr bwMode="auto">
          <a:xfrm flipH="1">
            <a:off x="1143000" y="31242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0" name="Line 8"/>
          <p:cNvSpPr>
            <a:spLocks noChangeShapeType="1"/>
          </p:cNvSpPr>
          <p:nvPr/>
        </p:nvSpPr>
        <p:spPr bwMode="auto">
          <a:xfrm flipH="1">
            <a:off x="1143000" y="35814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1" name="Line 10"/>
          <p:cNvSpPr>
            <a:spLocks noChangeShapeType="1"/>
          </p:cNvSpPr>
          <p:nvPr/>
        </p:nvSpPr>
        <p:spPr bwMode="auto">
          <a:xfrm flipH="1">
            <a:off x="1143000" y="40386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2" name="Line 12"/>
          <p:cNvSpPr>
            <a:spLocks noChangeShapeType="1"/>
          </p:cNvSpPr>
          <p:nvPr/>
        </p:nvSpPr>
        <p:spPr bwMode="auto">
          <a:xfrm flipH="1">
            <a:off x="1143000" y="44958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3" name="Line 14"/>
          <p:cNvSpPr>
            <a:spLocks noChangeShapeType="1"/>
          </p:cNvSpPr>
          <p:nvPr/>
        </p:nvSpPr>
        <p:spPr bwMode="auto">
          <a:xfrm flipH="1">
            <a:off x="1143000" y="49530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 name="Line 15"/>
          <p:cNvSpPr>
            <a:spLocks noChangeShapeType="1"/>
          </p:cNvSpPr>
          <p:nvPr/>
        </p:nvSpPr>
        <p:spPr bwMode="auto">
          <a:xfrm flipH="1">
            <a:off x="6781800" y="31242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 name="Line 16"/>
          <p:cNvSpPr>
            <a:spLocks noChangeShapeType="1"/>
          </p:cNvSpPr>
          <p:nvPr/>
        </p:nvSpPr>
        <p:spPr bwMode="auto">
          <a:xfrm flipH="1">
            <a:off x="6781800" y="35814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6" name="Line 17"/>
          <p:cNvSpPr>
            <a:spLocks noChangeShapeType="1"/>
          </p:cNvSpPr>
          <p:nvPr/>
        </p:nvSpPr>
        <p:spPr bwMode="auto">
          <a:xfrm flipH="1">
            <a:off x="6781800" y="40386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7" name="Line 18"/>
          <p:cNvSpPr>
            <a:spLocks noChangeShapeType="1"/>
          </p:cNvSpPr>
          <p:nvPr/>
        </p:nvSpPr>
        <p:spPr bwMode="auto">
          <a:xfrm flipH="1">
            <a:off x="6781800" y="44958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8" name="Line 19"/>
          <p:cNvSpPr>
            <a:spLocks noChangeShapeType="1"/>
          </p:cNvSpPr>
          <p:nvPr/>
        </p:nvSpPr>
        <p:spPr bwMode="auto">
          <a:xfrm flipH="1">
            <a:off x="6781800" y="49530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9" name="Text Box 20"/>
          <p:cNvSpPr txBox="1">
            <a:spLocks noChangeArrowheads="1"/>
          </p:cNvSpPr>
          <p:nvPr/>
        </p:nvSpPr>
        <p:spPr bwMode="auto">
          <a:xfrm>
            <a:off x="685800" y="2971800"/>
            <a:ext cx="685800"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dirty="0"/>
              <a:t>p0</a:t>
            </a:r>
          </a:p>
          <a:p>
            <a:pPr eaLnBrk="1" hangingPunct="1">
              <a:spcBef>
                <a:spcPct val="50000"/>
              </a:spcBef>
            </a:pPr>
            <a:r>
              <a:rPr lang="en-US" dirty="0"/>
              <a:t>p1</a:t>
            </a:r>
          </a:p>
          <a:p>
            <a:pPr eaLnBrk="1" hangingPunct="1">
              <a:spcBef>
                <a:spcPct val="50000"/>
              </a:spcBef>
            </a:pPr>
            <a:r>
              <a:rPr lang="en-US" dirty="0"/>
              <a:t>p2</a:t>
            </a:r>
          </a:p>
          <a:p>
            <a:pPr eaLnBrk="1" hangingPunct="1">
              <a:spcBef>
                <a:spcPct val="50000"/>
              </a:spcBef>
            </a:pPr>
            <a:r>
              <a:rPr lang="en-US" dirty="0"/>
              <a:t>p3</a:t>
            </a:r>
          </a:p>
          <a:p>
            <a:pPr eaLnBrk="1" hangingPunct="1">
              <a:spcBef>
                <a:spcPct val="50000"/>
              </a:spcBef>
            </a:pPr>
            <a:r>
              <a:rPr lang="en-US" dirty="0"/>
              <a:t>p4</a:t>
            </a:r>
          </a:p>
        </p:txBody>
      </p:sp>
      <p:sp>
        <p:nvSpPr>
          <p:cNvPr id="11280" name="Text Box 21"/>
          <p:cNvSpPr txBox="1">
            <a:spLocks noChangeArrowheads="1"/>
          </p:cNvSpPr>
          <p:nvPr/>
        </p:nvSpPr>
        <p:spPr bwMode="auto">
          <a:xfrm>
            <a:off x="8001000" y="2971800"/>
            <a:ext cx="685800"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a:t>t0</a:t>
            </a:r>
          </a:p>
          <a:p>
            <a:pPr eaLnBrk="1" hangingPunct="1">
              <a:spcBef>
                <a:spcPct val="50000"/>
              </a:spcBef>
            </a:pPr>
            <a:r>
              <a:rPr lang="en-US"/>
              <a:t>t1</a:t>
            </a:r>
          </a:p>
          <a:p>
            <a:pPr eaLnBrk="1" hangingPunct="1">
              <a:spcBef>
                <a:spcPct val="50000"/>
              </a:spcBef>
            </a:pPr>
            <a:r>
              <a:rPr lang="en-US"/>
              <a:t>t2</a:t>
            </a:r>
          </a:p>
          <a:p>
            <a:pPr eaLnBrk="1" hangingPunct="1">
              <a:spcBef>
                <a:spcPct val="50000"/>
              </a:spcBef>
            </a:pPr>
            <a:r>
              <a:rPr lang="en-US"/>
              <a:t>t3</a:t>
            </a:r>
          </a:p>
          <a:p>
            <a:pPr eaLnBrk="1" hangingPunct="1">
              <a:spcBef>
                <a:spcPct val="50000"/>
              </a:spcBef>
            </a:pPr>
            <a:r>
              <a:rPr lang="en-US"/>
              <a:t>t4</a:t>
            </a:r>
          </a:p>
        </p:txBody>
      </p:sp>
      <p:sp>
        <p:nvSpPr>
          <p:cNvPr id="11282" name="Text Box 23"/>
          <p:cNvSpPr txBox="1">
            <a:spLocks noChangeArrowheads="1"/>
          </p:cNvSpPr>
          <p:nvPr/>
        </p:nvSpPr>
        <p:spPr bwMode="auto">
          <a:xfrm>
            <a:off x="1981200" y="5853113"/>
            <a:ext cx="6477000"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600"/>
              <a:t>A: stable matrix			u: input matrix</a:t>
            </a:r>
          </a:p>
          <a:p>
            <a:pPr eaLnBrk="1" hangingPunct="1">
              <a:spcBef>
                <a:spcPct val="50000"/>
              </a:spcBef>
            </a:pPr>
            <a:r>
              <a:rPr lang="en-US" sz="1600"/>
              <a:t>y: output matrix			x: state matrix</a:t>
            </a:r>
          </a:p>
        </p:txBody>
      </p:sp>
      <mc:AlternateContent xmlns:mc="http://schemas.openxmlformats.org/markup-compatibility/2006" xmlns:a14="http://schemas.microsoft.com/office/drawing/2010/main">
        <mc:Choice Requires="a14">
          <p:sp>
            <p:nvSpPr>
              <p:cNvPr id="3" name="TextBox 2"/>
              <p:cNvSpPr txBox="1"/>
              <p:nvPr/>
            </p:nvSpPr>
            <p:spPr>
              <a:xfrm>
                <a:off x="2438401" y="3563599"/>
                <a:ext cx="4267199" cy="6865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charset="0"/>
                            </a:rPr>
                          </m:ctrlPr>
                        </m:dPr>
                        <m:e>
                          <m:eqArr>
                            <m:eqArrPr>
                              <m:ctrlPr>
                                <a:rPr lang="en-US" sz="2000" i="1" smtClean="0">
                                  <a:latin typeface="Cambria Math" charset="0"/>
                                </a:rPr>
                              </m:ctrlPr>
                            </m:eqArrPr>
                            <m:e>
                              <m:r>
                                <a:rPr lang="en-US" sz="2000" b="0" i="1" smtClean="0">
                                  <a:latin typeface="Cambria Math" charset="0"/>
                                </a:rPr>
                                <m:t>𝑥</m:t>
                              </m:r>
                              <m:d>
                                <m:dPr>
                                  <m:ctrlPr>
                                    <a:rPr lang="en-US" sz="2000" b="0" i="1" smtClean="0">
                                      <a:latin typeface="Cambria Math" charset="0"/>
                                    </a:rPr>
                                  </m:ctrlPr>
                                </m:dPr>
                                <m:e>
                                  <m:r>
                                    <a:rPr lang="en-US" sz="2000" b="0" i="1" smtClean="0">
                                      <a:latin typeface="Cambria Math" charset="0"/>
                                    </a:rPr>
                                    <m:t>𝑡</m:t>
                                  </m:r>
                                  <m:r>
                                    <a:rPr lang="en-US" sz="2000" b="0" i="1" smtClean="0">
                                      <a:latin typeface="Cambria Math" charset="0"/>
                                    </a:rPr>
                                    <m:t>+1</m:t>
                                  </m:r>
                                </m:e>
                              </m:d>
                              <m:r>
                                <a:rPr lang="en-US" sz="2000" b="0" i="1" smtClean="0">
                                  <a:latin typeface="Cambria Math" charset="0"/>
                                </a:rPr>
                                <m:t>=</m:t>
                              </m:r>
                              <m:r>
                                <a:rPr lang="en-US" sz="2000" b="0" i="1" smtClean="0">
                                  <a:latin typeface="Cambria Math" charset="0"/>
                                </a:rPr>
                                <m:t>𝐴𝑥</m:t>
                              </m:r>
                              <m:d>
                                <m:dPr>
                                  <m:ctrlPr>
                                    <a:rPr lang="en-US" sz="2000" b="0" i="1" smtClean="0">
                                      <a:latin typeface="Cambria Math" charset="0"/>
                                    </a:rPr>
                                  </m:ctrlPr>
                                </m:dPr>
                                <m:e>
                                  <m:r>
                                    <a:rPr lang="en-US" sz="2000" b="0" i="1" smtClean="0">
                                      <a:latin typeface="Cambria Math" charset="0"/>
                                    </a:rPr>
                                    <m:t>𝑡</m:t>
                                  </m:r>
                                </m:e>
                              </m:d>
                              <m:r>
                                <a:rPr lang="en-US" sz="2000" b="0" i="1" smtClean="0">
                                  <a:latin typeface="Cambria Math" charset="0"/>
                                </a:rPr>
                                <m:t>+</m:t>
                              </m:r>
                              <m:sSup>
                                <m:sSupPr>
                                  <m:ctrlPr>
                                    <a:rPr lang="en-US" sz="2000" b="0" i="1" smtClean="0">
                                      <a:latin typeface="Cambria Math" charset="0"/>
                                    </a:rPr>
                                  </m:ctrlPr>
                                </m:sSupPr>
                                <m:e>
                                  <m:r>
                                    <a:rPr lang="en-US" sz="2000" b="0" i="1" smtClean="0">
                                      <a:latin typeface="Cambria Math" charset="0"/>
                                    </a:rPr>
                                    <m:t>𝐵</m:t>
                                  </m:r>
                                </m:e>
                                <m:sup>
                                  <m:r>
                                    <a:rPr lang="en-US" sz="2000" b="0" i="1" smtClean="0">
                                      <a:latin typeface="Cambria Math" charset="0"/>
                                    </a:rPr>
                                    <m:t>𝑢</m:t>
                                  </m:r>
                                </m:sup>
                              </m:sSup>
                              <m:r>
                                <a:rPr lang="en-US" sz="2000" b="0" i="1" smtClean="0">
                                  <a:latin typeface="Cambria Math" charset="0"/>
                                </a:rPr>
                                <m:t>𝑢</m:t>
                              </m:r>
                              <m:d>
                                <m:dPr>
                                  <m:ctrlPr>
                                    <a:rPr lang="en-US" sz="2000" b="0" i="1" smtClean="0">
                                      <a:latin typeface="Cambria Math" charset="0"/>
                                    </a:rPr>
                                  </m:ctrlPr>
                                </m:dPr>
                                <m:e>
                                  <m:r>
                                    <a:rPr lang="en-US" sz="2000" b="0" i="1" smtClean="0">
                                      <a:latin typeface="Cambria Math" charset="0"/>
                                    </a:rPr>
                                    <m:t>𝑡</m:t>
                                  </m:r>
                                </m:e>
                              </m:d>
                              <m:r>
                                <a:rPr lang="en-US" sz="2000" b="0" i="1" smtClean="0">
                                  <a:latin typeface="Cambria Math" charset="0"/>
                                </a:rPr>
                                <m:t>+</m:t>
                              </m:r>
                              <m:sSup>
                                <m:sSupPr>
                                  <m:ctrlPr>
                                    <a:rPr lang="en-US" sz="2000" b="0" i="1" smtClean="0">
                                      <a:latin typeface="Cambria Math" charset="0"/>
                                    </a:rPr>
                                  </m:ctrlPr>
                                </m:sSupPr>
                                <m:e>
                                  <m:r>
                                    <a:rPr lang="en-US" sz="2000" b="0" i="1" smtClean="0">
                                      <a:latin typeface="Cambria Math" charset="0"/>
                                    </a:rPr>
                                    <m:t>𝐵</m:t>
                                  </m:r>
                                </m:e>
                                <m:sup>
                                  <m:r>
                                    <a:rPr lang="en-US" sz="2000" b="0" i="1" smtClean="0">
                                      <a:latin typeface="Cambria Math" charset="0"/>
                                    </a:rPr>
                                    <m:t>𝑤</m:t>
                                  </m:r>
                                </m:sup>
                              </m:sSup>
                              <m:r>
                                <a:rPr lang="en-US" sz="2000" b="0" i="1" smtClean="0">
                                  <a:latin typeface="Cambria Math" charset="0"/>
                                </a:rPr>
                                <m:t>𝑤</m:t>
                              </m:r>
                              <m:r>
                                <a:rPr lang="en-US" sz="2000" b="0" i="1" smtClean="0">
                                  <a:latin typeface="Cambria Math" charset="0"/>
                                </a:rPr>
                                <m:t>(</m:t>
                              </m:r>
                              <m:r>
                                <a:rPr lang="en-US" sz="2000" b="0" i="1" smtClean="0">
                                  <a:latin typeface="Cambria Math" charset="0"/>
                                </a:rPr>
                                <m:t>𝑡</m:t>
                              </m:r>
                              <m:r>
                                <a:rPr lang="en-US" sz="2000" b="0" i="1" smtClean="0">
                                  <a:latin typeface="Cambria Math" charset="0"/>
                                </a:rPr>
                                <m:t>)</m:t>
                              </m:r>
                            </m:e>
                            <m:e>
                              <m:r>
                                <a:rPr lang="en-US" sz="2000" b="0" i="1" smtClean="0">
                                  <a:latin typeface="Cambria Math" charset="0"/>
                                </a:rPr>
                                <m:t>𝑦</m:t>
                              </m:r>
                              <m:d>
                                <m:dPr>
                                  <m:ctrlPr>
                                    <a:rPr lang="en-US" sz="2000" b="0" i="1" smtClean="0">
                                      <a:latin typeface="Cambria Math" charset="0"/>
                                    </a:rPr>
                                  </m:ctrlPr>
                                </m:dPr>
                                <m:e>
                                  <m:r>
                                    <a:rPr lang="en-US" sz="2000" b="0" i="1" smtClean="0">
                                      <a:latin typeface="Cambria Math" charset="0"/>
                                    </a:rPr>
                                    <m:t>𝑡</m:t>
                                  </m:r>
                                </m:e>
                              </m:d>
                              <m:r>
                                <a:rPr lang="en-US" sz="2000" b="0" i="1" smtClean="0">
                                  <a:latin typeface="Cambria Math" charset="0"/>
                                </a:rPr>
                                <m:t>=</m:t>
                              </m:r>
                              <m:r>
                                <a:rPr lang="en-US" sz="2000" b="0" i="1" smtClean="0">
                                  <a:latin typeface="Cambria Math" charset="0"/>
                                </a:rPr>
                                <m:t>𝐶𝑥</m:t>
                              </m:r>
                              <m:d>
                                <m:dPr>
                                  <m:ctrlPr>
                                    <a:rPr lang="en-US" sz="2000" b="0" i="1" smtClean="0">
                                      <a:latin typeface="Cambria Math" charset="0"/>
                                    </a:rPr>
                                  </m:ctrlPr>
                                </m:dPr>
                                <m:e>
                                  <m:r>
                                    <a:rPr lang="en-US" sz="2000" b="0" i="1" smtClean="0">
                                      <a:latin typeface="Cambria Math" charset="0"/>
                                    </a:rPr>
                                    <m:t>𝑡</m:t>
                                  </m:r>
                                </m:e>
                              </m:d>
                              <m:r>
                                <a:rPr lang="en-US" sz="2000" b="0" i="1" smtClean="0">
                                  <a:latin typeface="Cambria Math" charset="0"/>
                                </a:rPr>
                                <m:t>+</m:t>
                              </m:r>
                              <m:r>
                                <a:rPr lang="en-US" sz="2000" b="0" i="1" smtClean="0">
                                  <a:latin typeface="Cambria Math" charset="0"/>
                                </a:rPr>
                                <m:t>𝑣</m:t>
                              </m:r>
                              <m:r>
                                <a:rPr lang="en-US" sz="2000" b="0" i="1" smtClean="0">
                                  <a:latin typeface="Cambria Math" charset="0"/>
                                </a:rPr>
                                <m:t>(</m:t>
                              </m:r>
                              <m:r>
                                <a:rPr lang="en-US" sz="2000" b="0" i="1" smtClean="0">
                                  <a:latin typeface="Cambria Math" charset="0"/>
                                </a:rPr>
                                <m:t>𝑡</m:t>
                              </m:r>
                              <m:r>
                                <a:rPr lang="en-US" sz="2000" b="0" i="1" smtClean="0">
                                  <a:latin typeface="Cambria Math" charset="0"/>
                                </a:rPr>
                                <m:t>)</m:t>
                              </m:r>
                            </m:e>
                          </m:eqArr>
                        </m:e>
                      </m:d>
                    </m:oMath>
                  </m:oMathPara>
                </a14:m>
                <a:endParaRPr lang="en-US" sz="2000" dirty="0" smtClean="0"/>
              </a:p>
            </p:txBody>
          </p:sp>
        </mc:Choice>
        <mc:Fallback xmlns="">
          <p:sp>
            <p:nvSpPr>
              <p:cNvPr id="3" name="TextBox 2"/>
              <p:cNvSpPr txBox="1">
                <a:spLocks noRot="1" noChangeAspect="1" noMove="1" noResize="1" noEditPoints="1" noAdjustHandles="1" noChangeArrowheads="1" noChangeShapeType="1" noTextEdit="1"/>
              </p:cNvSpPr>
              <p:nvPr/>
            </p:nvSpPr>
            <p:spPr>
              <a:xfrm>
                <a:off x="2438401" y="3563599"/>
                <a:ext cx="4267199" cy="686535"/>
              </a:xfrm>
              <a:prstGeom prst="rect">
                <a:avLst/>
              </a:prstGeo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914491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457200" y="122238"/>
            <a:ext cx="7543800" cy="792162"/>
          </a:xfrm>
        </p:spPr>
        <p:txBody>
          <a:bodyPr/>
          <a:lstStyle/>
          <a:p>
            <a:r>
              <a:rPr lang="en-US" altLang="zh-TW" sz="3500" dirty="0" smtClean="0">
                <a:ea typeface="宋体" pitchFamily="2" charset="-122"/>
              </a:rPr>
              <a:t>Subspace </a:t>
            </a:r>
            <a:r>
              <a:rPr lang="en-US" altLang="zh-CN" sz="3500" dirty="0" smtClean="0">
                <a:ea typeface="宋体" pitchFamily="2" charset="-122"/>
              </a:rPr>
              <a:t>System Identification</a:t>
            </a:r>
            <a:r>
              <a:rPr lang="en-US" altLang="zh-TW" sz="3500" baseline="30000" dirty="0" smtClean="0">
                <a:ea typeface="宋体" pitchFamily="2" charset="-122"/>
              </a:rPr>
              <a:t>[1]</a:t>
            </a:r>
            <a:endParaRPr lang="en-US" altLang="zh-CN" sz="3500" dirty="0" smtClean="0">
              <a:ea typeface="宋体" pitchFamily="2" charset="-122"/>
            </a:endParaRPr>
          </a:p>
        </p:txBody>
      </p:sp>
      <p:sp>
        <p:nvSpPr>
          <p:cNvPr id="147459" name="Rectangle 3"/>
          <p:cNvSpPr>
            <a:spLocks noGrp="1" noChangeArrowheads="1"/>
          </p:cNvSpPr>
          <p:nvPr>
            <p:ph type="body" sz="half" idx="1"/>
          </p:nvPr>
        </p:nvSpPr>
        <p:spPr>
          <a:xfrm>
            <a:off x="228600" y="1295400"/>
            <a:ext cx="8686800" cy="4953000"/>
          </a:xfrm>
        </p:spPr>
        <p:txBody>
          <a:bodyPr/>
          <a:lstStyle/>
          <a:p>
            <a:r>
              <a:rPr lang="en-US" altLang="zh-CN" sz="2600" b="1" dirty="0" smtClean="0">
                <a:ea typeface="宋体" pitchFamily="2" charset="-122"/>
              </a:rPr>
              <a:t>State space models</a:t>
            </a:r>
            <a:r>
              <a:rPr lang="en-US" altLang="zh-TW" sz="2600" b="1" dirty="0" smtClean="0">
                <a:ea typeface="PMingLiU" pitchFamily="18" charset="-120"/>
              </a:rPr>
              <a:t> (LTI)</a:t>
            </a:r>
            <a:endParaRPr lang="en-US" altLang="zh-CN" sz="2600" dirty="0" smtClean="0">
              <a:ea typeface="宋体" pitchFamily="2" charset="-122"/>
            </a:endParaRPr>
          </a:p>
          <a:p>
            <a:pPr>
              <a:buFont typeface="Wingdings" pitchFamily="2" charset="2"/>
              <a:buNone/>
            </a:pPr>
            <a:endParaRPr lang="en-US" altLang="zh-TW" sz="2600" dirty="0" smtClean="0">
              <a:ea typeface="宋体" pitchFamily="2" charset="-122"/>
            </a:endParaRPr>
          </a:p>
          <a:p>
            <a:pPr>
              <a:buFont typeface="Wingdings" pitchFamily="2" charset="2"/>
              <a:buNone/>
            </a:pPr>
            <a:endParaRPr lang="en-US" altLang="zh-TW" sz="2600" dirty="0" smtClean="0">
              <a:ea typeface="宋体" pitchFamily="2" charset="-122"/>
            </a:endParaRPr>
          </a:p>
          <a:p>
            <a:pPr>
              <a:buFont typeface="Wingdings" pitchFamily="2" charset="2"/>
              <a:buNone/>
            </a:pPr>
            <a:endParaRPr lang="en-US" altLang="zh-TW" sz="2600" dirty="0" smtClean="0">
              <a:ea typeface="宋体" pitchFamily="2" charset="-122"/>
            </a:endParaRPr>
          </a:p>
          <a:p>
            <a:pPr lvl="1"/>
            <a:endParaRPr lang="en-US" altLang="zh-TW" sz="2200" dirty="0" smtClean="0">
              <a:ea typeface="宋体" pitchFamily="2" charset="-122"/>
            </a:endParaRPr>
          </a:p>
          <a:p>
            <a:pPr lvl="1"/>
            <a:r>
              <a:rPr lang="en-US" altLang="zh-TW" sz="2200" dirty="0" smtClean="0">
                <a:ea typeface="宋体" pitchFamily="2" charset="-122"/>
              </a:rPr>
              <a:t>Here input </a:t>
            </a:r>
            <a:r>
              <a:rPr lang="en-US" altLang="zh-TW" sz="2200" i="1" dirty="0" smtClean="0">
                <a:latin typeface="Times New Roman" pitchFamily="18" charset="0"/>
                <a:ea typeface="宋体" pitchFamily="2" charset="-122"/>
              </a:rPr>
              <a:t>u</a:t>
            </a:r>
            <a:r>
              <a:rPr lang="en-US" altLang="zh-TW" sz="2200" dirty="0" smtClean="0">
                <a:ea typeface="宋体" pitchFamily="2" charset="-122"/>
              </a:rPr>
              <a:t> is Power, and output </a:t>
            </a:r>
            <a:r>
              <a:rPr lang="en-US" altLang="zh-TW" sz="2200" i="1" dirty="0" smtClean="0">
                <a:latin typeface="Times New Roman" pitchFamily="18" charset="0"/>
                <a:ea typeface="宋体" pitchFamily="2" charset="-122"/>
              </a:rPr>
              <a:t>y</a:t>
            </a:r>
            <a:r>
              <a:rPr lang="en-US" altLang="zh-TW" sz="2200" dirty="0" smtClean="0">
                <a:ea typeface="宋体" pitchFamily="2" charset="-122"/>
              </a:rPr>
              <a:t> is Temperature</a:t>
            </a:r>
          </a:p>
          <a:p>
            <a:r>
              <a:rPr lang="en-US" altLang="zh-TW" sz="2600" b="1" dirty="0" smtClean="0">
                <a:ea typeface="PMingLiU" pitchFamily="18" charset="-120"/>
              </a:rPr>
              <a:t>Goal</a:t>
            </a:r>
          </a:p>
          <a:p>
            <a:pPr lvl="1"/>
            <a:r>
              <a:rPr lang="en-US" altLang="zh-CN" sz="2200" dirty="0" smtClean="0">
                <a:ea typeface="宋体" pitchFamily="2" charset="-122"/>
              </a:rPr>
              <a:t>Given input and output observations</a:t>
            </a:r>
            <a:r>
              <a:rPr lang="en-US" altLang="zh-TW" sz="2200" dirty="0" smtClean="0">
                <a:ea typeface="PMingLiU" pitchFamily="18" charset="-120"/>
              </a:rPr>
              <a:t> </a:t>
            </a:r>
            <a:r>
              <a:rPr lang="en-US" altLang="zh-TW" sz="2200" i="1" dirty="0" smtClean="0">
                <a:latin typeface="Times New Roman" pitchFamily="18" charset="0"/>
                <a:ea typeface="PMingLiU" pitchFamily="18" charset="-120"/>
              </a:rPr>
              <a:t>u</a:t>
            </a:r>
            <a:r>
              <a:rPr lang="en-US" altLang="zh-TW" sz="2200" dirty="0" smtClean="0">
                <a:ea typeface="PMingLiU" pitchFamily="18" charset="-120"/>
              </a:rPr>
              <a:t> and </a:t>
            </a:r>
            <a:r>
              <a:rPr lang="en-US" altLang="zh-TW" sz="2200" i="1" dirty="0" smtClean="0">
                <a:latin typeface="Times New Roman" pitchFamily="18" charset="0"/>
                <a:ea typeface="PMingLiU" pitchFamily="18" charset="-120"/>
              </a:rPr>
              <a:t>y</a:t>
            </a:r>
            <a:r>
              <a:rPr lang="en-US" altLang="zh-TW" sz="2200" dirty="0" smtClean="0">
                <a:ea typeface="PMingLiU" pitchFamily="18" charset="-120"/>
              </a:rPr>
              <a:t>, f</a:t>
            </a:r>
            <a:r>
              <a:rPr lang="en-US" altLang="zh-CN" sz="2200" dirty="0" smtClean="0">
                <a:ea typeface="宋体" pitchFamily="2" charset="-122"/>
              </a:rPr>
              <a:t>ind an</a:t>
            </a:r>
            <a:r>
              <a:rPr lang="en-US" altLang="zh-TW" sz="2200" dirty="0" smtClean="0">
                <a:ea typeface="PMingLiU" pitchFamily="18" charset="-120"/>
              </a:rPr>
              <a:t> </a:t>
            </a:r>
            <a:r>
              <a:rPr lang="en-US" altLang="zh-CN" sz="2200" dirty="0" smtClean="0">
                <a:ea typeface="宋体" pitchFamily="2" charset="-122"/>
              </a:rPr>
              <a:t>appropriate order </a:t>
            </a:r>
            <a:r>
              <a:rPr lang="en-US" altLang="zh-CN" sz="2200" i="1" dirty="0" smtClean="0">
                <a:latin typeface="Times New Roman" pitchFamily="18" charset="0"/>
                <a:ea typeface="宋体" pitchFamily="2" charset="-122"/>
              </a:rPr>
              <a:t>n</a:t>
            </a:r>
            <a:r>
              <a:rPr lang="en-US" altLang="zh-CN" sz="2200" i="1" dirty="0" smtClean="0">
                <a:ea typeface="宋体" pitchFamily="2" charset="-122"/>
              </a:rPr>
              <a:t> </a:t>
            </a:r>
            <a:r>
              <a:rPr lang="en-US" altLang="zh-CN" sz="2200" dirty="0" smtClean="0">
                <a:ea typeface="宋体" pitchFamily="2" charset="-122"/>
              </a:rPr>
              <a:t>and the system matrices</a:t>
            </a:r>
            <a:r>
              <a:rPr lang="en-US" altLang="zh-TW" sz="2200" dirty="0" smtClean="0">
                <a:ea typeface="PMingLiU" pitchFamily="18" charset="-120"/>
              </a:rPr>
              <a:t> </a:t>
            </a:r>
            <a:r>
              <a:rPr lang="en-US" altLang="zh-TW" dirty="0" smtClean="0">
                <a:latin typeface="Times New Roman" pitchFamily="18" charset="0"/>
                <a:ea typeface="PMingLiU" pitchFamily="18" charset="-120"/>
              </a:rPr>
              <a:t>{</a:t>
            </a:r>
            <a:r>
              <a:rPr lang="en-US" altLang="zh-TW" sz="2200" i="1" dirty="0" smtClean="0">
                <a:latin typeface="Times New Roman" pitchFamily="18" charset="0"/>
                <a:ea typeface="PMingLiU" pitchFamily="18" charset="-120"/>
              </a:rPr>
              <a:t>A, B</a:t>
            </a:r>
            <a:r>
              <a:rPr lang="en-US" altLang="zh-TW" sz="2200" i="1" baseline="30000" dirty="0" smtClean="0">
                <a:latin typeface="Times New Roman" pitchFamily="18" charset="0"/>
                <a:ea typeface="PMingLiU" pitchFamily="18" charset="-120"/>
              </a:rPr>
              <a:t>u</a:t>
            </a:r>
            <a:r>
              <a:rPr lang="en-US" altLang="zh-TW" sz="2200" i="1" dirty="0" smtClean="0">
                <a:latin typeface="Times New Roman" pitchFamily="18" charset="0"/>
                <a:ea typeface="PMingLiU" pitchFamily="18" charset="-120"/>
              </a:rPr>
              <a:t>, C</a:t>
            </a:r>
            <a:r>
              <a:rPr lang="en-US" altLang="zh-TW" dirty="0" smtClean="0">
                <a:latin typeface="Times New Roman" pitchFamily="18" charset="0"/>
                <a:ea typeface="PMingLiU" pitchFamily="18" charset="-120"/>
              </a:rPr>
              <a:t>}</a:t>
            </a:r>
            <a:endParaRPr lang="en-US" altLang="zh-CN" dirty="0" smtClean="0">
              <a:latin typeface="Times New Roman" pitchFamily="18" charset="0"/>
              <a:ea typeface="宋体" pitchFamily="2" charset="-122"/>
            </a:endParaRPr>
          </a:p>
          <a:p>
            <a:endParaRPr lang="en-US" altLang="zh-CN" sz="2600" dirty="0" smtClean="0">
              <a:ea typeface="宋体" pitchFamily="2" charset="-122"/>
            </a:endParaRPr>
          </a:p>
          <a:p>
            <a:endParaRPr lang="en-US" altLang="zh-CN" sz="2600" dirty="0" smtClean="0">
              <a:ea typeface="宋体" pitchFamily="2" charset="-122"/>
            </a:endParaRPr>
          </a:p>
        </p:txBody>
      </p:sp>
      <p:sp>
        <p:nvSpPr>
          <p:cNvPr id="147466" name="Text Box 10"/>
          <p:cNvSpPr txBox="1">
            <a:spLocks noChangeArrowheads="1"/>
          </p:cNvSpPr>
          <p:nvPr/>
        </p:nvSpPr>
        <p:spPr bwMode="auto">
          <a:xfrm>
            <a:off x="685800" y="2828925"/>
            <a:ext cx="8077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TW" sz="2000" b="1" i="1" dirty="0">
                <a:latin typeface="Times New Roman" pitchFamily="18" charset="0"/>
                <a:ea typeface="PMingLiU" pitchFamily="18" charset="-120"/>
              </a:rPr>
              <a:t>A </a:t>
            </a:r>
            <a:r>
              <a:rPr lang="en-US" altLang="zh-TW" sz="2000" dirty="0">
                <a:ea typeface="PMingLiU" pitchFamily="18" charset="-120"/>
              </a:rPr>
              <a:t>: stable matrix</a:t>
            </a:r>
            <a:r>
              <a:rPr lang="en-US" altLang="zh-TW" sz="2000" b="1" dirty="0">
                <a:ea typeface="PMingLiU" pitchFamily="18" charset="-120"/>
              </a:rPr>
              <a:t>                  </a:t>
            </a:r>
            <a:r>
              <a:rPr lang="en-US" altLang="zh-TW" sz="2000" b="1" i="1" dirty="0" err="1">
                <a:latin typeface="Times New Roman" pitchFamily="18" charset="0"/>
                <a:ea typeface="PMingLiU" pitchFamily="18" charset="-120"/>
              </a:rPr>
              <a:t>w,v</a:t>
            </a:r>
            <a:r>
              <a:rPr lang="en-US" altLang="zh-TW" sz="2000" b="1" i="1" dirty="0">
                <a:latin typeface="Times New Roman" pitchFamily="18" charset="0"/>
                <a:ea typeface="PMingLiU" pitchFamily="18" charset="-120"/>
              </a:rPr>
              <a:t> </a:t>
            </a:r>
            <a:r>
              <a:rPr lang="en-US" altLang="zh-TW" sz="2000" dirty="0">
                <a:ea typeface="PMingLiU" pitchFamily="18" charset="-120"/>
              </a:rPr>
              <a:t>: </a:t>
            </a:r>
            <a:r>
              <a:rPr lang="en-US" altLang="zh-CN" sz="2000" dirty="0">
                <a:ea typeface="宋体" pitchFamily="2" charset="-122"/>
              </a:rPr>
              <a:t>stationary zero</a:t>
            </a:r>
            <a:r>
              <a:rPr lang="en-US" altLang="zh-TW" sz="2000" dirty="0">
                <a:ea typeface="PMingLiU" pitchFamily="18" charset="-120"/>
              </a:rPr>
              <a:t>-</a:t>
            </a:r>
            <a:r>
              <a:rPr lang="en-US" altLang="zh-CN" sz="2000" dirty="0">
                <a:ea typeface="宋体" pitchFamily="2" charset="-122"/>
              </a:rPr>
              <a:t>mean white</a:t>
            </a:r>
            <a:r>
              <a:rPr lang="en-US" altLang="zh-TW" sz="2000" dirty="0">
                <a:ea typeface="PMingLiU" pitchFamily="18" charset="-120"/>
              </a:rPr>
              <a:t>-</a:t>
            </a:r>
            <a:r>
              <a:rPr lang="en-US" altLang="zh-CN" sz="2000" dirty="0">
                <a:ea typeface="宋体" pitchFamily="2" charset="-122"/>
              </a:rPr>
              <a:t>noise seq</a:t>
            </a:r>
            <a:r>
              <a:rPr lang="en-US" altLang="zh-TW" sz="2000" dirty="0">
                <a:ea typeface="PMingLiU" pitchFamily="18" charset="-120"/>
              </a:rPr>
              <a:t>.</a:t>
            </a:r>
          </a:p>
          <a:p>
            <a:r>
              <a:rPr lang="en-US" altLang="zh-TW" sz="2000" b="1" i="1" dirty="0">
                <a:latin typeface="Times New Roman" pitchFamily="18" charset="0"/>
                <a:ea typeface="PMingLiU" pitchFamily="18" charset="-120"/>
              </a:rPr>
              <a:t>u/y </a:t>
            </a:r>
            <a:r>
              <a:rPr lang="en-US" altLang="zh-TW" sz="2000" dirty="0">
                <a:ea typeface="PMingLiU" pitchFamily="18" charset="-120"/>
              </a:rPr>
              <a:t>: input/output</a:t>
            </a:r>
            <a:endParaRPr lang="en-US" altLang="zh-CN" sz="2000" b="1" dirty="0">
              <a:ea typeface="宋体" pitchFamily="2" charset="-122"/>
            </a:endParaRPr>
          </a:p>
        </p:txBody>
      </p:sp>
      <p:sp>
        <p:nvSpPr>
          <p:cNvPr id="147467" name="Text Box 11"/>
          <p:cNvSpPr txBox="1">
            <a:spLocks noChangeArrowheads="1"/>
          </p:cNvSpPr>
          <p:nvPr/>
        </p:nvSpPr>
        <p:spPr bwMode="auto">
          <a:xfrm>
            <a:off x="152400" y="5867400"/>
            <a:ext cx="89154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TW" sz="1600" dirty="0">
                <a:ea typeface="PMingLiU" pitchFamily="18" charset="-120"/>
              </a:rPr>
              <a:t>[1] </a:t>
            </a:r>
            <a:r>
              <a:rPr lang="en-US" altLang="zh-CN" sz="1600" dirty="0">
                <a:ea typeface="宋体" pitchFamily="2" charset="-122"/>
              </a:rPr>
              <a:t>N.Y.</a:t>
            </a:r>
            <a:r>
              <a:rPr lang="en-US" altLang="zh-TW" sz="1600" dirty="0">
                <a:ea typeface="PMingLiU" pitchFamily="18" charset="-120"/>
              </a:rPr>
              <a:t> Chen, J.S.</a:t>
            </a:r>
            <a:r>
              <a:rPr lang="en-US" altLang="zh-CN" sz="1600" dirty="0">
                <a:ea typeface="宋体" pitchFamily="2" charset="-122"/>
              </a:rPr>
              <a:t> Gibson,</a:t>
            </a:r>
            <a:r>
              <a:rPr lang="en-US" altLang="zh-TW" sz="1600" dirty="0">
                <a:ea typeface="PMingLiU" pitchFamily="18" charset="-120"/>
              </a:rPr>
              <a:t> “</a:t>
            </a:r>
            <a:r>
              <a:rPr lang="en-US" altLang="zh-CN" sz="1600" dirty="0">
                <a:ea typeface="宋体" pitchFamily="2" charset="-122"/>
              </a:rPr>
              <a:t>Subspace System Identification Using a Multichannel</a:t>
            </a:r>
            <a:r>
              <a:rPr lang="en-US" altLang="zh-TW" sz="1600" dirty="0">
                <a:ea typeface="PMingLiU" pitchFamily="18" charset="-120"/>
              </a:rPr>
              <a:t> </a:t>
            </a:r>
            <a:r>
              <a:rPr lang="en-US" altLang="zh-CN" sz="1600" dirty="0">
                <a:ea typeface="宋体" pitchFamily="2" charset="-122"/>
              </a:rPr>
              <a:t> Lattice Filter</a:t>
            </a:r>
            <a:r>
              <a:rPr lang="en-US" altLang="zh-TW" sz="1600" dirty="0">
                <a:ea typeface="PMingLiU" pitchFamily="18" charset="-120"/>
              </a:rPr>
              <a:t>”, </a:t>
            </a:r>
            <a:r>
              <a:rPr lang="en-US" altLang="zh-CN" sz="1600" i="1" dirty="0">
                <a:ea typeface="宋体" pitchFamily="2" charset="-122"/>
              </a:rPr>
              <a:t>Proc.</a:t>
            </a:r>
            <a:r>
              <a:rPr lang="en-US" altLang="zh-CN" sz="1600" dirty="0">
                <a:ea typeface="宋体" pitchFamily="2" charset="-122"/>
              </a:rPr>
              <a:t> </a:t>
            </a:r>
            <a:r>
              <a:rPr lang="en-US" altLang="zh-CN" sz="1600" i="1" dirty="0">
                <a:ea typeface="宋体" pitchFamily="2" charset="-122"/>
              </a:rPr>
              <a:t>American Control Conference</a:t>
            </a:r>
            <a:r>
              <a:rPr lang="en-US" altLang="zh-CN" sz="1600" dirty="0">
                <a:ea typeface="宋体" pitchFamily="2" charset="-122"/>
              </a:rPr>
              <a:t>, 2004</a:t>
            </a:r>
            <a:r>
              <a:rPr lang="en-US" altLang="zh-TW" sz="1600" dirty="0">
                <a:ea typeface="PMingLiU" pitchFamily="18" charset="-120"/>
              </a:rPr>
              <a:t>, </a:t>
            </a:r>
            <a:r>
              <a:rPr lang="en-US" altLang="zh-CN" sz="1600" dirty="0">
                <a:ea typeface="宋体" pitchFamily="2" charset="-122"/>
              </a:rPr>
              <a:t>Volume 1, Issue 30</a:t>
            </a:r>
            <a:r>
              <a:rPr lang="en-US" altLang="zh-TW" sz="1600" dirty="0">
                <a:ea typeface="PMingLiU" pitchFamily="18" charset="-120"/>
              </a:rPr>
              <a:t>,</a:t>
            </a:r>
            <a:r>
              <a:rPr lang="en-US" altLang="zh-CN" sz="1600" dirty="0">
                <a:ea typeface="宋体" pitchFamily="2" charset="-122"/>
              </a:rPr>
              <a:t>  </a:t>
            </a:r>
            <a:r>
              <a:rPr lang="en-US" altLang="zh-TW" sz="1600" dirty="0">
                <a:ea typeface="PMingLiU" pitchFamily="18" charset="-120"/>
              </a:rPr>
              <a:t>pp. </a:t>
            </a:r>
            <a:r>
              <a:rPr lang="en-US" altLang="zh-CN" sz="1600" dirty="0">
                <a:ea typeface="宋体" pitchFamily="2" charset="-122"/>
              </a:rPr>
              <a:t>855 - 860 </a:t>
            </a:r>
          </a:p>
        </p:txBody>
      </p:sp>
      <p:sp>
        <p:nvSpPr>
          <p:cNvPr id="147468" name="Oval 12"/>
          <p:cNvSpPr>
            <a:spLocks noChangeArrowheads="1"/>
          </p:cNvSpPr>
          <p:nvPr/>
        </p:nvSpPr>
        <p:spPr bwMode="auto">
          <a:xfrm>
            <a:off x="5410200" y="1905000"/>
            <a:ext cx="762000" cy="457200"/>
          </a:xfrm>
          <a:prstGeom prst="ellipse">
            <a:avLst/>
          </a:pr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7469" name="Oval 13"/>
          <p:cNvSpPr>
            <a:spLocks noChangeArrowheads="1"/>
          </p:cNvSpPr>
          <p:nvPr/>
        </p:nvSpPr>
        <p:spPr bwMode="auto">
          <a:xfrm>
            <a:off x="4513118" y="2257549"/>
            <a:ext cx="762000" cy="457200"/>
          </a:xfrm>
          <a:prstGeom prst="ellipse">
            <a:avLst/>
          </a:prstGeom>
          <a:noFill/>
          <a:ln w="158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7470" name="Line 14"/>
          <p:cNvSpPr>
            <a:spLocks noChangeShapeType="1"/>
          </p:cNvSpPr>
          <p:nvPr/>
        </p:nvSpPr>
        <p:spPr bwMode="auto">
          <a:xfrm flipV="1">
            <a:off x="5181600" y="2362200"/>
            <a:ext cx="1600200" cy="85725"/>
          </a:xfrm>
          <a:prstGeom prst="line">
            <a:avLst/>
          </a:prstGeom>
          <a:noFill/>
          <a:ln w="15875">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7472" name="Line 16"/>
          <p:cNvSpPr>
            <a:spLocks noChangeShapeType="1"/>
          </p:cNvSpPr>
          <p:nvPr/>
        </p:nvSpPr>
        <p:spPr bwMode="auto">
          <a:xfrm flipV="1">
            <a:off x="6096000" y="2133600"/>
            <a:ext cx="762000" cy="0"/>
          </a:xfrm>
          <a:prstGeom prst="line">
            <a:avLst/>
          </a:prstGeom>
          <a:noFill/>
          <a:ln w="15875">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7473" name="Rectangle 17"/>
          <p:cNvSpPr>
            <a:spLocks noChangeArrowheads="1"/>
          </p:cNvSpPr>
          <p:nvPr/>
        </p:nvSpPr>
        <p:spPr bwMode="auto">
          <a:xfrm>
            <a:off x="6858000" y="1905000"/>
            <a:ext cx="1447800" cy="762000"/>
          </a:xfrm>
          <a:prstGeom prst="rect">
            <a:avLst/>
          </a:prstGeom>
          <a:solidFill>
            <a:srgbClr val="FF0000">
              <a:alpha val="31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ea typeface="宋体" pitchFamily="2" charset="-122"/>
              </a:rPr>
              <a:t>Considering </a:t>
            </a:r>
          </a:p>
          <a:p>
            <a:pPr algn="ctr"/>
            <a:r>
              <a:rPr lang="en-US" altLang="zh-CN">
                <a:ea typeface="宋体" pitchFamily="2" charset="-122"/>
              </a:rPr>
              <a:t>Noise!</a:t>
            </a:r>
          </a:p>
        </p:txBody>
      </p:sp>
      <mc:AlternateContent xmlns:mc="http://schemas.openxmlformats.org/markup-compatibility/2006" xmlns:a14="http://schemas.microsoft.com/office/drawing/2010/main">
        <mc:Choice Requires="a14">
          <p:sp>
            <p:nvSpPr>
              <p:cNvPr id="13" name="TextBox 12"/>
              <p:cNvSpPr txBox="1"/>
              <p:nvPr/>
            </p:nvSpPr>
            <p:spPr>
              <a:xfrm>
                <a:off x="1752600" y="1951890"/>
                <a:ext cx="4267199" cy="6865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charset="0"/>
                            </a:rPr>
                          </m:ctrlPr>
                        </m:dPr>
                        <m:e>
                          <m:eqArr>
                            <m:eqArrPr>
                              <m:ctrlPr>
                                <a:rPr lang="en-US" sz="2000" i="1" smtClean="0">
                                  <a:latin typeface="Cambria Math" charset="0"/>
                                </a:rPr>
                              </m:ctrlPr>
                            </m:eqArrPr>
                            <m:e>
                              <m:r>
                                <a:rPr lang="en-US" sz="2000" b="0" i="1" smtClean="0">
                                  <a:latin typeface="Cambria Math" charset="0"/>
                                </a:rPr>
                                <m:t>𝑥</m:t>
                              </m:r>
                              <m:d>
                                <m:dPr>
                                  <m:ctrlPr>
                                    <a:rPr lang="en-US" sz="2000" b="0" i="1" smtClean="0">
                                      <a:latin typeface="Cambria Math" charset="0"/>
                                    </a:rPr>
                                  </m:ctrlPr>
                                </m:dPr>
                                <m:e>
                                  <m:r>
                                    <a:rPr lang="en-US" sz="2000" b="0" i="1" smtClean="0">
                                      <a:latin typeface="Cambria Math" charset="0"/>
                                    </a:rPr>
                                    <m:t>𝑡</m:t>
                                  </m:r>
                                  <m:r>
                                    <a:rPr lang="en-US" sz="2000" b="0" i="1" smtClean="0">
                                      <a:latin typeface="Cambria Math" charset="0"/>
                                    </a:rPr>
                                    <m:t>+1</m:t>
                                  </m:r>
                                </m:e>
                              </m:d>
                              <m:r>
                                <a:rPr lang="en-US" sz="2000" b="0" i="1" smtClean="0">
                                  <a:latin typeface="Cambria Math" charset="0"/>
                                </a:rPr>
                                <m:t>=</m:t>
                              </m:r>
                              <m:r>
                                <a:rPr lang="en-US" sz="2000" b="0" i="1" smtClean="0">
                                  <a:latin typeface="Cambria Math" charset="0"/>
                                </a:rPr>
                                <m:t>𝐴𝑥</m:t>
                              </m:r>
                              <m:d>
                                <m:dPr>
                                  <m:ctrlPr>
                                    <a:rPr lang="en-US" sz="2000" b="0" i="1" smtClean="0">
                                      <a:latin typeface="Cambria Math" charset="0"/>
                                    </a:rPr>
                                  </m:ctrlPr>
                                </m:dPr>
                                <m:e>
                                  <m:r>
                                    <a:rPr lang="en-US" sz="2000" b="0" i="1" smtClean="0">
                                      <a:latin typeface="Cambria Math" charset="0"/>
                                    </a:rPr>
                                    <m:t>𝑡</m:t>
                                  </m:r>
                                </m:e>
                              </m:d>
                              <m:r>
                                <a:rPr lang="en-US" sz="2000" b="0" i="1" smtClean="0">
                                  <a:latin typeface="Cambria Math" charset="0"/>
                                </a:rPr>
                                <m:t>+</m:t>
                              </m:r>
                              <m:sSup>
                                <m:sSupPr>
                                  <m:ctrlPr>
                                    <a:rPr lang="en-US" sz="2000" b="0" i="1" smtClean="0">
                                      <a:latin typeface="Cambria Math" charset="0"/>
                                    </a:rPr>
                                  </m:ctrlPr>
                                </m:sSupPr>
                                <m:e>
                                  <m:r>
                                    <a:rPr lang="en-US" sz="2000" b="0" i="1" smtClean="0">
                                      <a:latin typeface="Cambria Math" charset="0"/>
                                    </a:rPr>
                                    <m:t>𝐵</m:t>
                                  </m:r>
                                </m:e>
                                <m:sup>
                                  <m:r>
                                    <a:rPr lang="en-US" sz="2000" b="0" i="1" smtClean="0">
                                      <a:latin typeface="Cambria Math" charset="0"/>
                                    </a:rPr>
                                    <m:t>𝑢</m:t>
                                  </m:r>
                                </m:sup>
                              </m:sSup>
                              <m:r>
                                <a:rPr lang="en-US" sz="2000" b="0" i="1" smtClean="0">
                                  <a:latin typeface="Cambria Math" charset="0"/>
                                </a:rPr>
                                <m:t>𝑢</m:t>
                              </m:r>
                              <m:d>
                                <m:dPr>
                                  <m:ctrlPr>
                                    <a:rPr lang="en-US" sz="2000" b="0" i="1" smtClean="0">
                                      <a:latin typeface="Cambria Math" charset="0"/>
                                    </a:rPr>
                                  </m:ctrlPr>
                                </m:dPr>
                                <m:e>
                                  <m:r>
                                    <a:rPr lang="en-US" sz="2000" b="0" i="1" smtClean="0">
                                      <a:latin typeface="Cambria Math" charset="0"/>
                                    </a:rPr>
                                    <m:t>𝑡</m:t>
                                  </m:r>
                                </m:e>
                              </m:d>
                              <m:r>
                                <a:rPr lang="en-US" sz="2000" b="0" i="1" smtClean="0">
                                  <a:latin typeface="Cambria Math" charset="0"/>
                                </a:rPr>
                                <m:t>+</m:t>
                              </m:r>
                              <m:sSup>
                                <m:sSupPr>
                                  <m:ctrlPr>
                                    <a:rPr lang="en-US" sz="2000" b="0" i="1" smtClean="0">
                                      <a:latin typeface="Cambria Math" charset="0"/>
                                    </a:rPr>
                                  </m:ctrlPr>
                                </m:sSupPr>
                                <m:e>
                                  <m:r>
                                    <a:rPr lang="en-US" sz="2000" b="0" i="1" smtClean="0">
                                      <a:latin typeface="Cambria Math" charset="0"/>
                                    </a:rPr>
                                    <m:t>𝐵</m:t>
                                  </m:r>
                                </m:e>
                                <m:sup>
                                  <m:r>
                                    <a:rPr lang="en-US" sz="2000" b="0" i="1" smtClean="0">
                                      <a:latin typeface="Cambria Math" charset="0"/>
                                    </a:rPr>
                                    <m:t>𝑤</m:t>
                                  </m:r>
                                </m:sup>
                              </m:sSup>
                              <m:r>
                                <a:rPr lang="en-US" sz="2000" b="0" i="1" smtClean="0">
                                  <a:latin typeface="Cambria Math" charset="0"/>
                                </a:rPr>
                                <m:t>𝑤</m:t>
                              </m:r>
                              <m:r>
                                <a:rPr lang="en-US" sz="2000" b="0" i="1" smtClean="0">
                                  <a:latin typeface="Cambria Math" charset="0"/>
                                </a:rPr>
                                <m:t>(</m:t>
                              </m:r>
                              <m:r>
                                <a:rPr lang="en-US" sz="2000" b="0" i="1" smtClean="0">
                                  <a:latin typeface="Cambria Math" charset="0"/>
                                </a:rPr>
                                <m:t>𝑡</m:t>
                              </m:r>
                              <m:r>
                                <a:rPr lang="en-US" sz="2000" b="0" i="1" smtClean="0">
                                  <a:latin typeface="Cambria Math" charset="0"/>
                                </a:rPr>
                                <m:t>)</m:t>
                              </m:r>
                            </m:e>
                            <m:e>
                              <m:r>
                                <a:rPr lang="en-US" sz="2000" b="0" i="1" smtClean="0">
                                  <a:latin typeface="Cambria Math" charset="0"/>
                                </a:rPr>
                                <m:t>𝑦</m:t>
                              </m:r>
                              <m:d>
                                <m:dPr>
                                  <m:ctrlPr>
                                    <a:rPr lang="en-US" sz="2000" b="0" i="1" smtClean="0">
                                      <a:latin typeface="Cambria Math" charset="0"/>
                                    </a:rPr>
                                  </m:ctrlPr>
                                </m:dPr>
                                <m:e>
                                  <m:r>
                                    <a:rPr lang="en-US" sz="2000" b="0" i="1" smtClean="0">
                                      <a:latin typeface="Cambria Math" charset="0"/>
                                    </a:rPr>
                                    <m:t>𝑡</m:t>
                                  </m:r>
                                </m:e>
                              </m:d>
                              <m:r>
                                <a:rPr lang="en-US" sz="2000" b="0" i="1" smtClean="0">
                                  <a:latin typeface="Cambria Math" charset="0"/>
                                </a:rPr>
                                <m:t>=</m:t>
                              </m:r>
                              <m:r>
                                <a:rPr lang="en-US" sz="2000" b="0" i="1" smtClean="0">
                                  <a:latin typeface="Cambria Math" charset="0"/>
                                </a:rPr>
                                <m:t>𝐶𝑥</m:t>
                              </m:r>
                              <m:d>
                                <m:dPr>
                                  <m:ctrlPr>
                                    <a:rPr lang="en-US" sz="2000" b="0" i="1" smtClean="0">
                                      <a:latin typeface="Cambria Math" charset="0"/>
                                    </a:rPr>
                                  </m:ctrlPr>
                                </m:dPr>
                                <m:e>
                                  <m:r>
                                    <a:rPr lang="en-US" sz="2000" b="0" i="1" smtClean="0">
                                      <a:latin typeface="Cambria Math" charset="0"/>
                                    </a:rPr>
                                    <m:t>𝑡</m:t>
                                  </m:r>
                                </m:e>
                              </m:d>
                              <m:r>
                                <a:rPr lang="en-US" sz="2000" b="0" i="1" smtClean="0">
                                  <a:latin typeface="Cambria Math" charset="0"/>
                                </a:rPr>
                                <m:t>+</m:t>
                              </m:r>
                              <m:r>
                                <a:rPr lang="en-US" sz="2000" b="0" i="1" smtClean="0">
                                  <a:latin typeface="Cambria Math" charset="0"/>
                                </a:rPr>
                                <m:t>𝑣</m:t>
                              </m:r>
                              <m:r>
                                <a:rPr lang="en-US" sz="2000" b="0" i="1" smtClean="0">
                                  <a:latin typeface="Cambria Math" charset="0"/>
                                </a:rPr>
                                <m:t>(</m:t>
                              </m:r>
                              <m:r>
                                <a:rPr lang="en-US" sz="2000" b="0" i="1" smtClean="0">
                                  <a:latin typeface="Cambria Math" charset="0"/>
                                </a:rPr>
                                <m:t>𝑡</m:t>
                              </m:r>
                              <m:r>
                                <a:rPr lang="en-US" sz="2000" b="0" i="1" smtClean="0">
                                  <a:latin typeface="Cambria Math" charset="0"/>
                                </a:rPr>
                                <m:t>)</m:t>
                              </m:r>
                            </m:e>
                          </m:eqArr>
                        </m:e>
                      </m:d>
                    </m:oMath>
                  </m:oMathPara>
                </a14:m>
                <a:endParaRPr lang="en-US" sz="2000" dirty="0" smtClean="0"/>
              </a:p>
            </p:txBody>
          </p:sp>
        </mc:Choice>
        <mc:Fallback xmlns="">
          <p:sp>
            <p:nvSpPr>
              <p:cNvPr id="13" name="TextBox 12"/>
              <p:cNvSpPr txBox="1">
                <a:spLocks noRot="1" noChangeAspect="1" noMove="1" noResize="1" noEditPoints="1" noAdjustHandles="1" noChangeArrowheads="1" noChangeShapeType="1" noTextEdit="1"/>
              </p:cNvSpPr>
              <p:nvPr/>
            </p:nvSpPr>
            <p:spPr>
              <a:xfrm>
                <a:off x="1752600" y="1951890"/>
                <a:ext cx="4267199" cy="686535"/>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324541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86" name="AutoShape 18"/>
          <p:cNvSpPr>
            <a:spLocks noChangeArrowheads="1"/>
          </p:cNvSpPr>
          <p:nvPr/>
        </p:nvSpPr>
        <p:spPr bwMode="auto">
          <a:xfrm>
            <a:off x="6858000" y="1295400"/>
            <a:ext cx="533400" cy="381000"/>
          </a:xfrm>
          <a:prstGeom prst="down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latin typeface="Times New Roman" pitchFamily="18" charset="0"/>
              <a:ea typeface="宋体" pitchFamily="2" charset="-122"/>
            </a:endParaRPr>
          </a:p>
        </p:txBody>
      </p:sp>
      <p:sp>
        <p:nvSpPr>
          <p:cNvPr id="160818" name="AutoShape 50"/>
          <p:cNvSpPr>
            <a:spLocks noChangeArrowheads="1"/>
          </p:cNvSpPr>
          <p:nvPr/>
        </p:nvSpPr>
        <p:spPr bwMode="auto">
          <a:xfrm>
            <a:off x="6858000" y="3886200"/>
            <a:ext cx="533400" cy="533400"/>
          </a:xfrm>
          <a:prstGeom prst="down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160793" name="Rectangle 25"/>
              <p:cNvSpPr>
                <a:spLocks noChangeArrowheads="1"/>
              </p:cNvSpPr>
              <p:nvPr/>
            </p:nvSpPr>
            <p:spPr bwMode="auto">
              <a:xfrm>
                <a:off x="304800" y="3733800"/>
                <a:ext cx="4495800" cy="2971800"/>
              </a:xfrm>
              <a:prstGeom prst="rect">
                <a:avLst/>
              </a:prstGeom>
              <a:solidFill>
                <a:srgbClr val="FFFFFF"/>
              </a:solidFill>
              <a:ln w="9525">
                <a:solidFill>
                  <a:schemeClr val="tx1"/>
                </a:solidFill>
                <a:miter lim="800000"/>
                <a:headEnd/>
                <a:tailEnd/>
              </a:ln>
              <a:effectLst/>
              <a:extLst>
                <a:ext uri="{AF507438-7753-43E0-B8FC-AC1667EBCBE1}">
                  <a14:hiddenEffects>
                    <a:effectLst>
                      <a:outerShdw dist="35921" dir="2700000" algn="ctr" rotWithShape="0">
                        <a:schemeClr val="bg2"/>
                      </a:outerShdw>
                    </a:effectLst>
                  </a14:hiddenEffects>
                </a:ext>
              </a:extLst>
            </p:spPr>
            <p:txBody>
              <a:bodyPr wrap="none" anchor="ctr"/>
              <a:lstStyle/>
              <a:p>
                <a:pPr algn="ctr"/>
                <a14:m>
                  <m:oMathPara xmlns:m="http://schemas.openxmlformats.org/officeDocument/2006/math">
                    <m:oMathParaPr>
                      <m:jc m:val="centerGroup"/>
                    </m:oMathParaPr>
                    <m:oMath xmlns:m="http://schemas.openxmlformats.org/officeDocument/2006/math">
                      <m:r>
                        <a:rPr lang="en-US" altLang="zh-CN" sz="1400" b="0" i="1" smtClean="0">
                          <a:latin typeface="Cambria Math" charset="0"/>
                          <a:ea typeface="宋体" pitchFamily="2" charset="-122"/>
                        </a:rPr>
                        <m:t>𝐻</m:t>
                      </m:r>
                      <m:d>
                        <m:dPr>
                          <m:ctrlPr>
                            <a:rPr lang="en-US" altLang="zh-CN" sz="1400" b="0" i="1" smtClean="0">
                              <a:latin typeface="Cambria Math" charset="0"/>
                              <a:ea typeface="宋体" pitchFamily="2" charset="-122"/>
                            </a:rPr>
                          </m:ctrlPr>
                        </m:dPr>
                        <m:e>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𝑀</m:t>
                          </m:r>
                        </m:e>
                      </m:d>
                      <m:r>
                        <m:rPr>
                          <m:aln/>
                        </m:rPr>
                        <a:rPr lang="en-US" altLang="zh-CN" sz="1400" b="0" i="1" smtClean="0">
                          <a:latin typeface="Cambria Math" charset="0"/>
                          <a:ea typeface="宋体" pitchFamily="2" charset="-122"/>
                        </a:rPr>
                        <m:t>=</m:t>
                      </m:r>
                      <m:d>
                        <m:dPr>
                          <m:begChr m:val="["/>
                          <m:endChr m:val="]"/>
                          <m:ctrlPr>
                            <a:rPr lang="en-US" altLang="zh-CN" sz="1400" b="0" i="1" smtClean="0">
                              <a:latin typeface="Cambria Math" charset="0"/>
                              <a:ea typeface="宋体" pitchFamily="2" charset="-122"/>
                            </a:rPr>
                          </m:ctrlPr>
                        </m:dPr>
                        <m:e>
                          <m:m>
                            <m:mPr>
                              <m:mcs>
                                <m:mc>
                                  <m:mcPr>
                                    <m:count m:val="4"/>
                                    <m:mcJc m:val="center"/>
                                  </m:mcPr>
                                </m:mc>
                              </m:mcs>
                              <m:ctrlPr>
                                <a:rPr lang="en-US" altLang="zh-CN" sz="1400" b="0" i="1" smtClean="0">
                                  <a:latin typeface="Cambria Math" charset="0"/>
                                  <a:ea typeface="宋体" pitchFamily="2" charset="-122"/>
                                </a:rPr>
                              </m:ctrlPr>
                            </m:mPr>
                            <m:mr>
                              <m:e>
                                <m:sSub>
                                  <m:sSubPr>
                                    <m:ctrlPr>
                                      <a:rPr lang="en-US" altLang="zh-CN" sz="1400" b="0" i="1" smtClean="0">
                                        <a:latin typeface="Cambria Math" charset="0"/>
                                        <a:ea typeface="宋体" pitchFamily="2" charset="-122"/>
                                      </a:rPr>
                                    </m:ctrlPr>
                                  </m:sSubPr>
                                  <m:e>
                                    <m:r>
                                      <m:rPr>
                                        <m:brk m:alnAt="7"/>
                                      </m:rPr>
                                      <a:rPr lang="en-US" altLang="zh-CN" sz="1400" b="0" i="1" smtClean="0">
                                        <a:latin typeface="Cambria Math" charset="0"/>
                                        <a:ea typeface="宋体" pitchFamily="2" charset="-122"/>
                                      </a:rPr>
                                      <m:t>h</m:t>
                                    </m:r>
                                  </m:e>
                                  <m:sub>
                                    <m:r>
                                      <m:rPr>
                                        <m:brk m:alnAt="7"/>
                                      </m:rPr>
                                      <a:rPr lang="en-US" altLang="zh-CN" sz="1400" b="0" i="1" smtClean="0">
                                        <a:latin typeface="Cambria Math" charset="0"/>
                                        <a:ea typeface="宋体" pitchFamily="2" charset="-122"/>
                                      </a:rPr>
                                      <m:t>1</m:t>
                                    </m:r>
                                  </m:sub>
                                </m:sSub>
                                <m:d>
                                  <m:dPr>
                                    <m:ctrlPr>
                                      <a:rPr lang="en-US" altLang="zh-CN" sz="1400" b="0" i="1" smtClean="0">
                                        <a:latin typeface="Cambria Math" charset="0"/>
                                        <a:ea typeface="宋体" pitchFamily="2" charset="-122"/>
                                      </a:rPr>
                                    </m:ctrlPr>
                                  </m:dPr>
                                  <m:e>
                                    <m:r>
                                      <m:rPr>
                                        <m:brk m:alnAt="7"/>
                                      </m:rP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,1</m:t>
                                    </m:r>
                                  </m:e>
                                </m:d>
                              </m:e>
                              <m:e>
                                <m:sSub>
                                  <m:sSubPr>
                                    <m:ctrlPr>
                                      <a:rPr lang="en-US" altLang="zh-CN" sz="1400" b="0" i="1" smtClean="0">
                                        <a:latin typeface="Cambria Math" charset="0"/>
                                        <a:ea typeface="宋体" pitchFamily="2" charset="-122"/>
                                      </a:rPr>
                                    </m:ctrlPr>
                                  </m:sSubPr>
                                  <m:e>
                                    <m:r>
                                      <a:rPr lang="en-US" altLang="zh-CN" sz="1400" b="0" i="1" smtClean="0">
                                        <a:latin typeface="Cambria Math" charset="0"/>
                                        <a:ea typeface="宋体" pitchFamily="2" charset="-122"/>
                                      </a:rPr>
                                      <m:t>h</m:t>
                                    </m:r>
                                  </m:e>
                                  <m:sub>
                                    <m:r>
                                      <a:rPr lang="en-US" altLang="zh-CN" sz="1400" b="0" i="1" smtClean="0">
                                        <a:latin typeface="Cambria Math" charset="0"/>
                                        <a:ea typeface="宋体" pitchFamily="2" charset="-122"/>
                                      </a:rPr>
                                      <m:t>1</m:t>
                                    </m:r>
                                  </m:sub>
                                </m:sSub>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,2)</m:t>
                                </m:r>
                              </m:e>
                              <m:e>
                                <m:r>
                                  <a:rPr lang="en-US" altLang="zh-CN" sz="1400" b="0" i="1" smtClean="0">
                                    <a:latin typeface="Cambria Math" charset="0"/>
                                    <a:ea typeface="宋体" pitchFamily="2" charset="-122"/>
                                  </a:rPr>
                                  <m:t>⋯</m:t>
                                </m:r>
                              </m:e>
                              <m:e>
                                <m:sSub>
                                  <m:sSubPr>
                                    <m:ctrlPr>
                                      <a:rPr lang="en-US" altLang="zh-CN" sz="1400" b="0" i="1" smtClean="0">
                                        <a:latin typeface="Cambria Math" charset="0"/>
                                        <a:ea typeface="宋体" pitchFamily="2" charset="-122"/>
                                      </a:rPr>
                                    </m:ctrlPr>
                                  </m:sSubPr>
                                  <m:e>
                                    <m:r>
                                      <a:rPr lang="en-US" altLang="zh-CN" sz="1400" b="0" i="1" smtClean="0">
                                        <a:latin typeface="Cambria Math" charset="0"/>
                                        <a:ea typeface="宋体" pitchFamily="2" charset="-122"/>
                                      </a:rPr>
                                      <m:t>h</m:t>
                                    </m:r>
                                  </m:e>
                                  <m:sub>
                                    <m:r>
                                      <a:rPr lang="en-US" altLang="zh-CN" sz="1400" b="0" i="1" smtClean="0">
                                        <a:latin typeface="Cambria Math" charset="0"/>
                                        <a:ea typeface="宋体" pitchFamily="2" charset="-122"/>
                                      </a:rPr>
                                      <m:t>1</m:t>
                                    </m:r>
                                  </m:sub>
                                </m:sSub>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m:t>
                                </m:r>
                              </m:e>
                            </m:mr>
                            <m:mr>
                              <m:e>
                                <m:sSub>
                                  <m:sSubPr>
                                    <m:ctrlPr>
                                      <a:rPr lang="en-US" altLang="zh-CN" sz="1400" b="0" i="1" smtClean="0">
                                        <a:latin typeface="Cambria Math" charset="0"/>
                                        <a:ea typeface="宋体" pitchFamily="2" charset="-122"/>
                                      </a:rPr>
                                    </m:ctrlPr>
                                  </m:sSubPr>
                                  <m:e>
                                    <m:r>
                                      <a:rPr lang="en-US" altLang="zh-CN" sz="1400" b="0" i="1" smtClean="0">
                                        <a:latin typeface="Cambria Math" charset="0"/>
                                        <a:ea typeface="宋体" pitchFamily="2" charset="-122"/>
                                      </a:rPr>
                                      <m:t>h</m:t>
                                    </m:r>
                                  </m:e>
                                  <m:sub>
                                    <m:r>
                                      <a:rPr lang="en-US" altLang="zh-CN" sz="1400" b="0" i="1" smtClean="0">
                                        <a:latin typeface="Cambria Math" charset="0"/>
                                        <a:ea typeface="宋体" pitchFamily="2" charset="-122"/>
                                      </a:rPr>
                                      <m:t>2</m:t>
                                    </m:r>
                                  </m:sub>
                                </m:sSub>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,1)</m:t>
                                </m:r>
                              </m:e>
                              <m:e>
                                <m:sSub>
                                  <m:sSubPr>
                                    <m:ctrlPr>
                                      <a:rPr lang="en-US" altLang="zh-CN" sz="1400" b="0" i="1" smtClean="0">
                                        <a:latin typeface="Cambria Math" charset="0"/>
                                        <a:ea typeface="宋体" pitchFamily="2" charset="-122"/>
                                      </a:rPr>
                                    </m:ctrlPr>
                                  </m:sSubPr>
                                  <m:e>
                                    <m:r>
                                      <a:rPr lang="en-US" altLang="zh-CN" sz="1400" b="0" i="1" smtClean="0">
                                        <a:latin typeface="Cambria Math" charset="0"/>
                                        <a:ea typeface="宋体" pitchFamily="2" charset="-122"/>
                                      </a:rPr>
                                      <m:t>h</m:t>
                                    </m:r>
                                  </m:e>
                                  <m:sub>
                                    <m:r>
                                      <a:rPr lang="en-US" altLang="zh-CN" sz="1400" b="0" i="1" smtClean="0">
                                        <a:latin typeface="Cambria Math" charset="0"/>
                                        <a:ea typeface="宋体" pitchFamily="2" charset="-122"/>
                                      </a:rPr>
                                      <m:t>2</m:t>
                                    </m:r>
                                  </m:sub>
                                </m:sSub>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,2)</m:t>
                                </m:r>
                              </m:e>
                              <m:e>
                                <m:r>
                                  <a:rPr lang="en-US" altLang="zh-CN" sz="1400" b="0" i="1" smtClean="0">
                                    <a:latin typeface="Cambria Math" charset="0"/>
                                    <a:ea typeface="宋体" pitchFamily="2" charset="-122"/>
                                  </a:rPr>
                                  <m:t>⋱</m:t>
                                </m:r>
                              </m:e>
                              <m:e>
                                <m:sSub>
                                  <m:sSubPr>
                                    <m:ctrlPr>
                                      <a:rPr lang="en-US" altLang="zh-CN" sz="1400" b="0" i="1" smtClean="0">
                                        <a:latin typeface="Cambria Math" charset="0"/>
                                        <a:ea typeface="宋体" pitchFamily="2" charset="-122"/>
                                      </a:rPr>
                                    </m:ctrlPr>
                                  </m:sSubPr>
                                  <m:e>
                                    <m:r>
                                      <a:rPr lang="en-US" altLang="zh-CN" sz="1400" b="0" i="1" smtClean="0">
                                        <a:latin typeface="Cambria Math" charset="0"/>
                                        <a:ea typeface="宋体" pitchFamily="2" charset="-122"/>
                                      </a:rPr>
                                      <m:t>h</m:t>
                                    </m:r>
                                  </m:e>
                                  <m:sub>
                                    <m:r>
                                      <a:rPr lang="en-US" altLang="zh-CN" sz="1400" b="0" i="1" smtClean="0">
                                        <a:latin typeface="Cambria Math" charset="0"/>
                                        <a:ea typeface="宋体" pitchFamily="2" charset="-122"/>
                                      </a:rPr>
                                      <m:t>2</m:t>
                                    </m:r>
                                  </m:sub>
                                </m:sSub>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m:t>
                                </m:r>
                              </m:e>
                            </m:mr>
                            <m:mr>
                              <m:e>
                                <m:r>
                                  <a:rPr lang="en-US" altLang="zh-CN" sz="1400" b="0" i="1" smtClean="0">
                                    <a:latin typeface="Cambria Math" charset="0"/>
                                    <a:ea typeface="宋体" pitchFamily="2" charset="-122"/>
                                  </a:rPr>
                                  <m:t>⋮</m:t>
                                </m:r>
                              </m:e>
                              <m:e>
                                <m:r>
                                  <a:rPr lang="en-US" altLang="zh-CN" sz="1400" b="0" i="1" smtClean="0">
                                    <a:latin typeface="Cambria Math" charset="0"/>
                                    <a:ea typeface="宋体" pitchFamily="2" charset="-122"/>
                                  </a:rPr>
                                  <m:t>⋮</m:t>
                                </m:r>
                              </m:e>
                              <m:e>
                                <m:r>
                                  <a:rPr lang="en-US" altLang="zh-CN" sz="1400" b="0" i="1" smtClean="0">
                                    <a:latin typeface="Cambria Math" charset="0"/>
                                    <a:ea typeface="宋体" pitchFamily="2" charset="-122"/>
                                  </a:rPr>
                                  <m:t>⋯</m:t>
                                </m:r>
                              </m:e>
                              <m:e>
                                <m:r>
                                  <a:rPr lang="en-US" altLang="zh-CN" sz="1400" b="0" i="1" smtClean="0">
                                    <a:latin typeface="Cambria Math" charset="0"/>
                                    <a:ea typeface="宋体" pitchFamily="2" charset="-122"/>
                                  </a:rPr>
                                  <m:t>⋮</m:t>
                                </m:r>
                              </m:e>
                            </m:mr>
                            <m:mr>
                              <m:e>
                                <m:sSub>
                                  <m:sSubPr>
                                    <m:ctrlPr>
                                      <a:rPr lang="en-US" altLang="zh-CN" sz="1400" b="0" i="1" smtClean="0">
                                        <a:latin typeface="Cambria Math" charset="0"/>
                                        <a:ea typeface="宋体" pitchFamily="2" charset="-122"/>
                                      </a:rPr>
                                    </m:ctrlPr>
                                  </m:sSubPr>
                                  <m:e>
                                    <m:r>
                                      <a:rPr lang="en-US" altLang="zh-CN" sz="1400" b="0" i="1" smtClean="0">
                                        <a:latin typeface="Cambria Math" charset="0"/>
                                        <a:ea typeface="宋体" pitchFamily="2" charset="-122"/>
                                      </a:rPr>
                                      <m:t>h</m:t>
                                    </m:r>
                                  </m:e>
                                  <m:sub>
                                    <m:r>
                                      <a:rPr lang="en-US" altLang="zh-CN" sz="1400" b="0" i="1" smtClean="0">
                                        <a:latin typeface="Cambria Math" charset="0"/>
                                        <a:ea typeface="宋体" pitchFamily="2" charset="-122"/>
                                      </a:rPr>
                                      <m:t>𝑀</m:t>
                                    </m:r>
                                  </m:sub>
                                </m:sSub>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,1)</m:t>
                                </m:r>
                              </m:e>
                              <m:e>
                                <m:sSub>
                                  <m:sSubPr>
                                    <m:ctrlPr>
                                      <a:rPr lang="en-US" altLang="zh-CN" sz="1400" b="0" i="1" smtClean="0">
                                        <a:latin typeface="Cambria Math" charset="0"/>
                                        <a:ea typeface="宋体" pitchFamily="2" charset="-122"/>
                                      </a:rPr>
                                    </m:ctrlPr>
                                  </m:sSubPr>
                                  <m:e>
                                    <m:r>
                                      <a:rPr lang="en-US" altLang="zh-CN" sz="1400" b="0" i="1" smtClean="0">
                                        <a:latin typeface="Cambria Math" charset="0"/>
                                        <a:ea typeface="宋体" pitchFamily="2" charset="-122"/>
                                      </a:rPr>
                                      <m:t>h</m:t>
                                    </m:r>
                                  </m:e>
                                  <m:sub>
                                    <m:r>
                                      <a:rPr lang="en-US" altLang="zh-CN" sz="1400" b="0" i="1" smtClean="0">
                                        <a:latin typeface="Cambria Math" charset="0"/>
                                        <a:ea typeface="宋体" pitchFamily="2" charset="-122"/>
                                      </a:rPr>
                                      <m:t>𝑀</m:t>
                                    </m:r>
                                  </m:sub>
                                </m:sSub>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,2)</m:t>
                                </m:r>
                              </m:e>
                              <m:e>
                                <m:r>
                                  <a:rPr lang="en-US" altLang="zh-CN" sz="1400" b="0" i="1" smtClean="0">
                                    <a:latin typeface="Cambria Math" charset="0"/>
                                    <a:ea typeface="宋体" pitchFamily="2" charset="-122"/>
                                  </a:rPr>
                                  <m:t>…</m:t>
                                </m:r>
                              </m:e>
                              <m:e>
                                <m:sSub>
                                  <m:sSubPr>
                                    <m:ctrlPr>
                                      <a:rPr lang="en-US" altLang="zh-CN" sz="1400" b="0" i="1" smtClean="0">
                                        <a:latin typeface="Cambria Math" charset="0"/>
                                        <a:ea typeface="宋体" pitchFamily="2" charset="-122"/>
                                      </a:rPr>
                                    </m:ctrlPr>
                                  </m:sSubPr>
                                  <m:e>
                                    <m:r>
                                      <a:rPr lang="en-US" altLang="zh-CN" sz="1400" b="0" i="1" smtClean="0">
                                        <a:latin typeface="Cambria Math" charset="0"/>
                                        <a:ea typeface="宋体" pitchFamily="2" charset="-122"/>
                                      </a:rPr>
                                      <m:t>h</m:t>
                                    </m:r>
                                  </m:e>
                                  <m:sub>
                                    <m:r>
                                      <a:rPr lang="en-US" altLang="zh-CN" sz="1400" b="0" i="1" smtClean="0">
                                        <a:latin typeface="Cambria Math" charset="0"/>
                                        <a:ea typeface="宋体" pitchFamily="2" charset="-122"/>
                                      </a:rPr>
                                      <m:t>𝑀</m:t>
                                    </m:r>
                                  </m:sub>
                                </m:sSub>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m:t>
                                </m:r>
                              </m:e>
                            </m:mr>
                          </m:m>
                        </m:e>
                      </m:d>
                    </m:oMath>
                    <m:oMath xmlns:m="http://schemas.openxmlformats.org/officeDocument/2006/math">
                      <m:r>
                        <m:rPr>
                          <m:aln/>
                        </m:rPr>
                        <a:rPr lang="en-US" altLang="zh-CN" sz="1400" b="0" i="1" smtClean="0">
                          <a:latin typeface="Cambria Math" charset="0"/>
                          <a:ea typeface="宋体" pitchFamily="2" charset="-122"/>
                        </a:rPr>
                        <m:t>=</m:t>
                      </m:r>
                      <m:d>
                        <m:dPr>
                          <m:begChr m:val="["/>
                          <m:endChr m:val="]"/>
                          <m:ctrlPr>
                            <a:rPr lang="en-US" altLang="zh-CN" sz="1400" b="0" i="1" smtClean="0">
                              <a:latin typeface="Cambria Math" charset="0"/>
                              <a:ea typeface="宋体" pitchFamily="2" charset="-122"/>
                            </a:rPr>
                          </m:ctrlPr>
                        </m:dPr>
                        <m:e>
                          <m:m>
                            <m:mPr>
                              <m:mcs>
                                <m:mc>
                                  <m:mcPr>
                                    <m:count m:val="1"/>
                                    <m:mcJc m:val="center"/>
                                  </m:mcPr>
                                </m:mc>
                              </m:mcs>
                              <m:ctrlPr>
                                <a:rPr lang="en-US" altLang="zh-CN" sz="1400" b="0" i="1" smtClean="0">
                                  <a:latin typeface="Cambria Math" charset="0"/>
                                  <a:ea typeface="宋体" pitchFamily="2" charset="-122"/>
                                </a:rPr>
                              </m:ctrlPr>
                            </m:mPr>
                            <m:mr>
                              <m:e>
                                <m:r>
                                  <m:rPr>
                                    <m:brk m:alnAt="7"/>
                                  </m:rPr>
                                  <a:rPr lang="en-US" altLang="zh-CN" sz="1400" b="0" i="1" smtClean="0">
                                    <a:latin typeface="Cambria Math" charset="0"/>
                                    <a:ea typeface="宋体" pitchFamily="2" charset="-122"/>
                                  </a:rPr>
                                  <m:t>𝐶</m:t>
                                </m:r>
                              </m:e>
                            </m:mr>
                            <m:mr>
                              <m:e>
                                <m:r>
                                  <a:rPr lang="en-US" altLang="zh-CN" sz="1400" b="0" i="1" smtClean="0">
                                    <a:latin typeface="Cambria Math" charset="0"/>
                                    <a:ea typeface="宋体" pitchFamily="2" charset="-122"/>
                                  </a:rPr>
                                  <m:t>𝐶𝐴</m:t>
                                </m:r>
                              </m:e>
                            </m:mr>
                            <m:mr>
                              <m:e>
                                <m:r>
                                  <a:rPr lang="en-US" altLang="zh-CN" sz="1400" b="0" i="1" smtClean="0">
                                    <a:latin typeface="Cambria Math" charset="0"/>
                                    <a:ea typeface="宋体" pitchFamily="2" charset="-122"/>
                                  </a:rPr>
                                  <m:t>⋮</m:t>
                                </m:r>
                              </m:e>
                            </m:mr>
                            <m:mr>
                              <m:e>
                                <m:r>
                                  <a:rPr lang="en-US" altLang="zh-CN" sz="1400" b="0" i="1" smtClean="0">
                                    <a:latin typeface="Cambria Math" charset="0"/>
                                    <a:ea typeface="宋体" pitchFamily="2" charset="-122"/>
                                  </a:rPr>
                                  <m:t>𝐶</m:t>
                                </m:r>
                                <m:sSup>
                                  <m:sSupPr>
                                    <m:ctrlPr>
                                      <a:rPr lang="en-US" altLang="zh-CN" sz="1400" b="0" i="1" smtClean="0">
                                        <a:latin typeface="Cambria Math" charset="0"/>
                                        <a:ea typeface="宋体" pitchFamily="2" charset="-122"/>
                                      </a:rPr>
                                    </m:ctrlPr>
                                  </m:sSupPr>
                                  <m:e>
                                    <m:r>
                                      <a:rPr lang="en-US" altLang="zh-CN" sz="1400" b="0" i="1" smtClean="0">
                                        <a:latin typeface="Cambria Math" charset="0"/>
                                        <a:ea typeface="宋体" pitchFamily="2" charset="-122"/>
                                      </a:rPr>
                                      <m:t>𝐴</m:t>
                                    </m:r>
                                  </m:e>
                                  <m:sup>
                                    <m:r>
                                      <a:rPr lang="en-US" altLang="zh-CN" sz="1400" b="0" i="1" smtClean="0">
                                        <a:latin typeface="Cambria Math" charset="0"/>
                                        <a:ea typeface="宋体" pitchFamily="2" charset="-122"/>
                                      </a:rPr>
                                      <m:t>𝑀</m:t>
                                    </m:r>
                                    <m:r>
                                      <a:rPr lang="en-US" altLang="zh-CN" sz="1400" b="0" i="1" smtClean="0">
                                        <a:latin typeface="Cambria Math" charset="0"/>
                                        <a:ea typeface="宋体" pitchFamily="2" charset="-122"/>
                                      </a:rPr>
                                      <m:t>−1</m:t>
                                    </m:r>
                                  </m:sup>
                                </m:sSup>
                              </m:e>
                            </m:mr>
                          </m:m>
                        </m:e>
                      </m:d>
                      <m:d>
                        <m:dPr>
                          <m:begChr m:val="["/>
                          <m:endChr m:val="]"/>
                          <m:ctrlPr>
                            <a:rPr lang="en-US" altLang="zh-CN" sz="1400" b="0" i="1" smtClean="0">
                              <a:latin typeface="Cambria Math" charset="0"/>
                              <a:ea typeface="宋体" pitchFamily="2" charset="-122"/>
                            </a:rPr>
                          </m:ctrlPr>
                        </m:dPr>
                        <m:e>
                          <m:m>
                            <m:mPr>
                              <m:mcs>
                                <m:mc>
                                  <m:mcPr>
                                    <m:count m:val="4"/>
                                    <m:mcJc m:val="center"/>
                                  </m:mcPr>
                                </m:mc>
                              </m:mcs>
                              <m:ctrlPr>
                                <a:rPr lang="en-US" altLang="zh-CN" sz="1400" b="0" i="1" smtClean="0">
                                  <a:latin typeface="Cambria Math" charset="0"/>
                                  <a:ea typeface="宋体" pitchFamily="2" charset="-122"/>
                                </a:rPr>
                              </m:ctrlPr>
                            </m:mPr>
                            <m:mr>
                              <m:e>
                                <m:r>
                                  <m:rPr>
                                    <m:brk m:alnAt="7"/>
                                  </m:rPr>
                                  <a:rPr lang="en-US" altLang="zh-CN" sz="1400" b="0" i="1" smtClean="0">
                                    <a:latin typeface="Cambria Math" charset="0"/>
                                    <a:ea typeface="宋体" pitchFamily="2" charset="-122"/>
                                  </a:rPr>
                                  <m:t>𝐵</m:t>
                                </m:r>
                              </m:e>
                              <m:e>
                                <m:r>
                                  <a:rPr lang="en-US" altLang="zh-CN" sz="1400" b="0" i="1" smtClean="0">
                                    <a:latin typeface="Cambria Math" charset="0"/>
                                    <a:ea typeface="宋体" pitchFamily="2" charset="-122"/>
                                  </a:rPr>
                                  <m:t>𝐵𝑆</m:t>
                                </m:r>
                              </m:e>
                              <m:e>
                                <m:r>
                                  <a:rPr lang="en-US" altLang="zh-CN" sz="1400" b="0" i="1" smtClean="0">
                                    <a:latin typeface="Cambria Math" charset="0"/>
                                    <a:ea typeface="宋体" pitchFamily="2" charset="-122"/>
                                  </a:rPr>
                                  <m:t>…</m:t>
                                </m:r>
                              </m:e>
                              <m:e>
                                <m:sSup>
                                  <m:sSupPr>
                                    <m:ctrlPr>
                                      <a:rPr lang="en-US" altLang="zh-CN" sz="1400" b="0" i="1" smtClean="0">
                                        <a:latin typeface="Cambria Math" charset="0"/>
                                        <a:ea typeface="宋体" pitchFamily="2" charset="-122"/>
                                      </a:rPr>
                                    </m:ctrlPr>
                                  </m:sSupPr>
                                  <m:e>
                                    <m:r>
                                      <a:rPr lang="en-US" altLang="zh-CN" sz="1400" b="0" i="1" smtClean="0">
                                        <a:latin typeface="Cambria Math" charset="0"/>
                                        <a:ea typeface="宋体" pitchFamily="2" charset="-122"/>
                                      </a:rPr>
                                      <m:t>𝑆</m:t>
                                    </m:r>
                                  </m:e>
                                  <m:sup>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−1</m:t>
                                    </m:r>
                                  </m:sup>
                                </m:sSup>
                                <m:r>
                                  <a:rPr lang="en-US" altLang="zh-CN" sz="1400" b="0" i="1" smtClean="0">
                                    <a:latin typeface="Cambria Math" charset="0"/>
                                    <a:ea typeface="宋体" pitchFamily="2" charset="-122"/>
                                  </a:rPr>
                                  <m:t>𝐵</m:t>
                                </m:r>
                              </m:e>
                            </m:mr>
                          </m:m>
                        </m:e>
                      </m:d>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𝑂</m:t>
                      </m:r>
                      <m:d>
                        <m:dPr>
                          <m:ctrlPr>
                            <a:rPr lang="en-US" altLang="zh-CN" sz="1400" b="0" i="1" smtClean="0">
                              <a:latin typeface="Cambria Math" charset="0"/>
                              <a:ea typeface="宋体" pitchFamily="2" charset="-122"/>
                            </a:rPr>
                          </m:ctrlPr>
                        </m:dPr>
                        <m:e>
                          <m:r>
                            <a:rPr lang="en-US" altLang="zh-CN" sz="1400" b="0" i="1" smtClean="0">
                              <a:latin typeface="Cambria Math" charset="0"/>
                              <a:ea typeface="宋体" pitchFamily="2" charset="-122"/>
                            </a:rPr>
                            <m:t>𝑀</m:t>
                          </m:r>
                        </m:e>
                      </m:d>
                      <m:r>
                        <a:rPr lang="en-US" altLang="zh-CN" sz="1400" b="0" i="1" smtClean="0">
                          <a:latin typeface="Cambria Math" charset="0"/>
                          <a:ea typeface="宋体" pitchFamily="2" charset="-122"/>
                        </a:rPr>
                        <m:t>𝐶</m:t>
                      </m:r>
                      <m:r>
                        <a:rPr lang="en-US" altLang="zh-CN" sz="1400" b="0" i="1" smtClean="0">
                          <a:latin typeface="Cambria Math" charset="0"/>
                          <a:ea typeface="宋体" pitchFamily="2" charset="-122"/>
                        </a:rPr>
                        <m:t>(</m:t>
                      </m:r>
                      <m:r>
                        <a:rPr lang="en-US" altLang="zh-CN" sz="1400" b="0" i="1" smtClean="0">
                          <a:latin typeface="Cambria Math" charset="0"/>
                          <a:ea typeface="宋体" pitchFamily="2" charset="-122"/>
                        </a:rPr>
                        <m:t>𝑁</m:t>
                      </m:r>
                      <m:r>
                        <a:rPr lang="en-US" altLang="zh-CN" sz="1400" b="0" i="1" smtClean="0">
                          <a:latin typeface="Cambria Math" charset="0"/>
                          <a:ea typeface="宋体" pitchFamily="2" charset="-122"/>
                        </a:rPr>
                        <m:t>)</m:t>
                      </m:r>
                    </m:oMath>
                  </m:oMathPara>
                </a14:m>
                <a:endParaRPr lang="en-US" altLang="zh-CN" sz="1400" dirty="0">
                  <a:ea typeface="宋体" pitchFamily="2" charset="-122"/>
                </a:endParaRPr>
              </a:p>
            </p:txBody>
          </p:sp>
        </mc:Choice>
        <mc:Fallback xmlns="">
          <p:sp>
            <p:nvSpPr>
              <p:cNvPr id="160793" name="Rectangle 25"/>
              <p:cNvSpPr>
                <a:spLocks noRot="1" noChangeAspect="1" noMove="1" noResize="1" noEditPoints="1" noAdjustHandles="1" noChangeArrowheads="1" noChangeShapeType="1" noTextEdit="1"/>
              </p:cNvSpPr>
              <p:nvPr/>
            </p:nvSpPr>
            <p:spPr bwMode="auto">
              <a:xfrm>
                <a:off x="304800" y="3733800"/>
                <a:ext cx="4495800" cy="2971800"/>
              </a:xfrm>
              <a:prstGeom prst="rect">
                <a:avLst/>
              </a:prstGeom>
              <a:blipFill rotWithShape="0">
                <a:blip r:embed="rId4"/>
                <a:stretch>
                  <a:fillRect/>
                </a:stretch>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160770" name="Rectangle 2"/>
          <p:cNvSpPr>
            <a:spLocks noGrp="1" noChangeArrowheads="1"/>
          </p:cNvSpPr>
          <p:nvPr>
            <p:ph type="title"/>
          </p:nvPr>
        </p:nvSpPr>
        <p:spPr>
          <a:xfrm>
            <a:off x="228600" y="-152400"/>
            <a:ext cx="7772400" cy="868363"/>
          </a:xfrm>
        </p:spPr>
        <p:txBody>
          <a:bodyPr/>
          <a:lstStyle/>
          <a:p>
            <a:r>
              <a:rPr lang="en-US" altLang="zh-TW" dirty="0" smtClean="0">
                <a:ea typeface="PMingLiU" pitchFamily="18" charset="-120"/>
              </a:rPr>
              <a:t>SID algorithm flow </a:t>
            </a:r>
            <a:r>
              <a:rPr lang="en-US" altLang="zh-TW" sz="1000" dirty="0" smtClean="0">
                <a:ea typeface="PMingLiU" pitchFamily="18" charset="-120"/>
              </a:rPr>
              <a:t>see [1] for more details</a:t>
            </a:r>
            <a:endParaRPr lang="en-US" altLang="zh-CN" dirty="0" smtClean="0">
              <a:ea typeface="宋体" pitchFamily="2" charset="-122"/>
            </a:endParaRPr>
          </a:p>
        </p:txBody>
      </p:sp>
      <p:sp>
        <p:nvSpPr>
          <p:cNvPr id="160774" name="AutoShape 6"/>
          <p:cNvSpPr>
            <a:spLocks noChangeArrowheads="1"/>
          </p:cNvSpPr>
          <p:nvPr/>
        </p:nvSpPr>
        <p:spPr bwMode="auto">
          <a:xfrm>
            <a:off x="3505200" y="838200"/>
            <a:ext cx="685800" cy="533400"/>
          </a:xfrm>
          <a:prstGeom prst="rightArrow">
            <a:avLst>
              <a:gd name="adj1" fmla="val 50000"/>
              <a:gd name="adj2" fmla="val 3214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latin typeface="Times New Roman" pitchFamily="18" charset="0"/>
                <a:ea typeface="宋体" pitchFamily="2" charset="-122"/>
              </a:rPr>
              <a:t>QR</a:t>
            </a:r>
          </a:p>
        </p:txBody>
      </p:sp>
      <p:sp>
        <p:nvSpPr>
          <p:cNvPr id="160773" name="Rectangle 5"/>
          <p:cNvSpPr>
            <a:spLocks noChangeArrowheads="1"/>
          </p:cNvSpPr>
          <p:nvPr/>
        </p:nvSpPr>
        <p:spPr bwMode="auto">
          <a:xfrm>
            <a:off x="1752600" y="685800"/>
            <a:ext cx="1828800" cy="838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dirty="0">
                <a:latin typeface="Times New Roman" pitchFamily="18" charset="0"/>
                <a:ea typeface="宋体" pitchFamily="2" charset="-122"/>
              </a:rPr>
              <a:t>Input/</a:t>
            </a:r>
            <a:r>
              <a:rPr lang="en-US" altLang="zh-CN" dirty="0" err="1">
                <a:latin typeface="Times New Roman" pitchFamily="18" charset="0"/>
                <a:ea typeface="宋体" pitchFamily="2" charset="-122"/>
              </a:rPr>
              <a:t>Ouput</a:t>
            </a:r>
            <a:r>
              <a:rPr lang="en-US" altLang="zh-CN" dirty="0">
                <a:latin typeface="Times New Roman" pitchFamily="18" charset="0"/>
                <a:ea typeface="宋体" pitchFamily="2" charset="-122"/>
              </a:rPr>
              <a:t> Data</a:t>
            </a:r>
          </a:p>
          <a:p>
            <a:pPr algn="ctr"/>
            <a:r>
              <a:rPr lang="en-US" altLang="zh-CN" i="1" dirty="0">
                <a:latin typeface="Times New Roman" pitchFamily="18" charset="0"/>
                <a:ea typeface="宋体" pitchFamily="2" charset="-122"/>
              </a:rPr>
              <a:t>u</a:t>
            </a:r>
            <a:r>
              <a:rPr lang="en-US" altLang="zh-CN" dirty="0">
                <a:latin typeface="Times New Roman" pitchFamily="18" charset="0"/>
                <a:ea typeface="宋体" pitchFamily="2" charset="-122"/>
              </a:rPr>
              <a:t>(</a:t>
            </a:r>
            <a:r>
              <a:rPr lang="en-US" altLang="zh-CN" i="1" dirty="0">
                <a:latin typeface="Times New Roman" pitchFamily="18" charset="0"/>
                <a:ea typeface="宋体" pitchFamily="2" charset="-122"/>
              </a:rPr>
              <a:t>t</a:t>
            </a:r>
            <a:r>
              <a:rPr lang="en-US" altLang="zh-CN" dirty="0">
                <a:latin typeface="Times New Roman" pitchFamily="18" charset="0"/>
                <a:ea typeface="宋体" pitchFamily="2" charset="-122"/>
              </a:rPr>
              <a:t>)</a:t>
            </a:r>
            <a:r>
              <a:rPr lang="en-US" altLang="zh-CN" i="1" dirty="0">
                <a:latin typeface="Times New Roman" pitchFamily="18" charset="0"/>
                <a:ea typeface="宋体" pitchFamily="2" charset="-122"/>
              </a:rPr>
              <a:t>, y</a:t>
            </a:r>
            <a:r>
              <a:rPr lang="en-US" altLang="zh-CN" dirty="0">
                <a:latin typeface="Times New Roman" pitchFamily="18" charset="0"/>
                <a:ea typeface="宋体" pitchFamily="2" charset="-122"/>
              </a:rPr>
              <a:t>(</a:t>
            </a:r>
            <a:r>
              <a:rPr lang="en-US" altLang="zh-CN" i="1" dirty="0">
                <a:latin typeface="Times New Roman" pitchFamily="18" charset="0"/>
                <a:ea typeface="宋体" pitchFamily="2" charset="-122"/>
              </a:rPr>
              <a:t>t</a:t>
            </a:r>
            <a:r>
              <a:rPr lang="en-US" altLang="zh-CN" dirty="0">
                <a:latin typeface="Times New Roman" pitchFamily="18" charset="0"/>
                <a:ea typeface="宋体" pitchFamily="2" charset="-122"/>
              </a:rPr>
              <a:t>)</a:t>
            </a:r>
          </a:p>
        </p:txBody>
      </p:sp>
      <p:sp>
        <p:nvSpPr>
          <p:cNvPr id="160775" name="Rectangle 7"/>
          <p:cNvSpPr>
            <a:spLocks noChangeArrowheads="1"/>
          </p:cNvSpPr>
          <p:nvPr/>
        </p:nvSpPr>
        <p:spPr bwMode="auto">
          <a:xfrm>
            <a:off x="4191000" y="685800"/>
            <a:ext cx="1524000" cy="838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dirty="0">
                <a:latin typeface="Times New Roman" pitchFamily="18" charset="0"/>
                <a:ea typeface="宋体" pitchFamily="2" charset="-122"/>
              </a:rPr>
              <a:t>Weighted </a:t>
            </a:r>
          </a:p>
          <a:p>
            <a:pPr algn="ctr"/>
            <a:r>
              <a:rPr lang="en-US" altLang="zh-CN" dirty="0" err="1">
                <a:latin typeface="Times New Roman" pitchFamily="18" charset="0"/>
                <a:ea typeface="宋体" pitchFamily="2" charset="-122"/>
              </a:rPr>
              <a:t>Hankel</a:t>
            </a:r>
            <a:r>
              <a:rPr lang="en-US" altLang="zh-CN" dirty="0">
                <a:latin typeface="Times New Roman" pitchFamily="18" charset="0"/>
                <a:ea typeface="宋体" pitchFamily="2" charset="-122"/>
              </a:rPr>
              <a:t> Matrix</a:t>
            </a:r>
          </a:p>
          <a:p>
            <a:pPr algn="ctr"/>
            <a:r>
              <a:rPr lang="en-US" altLang="zh-CN" i="1" dirty="0">
                <a:latin typeface="Times New Roman" pitchFamily="18" charset="0"/>
                <a:ea typeface="宋体" pitchFamily="2" charset="-122"/>
              </a:rPr>
              <a:t>HR</a:t>
            </a:r>
            <a:r>
              <a:rPr lang="en-US" altLang="zh-CN" i="1" baseline="30000" dirty="0">
                <a:latin typeface="Times New Roman" pitchFamily="18" charset="0"/>
                <a:ea typeface="宋体" pitchFamily="2" charset="-122"/>
              </a:rPr>
              <a:t>T</a:t>
            </a:r>
            <a:endParaRPr lang="en-US" altLang="zh-CN" i="1" dirty="0">
              <a:latin typeface="Times New Roman" pitchFamily="18" charset="0"/>
              <a:ea typeface="宋体" pitchFamily="2" charset="-122"/>
            </a:endParaRPr>
          </a:p>
        </p:txBody>
      </p:sp>
      <p:sp>
        <p:nvSpPr>
          <p:cNvPr id="160776" name="AutoShape 8"/>
          <p:cNvSpPr>
            <a:spLocks noChangeArrowheads="1"/>
          </p:cNvSpPr>
          <p:nvPr/>
        </p:nvSpPr>
        <p:spPr bwMode="auto">
          <a:xfrm>
            <a:off x="5715000" y="838200"/>
            <a:ext cx="685800" cy="533400"/>
          </a:xfrm>
          <a:prstGeom prst="rightArrow">
            <a:avLst>
              <a:gd name="adj1" fmla="val 50000"/>
              <a:gd name="adj2" fmla="val 3214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latin typeface="Times New Roman" pitchFamily="18" charset="0"/>
                <a:ea typeface="宋体" pitchFamily="2" charset="-122"/>
              </a:rPr>
              <a:t>SVD</a:t>
            </a:r>
          </a:p>
        </p:txBody>
      </p:sp>
      <p:sp>
        <p:nvSpPr>
          <p:cNvPr id="160777" name="Rectangle 9"/>
          <p:cNvSpPr>
            <a:spLocks noChangeArrowheads="1"/>
          </p:cNvSpPr>
          <p:nvPr/>
        </p:nvSpPr>
        <p:spPr bwMode="auto">
          <a:xfrm>
            <a:off x="6400800" y="838200"/>
            <a:ext cx="15240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i="1" dirty="0" smtClean="0">
                <a:latin typeface="Times New Roman" pitchFamily="18" charset="0"/>
                <a:ea typeface="宋体" pitchFamily="2" charset="-122"/>
              </a:rPr>
              <a:t>HR</a:t>
            </a:r>
            <a:r>
              <a:rPr lang="en-US" altLang="zh-CN" i="1" baseline="30000" dirty="0" smtClean="0">
                <a:latin typeface="Times New Roman" pitchFamily="18" charset="0"/>
                <a:ea typeface="宋体" pitchFamily="2" charset="-122"/>
              </a:rPr>
              <a:t>T</a:t>
            </a:r>
            <a:r>
              <a:rPr lang="en-US" altLang="zh-CN" i="1" dirty="0" smtClean="0">
                <a:latin typeface="Times New Roman" pitchFamily="18" charset="0"/>
                <a:ea typeface="宋体" pitchFamily="2" charset="-122"/>
              </a:rPr>
              <a:t>=U</a:t>
            </a:r>
            <a:r>
              <a:rPr lang="el-GR" altLang="zh-CN" i="1" dirty="0">
                <a:latin typeface="Times New Roman" pitchFamily="18" charset="0"/>
                <a:cs typeface="Times New Roman" pitchFamily="18" charset="0"/>
              </a:rPr>
              <a:t>Σ</a:t>
            </a:r>
            <a:r>
              <a:rPr lang="en-US" altLang="zh-CN" i="1" dirty="0">
                <a:latin typeface="Times New Roman" pitchFamily="18" charset="0"/>
                <a:ea typeface="宋体" pitchFamily="2" charset="-122"/>
                <a:cs typeface="Times New Roman" pitchFamily="18" charset="0"/>
              </a:rPr>
              <a:t>V</a:t>
            </a:r>
            <a:r>
              <a:rPr lang="en-US" altLang="zh-CN" i="1" baseline="30000" dirty="0">
                <a:latin typeface="Times New Roman" pitchFamily="18" charset="0"/>
                <a:ea typeface="宋体" pitchFamily="2" charset="-122"/>
                <a:cs typeface="Times New Roman" pitchFamily="18" charset="0"/>
              </a:rPr>
              <a:t>T</a:t>
            </a:r>
            <a:endParaRPr lang="el-GR" altLang="zh-CN" i="1" dirty="0">
              <a:latin typeface="Times New Roman" pitchFamily="18" charset="0"/>
              <a:cs typeface="Times New Roman" pitchFamily="18" charset="0"/>
            </a:endParaRPr>
          </a:p>
        </p:txBody>
      </p:sp>
      <p:sp>
        <p:nvSpPr>
          <p:cNvPr id="160787" name="AutoShape 19"/>
          <p:cNvSpPr>
            <a:spLocks noChangeArrowheads="1"/>
          </p:cNvSpPr>
          <p:nvPr/>
        </p:nvSpPr>
        <p:spPr bwMode="auto">
          <a:xfrm>
            <a:off x="6858000" y="2286000"/>
            <a:ext cx="533400" cy="533400"/>
          </a:xfrm>
          <a:prstGeom prst="down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latin typeface="Times New Roman" pitchFamily="18" charset="0"/>
              <a:ea typeface="宋体" pitchFamily="2" charset="-122"/>
            </a:endParaRPr>
          </a:p>
        </p:txBody>
      </p:sp>
      <p:sp>
        <p:nvSpPr>
          <p:cNvPr id="160788" name="Rectangle 20"/>
          <p:cNvSpPr>
            <a:spLocks noChangeArrowheads="1"/>
          </p:cNvSpPr>
          <p:nvPr/>
        </p:nvSpPr>
        <p:spPr bwMode="auto">
          <a:xfrm>
            <a:off x="5410200" y="2819400"/>
            <a:ext cx="3352800" cy="1295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dirty="0">
                <a:latin typeface="Times New Roman" pitchFamily="18" charset="0"/>
                <a:ea typeface="宋体" pitchFamily="2" charset="-122"/>
              </a:rPr>
              <a:t>Extended Observability</a:t>
            </a:r>
          </a:p>
          <a:p>
            <a:pPr algn="ctr"/>
            <a:r>
              <a:rPr lang="en-US" altLang="zh-CN" dirty="0" smtClean="0">
                <a:latin typeface="Times New Roman" pitchFamily="18" charset="0"/>
                <a:ea typeface="宋体" pitchFamily="2" charset="-122"/>
              </a:rPr>
              <a:t>/Controllability </a:t>
            </a:r>
            <a:r>
              <a:rPr lang="en-US" altLang="zh-CN" dirty="0">
                <a:latin typeface="Times New Roman" pitchFamily="18" charset="0"/>
                <a:ea typeface="宋体" pitchFamily="2" charset="-122"/>
              </a:rPr>
              <a:t>Matrix</a:t>
            </a:r>
          </a:p>
          <a:p>
            <a:pPr algn="ctr"/>
            <a:r>
              <a:rPr lang="en-US" altLang="zh-CN" i="1" dirty="0">
                <a:latin typeface="Times New Roman" pitchFamily="18" charset="0"/>
                <a:ea typeface="宋体" pitchFamily="2" charset="-122"/>
              </a:rPr>
              <a:t>O</a:t>
            </a:r>
            <a:r>
              <a:rPr lang="en-US" altLang="zh-CN" dirty="0">
                <a:latin typeface="Times New Roman" pitchFamily="18" charset="0"/>
                <a:ea typeface="宋体" pitchFamily="2" charset="-122"/>
              </a:rPr>
              <a:t>(</a:t>
            </a:r>
            <a:r>
              <a:rPr lang="en-US" altLang="zh-CN" i="1" dirty="0">
                <a:latin typeface="Times New Roman" pitchFamily="18" charset="0"/>
                <a:ea typeface="宋体" pitchFamily="2" charset="-122"/>
              </a:rPr>
              <a:t>M</a:t>
            </a:r>
            <a:r>
              <a:rPr lang="en-US" altLang="zh-CN" dirty="0">
                <a:latin typeface="Times New Roman" pitchFamily="18" charset="0"/>
                <a:ea typeface="宋体" pitchFamily="2" charset="-122"/>
              </a:rPr>
              <a:t>)</a:t>
            </a:r>
            <a:r>
              <a:rPr lang="en-US" altLang="zh-CN" i="1" dirty="0">
                <a:latin typeface="Times New Roman" pitchFamily="18" charset="0"/>
                <a:ea typeface="宋体" pitchFamily="2" charset="-122"/>
              </a:rPr>
              <a:t>=U</a:t>
            </a:r>
            <a:r>
              <a:rPr lang="en-US" altLang="zh-CN" i="1" baseline="-25000" dirty="0">
                <a:latin typeface="Times New Roman" pitchFamily="18" charset="0"/>
                <a:ea typeface="宋体" pitchFamily="2" charset="-122"/>
              </a:rPr>
              <a:t>r</a:t>
            </a:r>
            <a:r>
              <a:rPr lang="el-GR" altLang="zh-CN" i="1" dirty="0">
                <a:latin typeface="Times New Roman" pitchFamily="18" charset="0"/>
                <a:cs typeface="Times New Roman" pitchFamily="18" charset="0"/>
              </a:rPr>
              <a:t>Σ</a:t>
            </a:r>
            <a:r>
              <a:rPr lang="en-US" altLang="zh-CN" i="1" baseline="-25000" dirty="0">
                <a:latin typeface="Times New Roman" pitchFamily="18" charset="0"/>
                <a:ea typeface="宋体" pitchFamily="2" charset="-122"/>
                <a:cs typeface="Times New Roman" pitchFamily="18" charset="0"/>
              </a:rPr>
              <a:t>r</a:t>
            </a:r>
            <a:r>
              <a:rPr lang="en-US" altLang="zh-CN" i="1" baseline="30000" dirty="0">
                <a:latin typeface="Times New Roman" pitchFamily="18" charset="0"/>
                <a:ea typeface="宋体" pitchFamily="2" charset="-122"/>
                <a:cs typeface="Times New Roman" pitchFamily="18" charset="0"/>
              </a:rPr>
              <a:t>1/2</a:t>
            </a:r>
          </a:p>
          <a:p>
            <a:pPr algn="ctr"/>
            <a:r>
              <a:rPr lang="en-US" altLang="zh-CN" i="1" dirty="0">
                <a:latin typeface="Times New Roman" pitchFamily="18" charset="0"/>
                <a:ea typeface="宋体" pitchFamily="2" charset="-122"/>
                <a:cs typeface="Times New Roman" pitchFamily="18" charset="0"/>
              </a:rPr>
              <a:t>C</a:t>
            </a:r>
            <a:r>
              <a:rPr lang="en-US" altLang="zh-CN" dirty="0">
                <a:latin typeface="Times New Roman" pitchFamily="18" charset="0"/>
                <a:ea typeface="宋体" pitchFamily="2" charset="-122"/>
                <a:cs typeface="Times New Roman" pitchFamily="18" charset="0"/>
              </a:rPr>
              <a:t>(</a:t>
            </a:r>
            <a:r>
              <a:rPr lang="en-US" altLang="zh-CN" i="1" dirty="0">
                <a:latin typeface="Times New Roman" pitchFamily="18" charset="0"/>
                <a:ea typeface="宋体" pitchFamily="2" charset="-122"/>
                <a:cs typeface="Times New Roman" pitchFamily="18" charset="0"/>
              </a:rPr>
              <a:t>N</a:t>
            </a:r>
            <a:r>
              <a:rPr lang="en-US" altLang="zh-CN" dirty="0">
                <a:latin typeface="Times New Roman" pitchFamily="18" charset="0"/>
                <a:ea typeface="宋体" pitchFamily="2" charset="-122"/>
                <a:cs typeface="Times New Roman" pitchFamily="18" charset="0"/>
              </a:rPr>
              <a:t>)</a:t>
            </a:r>
            <a:r>
              <a:rPr lang="en-US" altLang="zh-CN" i="1" dirty="0">
                <a:latin typeface="Times New Roman" pitchFamily="18" charset="0"/>
                <a:ea typeface="宋体" pitchFamily="2" charset="-122"/>
                <a:cs typeface="Times New Roman" pitchFamily="18" charset="0"/>
              </a:rPr>
              <a:t>=</a:t>
            </a:r>
            <a:r>
              <a:rPr lang="en-US" altLang="zh-CN" i="1" baseline="-25000" dirty="0">
                <a:latin typeface="Times New Roman" pitchFamily="18" charset="0"/>
                <a:ea typeface="宋体" pitchFamily="2" charset="-122"/>
                <a:cs typeface="Times New Roman" pitchFamily="18" charset="0"/>
              </a:rPr>
              <a:t> </a:t>
            </a:r>
            <a:r>
              <a:rPr lang="el-GR" altLang="zh-CN" i="1" dirty="0"/>
              <a:t>Σ</a:t>
            </a:r>
            <a:r>
              <a:rPr lang="en-US" altLang="zh-CN" i="1" baseline="-25000" dirty="0">
                <a:ea typeface="宋体" pitchFamily="2" charset="-122"/>
              </a:rPr>
              <a:t>r</a:t>
            </a:r>
            <a:r>
              <a:rPr lang="en-US" altLang="zh-CN" i="1" baseline="30000" dirty="0">
                <a:ea typeface="宋体" pitchFamily="2" charset="-122"/>
              </a:rPr>
              <a:t>1/2</a:t>
            </a:r>
            <a:r>
              <a:rPr lang="en-US" altLang="zh-CN" i="1" dirty="0">
                <a:latin typeface="Times New Roman" pitchFamily="18" charset="0"/>
                <a:ea typeface="宋体" pitchFamily="2" charset="-122"/>
              </a:rPr>
              <a:t>V</a:t>
            </a:r>
            <a:r>
              <a:rPr lang="en-US" altLang="zh-CN" i="1" baseline="-25000" dirty="0">
                <a:latin typeface="Times New Roman" pitchFamily="18" charset="0"/>
                <a:ea typeface="宋体" pitchFamily="2" charset="-122"/>
              </a:rPr>
              <a:t>r</a:t>
            </a:r>
            <a:r>
              <a:rPr lang="en-US" altLang="zh-CN" i="1" baseline="30000" dirty="0">
                <a:latin typeface="Times New Roman" pitchFamily="18" charset="0"/>
                <a:ea typeface="宋体" pitchFamily="2" charset="-122"/>
              </a:rPr>
              <a:t>T</a:t>
            </a:r>
            <a:r>
              <a:rPr lang="en-US" altLang="zh-CN" dirty="0">
                <a:latin typeface="Times New Roman" pitchFamily="18" charset="0"/>
                <a:ea typeface="宋体" pitchFamily="2" charset="-122"/>
              </a:rPr>
              <a:t>(</a:t>
            </a:r>
            <a:r>
              <a:rPr lang="en-US" altLang="zh-CN" i="1" dirty="0">
                <a:latin typeface="Times New Roman" pitchFamily="18" charset="0"/>
                <a:ea typeface="宋体" pitchFamily="2" charset="-122"/>
              </a:rPr>
              <a:t>R</a:t>
            </a:r>
            <a:r>
              <a:rPr lang="en-US" altLang="zh-CN" i="1" baseline="30000" dirty="0">
                <a:latin typeface="Times New Roman" pitchFamily="18" charset="0"/>
                <a:ea typeface="宋体" pitchFamily="2" charset="-122"/>
              </a:rPr>
              <a:t>T</a:t>
            </a:r>
            <a:r>
              <a:rPr lang="en-US" altLang="zh-CN" dirty="0">
                <a:latin typeface="Times New Roman" pitchFamily="18" charset="0"/>
                <a:ea typeface="宋体" pitchFamily="2" charset="-122"/>
              </a:rPr>
              <a:t>)</a:t>
            </a:r>
            <a:r>
              <a:rPr lang="en-US" altLang="zh-CN" baseline="30000" dirty="0">
                <a:latin typeface="Times New Roman" pitchFamily="18" charset="0"/>
                <a:ea typeface="宋体" pitchFamily="2" charset="-122"/>
              </a:rPr>
              <a:t>-1</a:t>
            </a:r>
            <a:endParaRPr lang="el-GR" altLang="zh-CN" i="1" baseline="30000" dirty="0">
              <a:latin typeface="Times New Roman" pitchFamily="18" charset="0"/>
              <a:cs typeface="Times New Roman" pitchFamily="18" charset="0"/>
            </a:endParaRPr>
          </a:p>
        </p:txBody>
      </p:sp>
      <p:sp>
        <p:nvSpPr>
          <p:cNvPr id="160790" name="Rectangle 22"/>
          <p:cNvSpPr>
            <a:spLocks noChangeArrowheads="1"/>
          </p:cNvSpPr>
          <p:nvPr/>
        </p:nvSpPr>
        <p:spPr bwMode="auto">
          <a:xfrm>
            <a:off x="609600" y="1676400"/>
            <a:ext cx="3962400" cy="19050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ea typeface="宋体" pitchFamily="2" charset="-122"/>
            </a:endParaRPr>
          </a:p>
          <a:p>
            <a:pPr algn="ctr"/>
            <a:endParaRPr lang="en-US" altLang="zh-CN">
              <a:ea typeface="宋体" pitchFamily="2" charset="-122"/>
            </a:endParaRPr>
          </a:p>
          <a:p>
            <a:pPr algn="ctr"/>
            <a:endParaRPr lang="en-US" altLang="zh-CN">
              <a:ea typeface="宋体" pitchFamily="2" charset="-122"/>
            </a:endParaRPr>
          </a:p>
          <a:p>
            <a:pPr algn="ctr"/>
            <a:endParaRPr lang="en-US" altLang="zh-CN">
              <a:ea typeface="宋体" pitchFamily="2" charset="-122"/>
            </a:endParaRPr>
          </a:p>
          <a:p>
            <a:pPr algn="ctr"/>
            <a:endParaRPr lang="en-US" altLang="zh-CN">
              <a:ea typeface="宋体" pitchFamily="2" charset="-122"/>
            </a:endParaRPr>
          </a:p>
        </p:txBody>
      </p:sp>
      <p:sp>
        <p:nvSpPr>
          <p:cNvPr id="160779" name="Rectangle 11"/>
          <p:cNvSpPr>
            <a:spLocks noChangeArrowheads="1"/>
          </p:cNvSpPr>
          <p:nvPr/>
        </p:nvSpPr>
        <p:spPr bwMode="auto">
          <a:xfrm>
            <a:off x="6324600" y="1676400"/>
            <a:ext cx="1524000" cy="762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latin typeface="Times New Roman" pitchFamily="18" charset="0"/>
                <a:ea typeface="宋体" pitchFamily="2" charset="-122"/>
              </a:rPr>
              <a:t>Reduced SVD</a:t>
            </a:r>
          </a:p>
          <a:p>
            <a:pPr algn="ctr"/>
            <a:r>
              <a:rPr lang="en-US" altLang="zh-CN" i="1">
                <a:latin typeface="Times New Roman" pitchFamily="18" charset="0"/>
                <a:ea typeface="宋体" pitchFamily="2" charset="-122"/>
              </a:rPr>
              <a:t>HR</a:t>
            </a:r>
            <a:r>
              <a:rPr lang="en-US" altLang="zh-CN" i="1" baseline="30000">
                <a:latin typeface="Times New Roman" pitchFamily="18" charset="0"/>
                <a:ea typeface="宋体" pitchFamily="2" charset="-122"/>
              </a:rPr>
              <a:t>T</a:t>
            </a:r>
            <a:r>
              <a:rPr lang="en-US" altLang="zh-CN" i="1">
                <a:latin typeface="Times New Roman" pitchFamily="18" charset="0"/>
                <a:ea typeface="宋体" pitchFamily="2" charset="-122"/>
              </a:rPr>
              <a:t>=U</a:t>
            </a:r>
            <a:r>
              <a:rPr lang="en-US" altLang="zh-CN" i="1" baseline="-25000">
                <a:latin typeface="Times New Roman" pitchFamily="18" charset="0"/>
                <a:ea typeface="宋体" pitchFamily="2" charset="-122"/>
              </a:rPr>
              <a:t>r</a:t>
            </a:r>
            <a:r>
              <a:rPr lang="el-GR" altLang="zh-CN" i="1">
                <a:latin typeface="Times New Roman" pitchFamily="18" charset="0"/>
                <a:cs typeface="Times New Roman" pitchFamily="18" charset="0"/>
              </a:rPr>
              <a:t>Σ</a:t>
            </a:r>
            <a:r>
              <a:rPr lang="en-US" altLang="zh-CN" i="1" baseline="-25000">
                <a:latin typeface="Times New Roman" pitchFamily="18" charset="0"/>
                <a:ea typeface="宋体" pitchFamily="2" charset="-122"/>
                <a:cs typeface="Times New Roman" pitchFamily="18" charset="0"/>
              </a:rPr>
              <a:t>r</a:t>
            </a:r>
            <a:r>
              <a:rPr lang="en-US" altLang="zh-CN" i="1">
                <a:latin typeface="Times New Roman" pitchFamily="18" charset="0"/>
                <a:ea typeface="宋体" pitchFamily="2" charset="-122"/>
                <a:cs typeface="Times New Roman" pitchFamily="18" charset="0"/>
              </a:rPr>
              <a:t>V</a:t>
            </a:r>
            <a:r>
              <a:rPr lang="en-US" altLang="zh-CN" i="1" baseline="-25000">
                <a:latin typeface="Times New Roman" pitchFamily="18" charset="0"/>
                <a:ea typeface="宋体" pitchFamily="2" charset="-122"/>
                <a:cs typeface="Times New Roman" pitchFamily="18" charset="0"/>
              </a:rPr>
              <a:t>r</a:t>
            </a:r>
            <a:r>
              <a:rPr lang="en-US" altLang="zh-CN" i="1" baseline="30000">
                <a:latin typeface="Times New Roman" pitchFamily="18" charset="0"/>
                <a:ea typeface="宋体" pitchFamily="2" charset="-122"/>
                <a:cs typeface="Times New Roman" pitchFamily="18" charset="0"/>
              </a:rPr>
              <a:t>T</a:t>
            </a:r>
            <a:endParaRPr lang="el-GR" altLang="zh-CN" i="1">
              <a:latin typeface="Times New Roman" pitchFamily="18" charset="0"/>
              <a:cs typeface="Times New Roman" pitchFamily="18" charset="0"/>
            </a:endParaRPr>
          </a:p>
        </p:txBody>
      </p:sp>
      <p:grpSp>
        <p:nvGrpSpPr>
          <p:cNvPr id="160817" name="Group 49"/>
          <p:cNvGrpSpPr>
            <a:grpSpLocks/>
          </p:cNvGrpSpPr>
          <p:nvPr/>
        </p:nvGrpSpPr>
        <p:grpSpPr bwMode="auto">
          <a:xfrm>
            <a:off x="5105400" y="4419600"/>
            <a:ext cx="3962400" cy="1066800"/>
            <a:chOff x="2976" y="3312"/>
            <a:chExt cx="2496" cy="768"/>
          </a:xfrm>
        </p:grpSpPr>
        <p:sp>
          <p:nvSpPr>
            <p:cNvPr id="160795" name="Rectangle 27"/>
            <p:cNvSpPr>
              <a:spLocks noChangeArrowheads="1"/>
            </p:cNvSpPr>
            <p:nvPr/>
          </p:nvSpPr>
          <p:spPr bwMode="auto">
            <a:xfrm>
              <a:off x="2976" y="3312"/>
              <a:ext cx="2496" cy="76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i="1" dirty="0">
                  <a:latin typeface="Times New Roman" pitchFamily="18" charset="0"/>
                  <a:ea typeface="宋体" pitchFamily="2" charset="-122"/>
                </a:rPr>
                <a:t>C = first top block row of O</a:t>
              </a:r>
              <a:r>
                <a:rPr lang="en-US" altLang="zh-CN" dirty="0">
                  <a:latin typeface="Times New Roman" pitchFamily="18" charset="0"/>
                  <a:ea typeface="宋体" pitchFamily="2" charset="-122"/>
                </a:rPr>
                <a:t>(</a:t>
              </a:r>
              <a:r>
                <a:rPr lang="en-US" altLang="zh-CN" i="1" dirty="0">
                  <a:latin typeface="Times New Roman" pitchFamily="18" charset="0"/>
                  <a:ea typeface="宋体" pitchFamily="2" charset="-122"/>
                </a:rPr>
                <a:t>M</a:t>
              </a:r>
              <a:r>
                <a:rPr lang="en-US" altLang="zh-CN" dirty="0">
                  <a:latin typeface="Times New Roman" pitchFamily="18" charset="0"/>
                  <a:ea typeface="宋体" pitchFamily="2" charset="-122"/>
                </a:rPr>
                <a:t>)</a:t>
              </a:r>
            </a:p>
            <a:p>
              <a:r>
                <a:rPr lang="en-US" altLang="zh-CN" dirty="0">
                  <a:latin typeface="Times New Roman" pitchFamily="18" charset="0"/>
                  <a:ea typeface="宋体" pitchFamily="2" charset="-122"/>
                </a:rPr>
                <a:t>[</a:t>
              </a:r>
              <a:r>
                <a:rPr lang="en-US" altLang="zh-CN" i="1" dirty="0">
                  <a:latin typeface="Times New Roman" pitchFamily="18" charset="0"/>
                  <a:ea typeface="宋体" pitchFamily="2" charset="-122"/>
                </a:rPr>
                <a:t>F</a:t>
              </a:r>
              <a:r>
                <a:rPr lang="en-US" altLang="zh-CN" dirty="0">
                  <a:latin typeface="Times New Roman" pitchFamily="18" charset="0"/>
                  <a:ea typeface="宋体" pitchFamily="2" charset="-122"/>
                </a:rPr>
                <a:t>(</a:t>
              </a:r>
              <a:r>
                <a:rPr lang="en-US" altLang="zh-CN" i="1" dirty="0">
                  <a:latin typeface="Times New Roman" pitchFamily="18" charset="0"/>
                  <a:ea typeface="宋体" pitchFamily="2" charset="-122"/>
                </a:rPr>
                <a:t>t</a:t>
              </a:r>
              <a:r>
                <a:rPr lang="en-US" altLang="zh-CN" dirty="0">
                  <a:latin typeface="Times New Roman" pitchFamily="18" charset="0"/>
                  <a:ea typeface="宋体" pitchFamily="2" charset="-122"/>
                </a:rPr>
                <a:t>)</a:t>
              </a:r>
              <a:r>
                <a:rPr lang="en-US" altLang="zh-CN" i="1" dirty="0">
                  <a:latin typeface="Times New Roman" pitchFamily="18" charset="0"/>
                  <a:ea typeface="宋体" pitchFamily="2" charset="-122"/>
                </a:rPr>
                <a:t> B</a:t>
              </a:r>
              <a:r>
                <a:rPr lang="en-US" altLang="zh-CN" i="1" baseline="30000" dirty="0">
                  <a:latin typeface="Times New Roman" pitchFamily="18" charset="0"/>
                  <a:ea typeface="宋体" pitchFamily="2" charset="-122"/>
                </a:rPr>
                <a:t>u</a:t>
              </a:r>
              <a:r>
                <a:rPr lang="en-US" altLang="zh-CN" dirty="0">
                  <a:latin typeface="Times New Roman" pitchFamily="18" charset="0"/>
                  <a:ea typeface="宋体" pitchFamily="2" charset="-122"/>
                </a:rPr>
                <a:t>]</a:t>
              </a:r>
              <a:r>
                <a:rPr lang="en-US" altLang="zh-CN" i="1" dirty="0">
                  <a:latin typeface="Times New Roman" pitchFamily="18" charset="0"/>
                  <a:ea typeface="宋体" pitchFamily="2" charset="-122"/>
                </a:rPr>
                <a:t>=first left block column of </a:t>
              </a:r>
              <a:r>
                <a:rPr lang="en-US" altLang="zh-CN" i="1" dirty="0">
                  <a:latin typeface="Times New Roman" pitchFamily="18" charset="0"/>
                  <a:ea typeface="宋体" pitchFamily="2" charset="-122"/>
                  <a:cs typeface="Times New Roman" pitchFamily="18" charset="0"/>
                </a:rPr>
                <a:t>C</a:t>
              </a:r>
              <a:r>
                <a:rPr lang="en-US" altLang="zh-CN" dirty="0">
                  <a:latin typeface="Times New Roman" pitchFamily="18" charset="0"/>
                  <a:ea typeface="宋体" pitchFamily="2" charset="-122"/>
                  <a:cs typeface="Times New Roman" pitchFamily="18" charset="0"/>
                </a:rPr>
                <a:t>(</a:t>
              </a:r>
              <a:r>
                <a:rPr lang="en-US" altLang="zh-CN" i="1" dirty="0">
                  <a:latin typeface="Times New Roman" pitchFamily="18" charset="0"/>
                  <a:ea typeface="宋体" pitchFamily="2" charset="-122"/>
                  <a:cs typeface="Times New Roman" pitchFamily="18" charset="0"/>
                </a:rPr>
                <a:t>N</a:t>
              </a:r>
              <a:r>
                <a:rPr lang="en-US" altLang="zh-CN" dirty="0">
                  <a:latin typeface="Times New Roman" pitchFamily="18" charset="0"/>
                  <a:ea typeface="宋体" pitchFamily="2" charset="-122"/>
                  <a:cs typeface="Times New Roman" pitchFamily="18" charset="0"/>
                </a:rPr>
                <a:t>)</a:t>
              </a:r>
            </a:p>
            <a:p>
              <a:endParaRPr lang="en-US" altLang="zh-CN" dirty="0">
                <a:latin typeface="Times New Roman" pitchFamily="18" charset="0"/>
                <a:ea typeface="宋体" pitchFamily="2" charset="-122"/>
                <a:cs typeface="Times New Roman" pitchFamily="18" charset="0"/>
              </a:endParaRPr>
            </a:p>
          </p:txBody>
        </p:sp>
        <p:graphicFrame>
          <p:nvGraphicFramePr>
            <p:cNvPr id="160815" name="Object 47"/>
            <p:cNvGraphicFramePr>
              <a:graphicFrameLocks noChangeAspect="1"/>
            </p:cNvGraphicFramePr>
            <p:nvPr/>
          </p:nvGraphicFramePr>
          <p:xfrm>
            <a:off x="3072" y="3801"/>
            <a:ext cx="1304" cy="279"/>
          </p:xfrm>
          <a:graphic>
            <a:graphicData uri="http://schemas.openxmlformats.org/presentationml/2006/ole">
              <mc:AlternateContent xmlns:mc="http://schemas.openxmlformats.org/markup-compatibility/2006">
                <mc:Choice xmlns:v="urn:schemas-microsoft-com:vml" Requires="v">
                  <p:oleObj spid="_x0000_s3134" name="Equation" r:id="rId5" imgW="1307880" imgH="279360" progId="Equation.DSMT4">
                    <p:embed/>
                  </p:oleObj>
                </mc:Choice>
                <mc:Fallback>
                  <p:oleObj name="Equation" r:id="rId5" imgW="1307880" imgH="27936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2" y="3801"/>
                          <a:ext cx="1304"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60828" name="Rectangle 60"/>
          <p:cNvSpPr>
            <a:spLocks noChangeArrowheads="1"/>
          </p:cNvSpPr>
          <p:nvPr/>
        </p:nvSpPr>
        <p:spPr bwMode="auto">
          <a:xfrm>
            <a:off x="5181600" y="5562600"/>
            <a:ext cx="3581400" cy="1219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2" name="TextBox 1"/>
              <p:cNvSpPr txBox="1"/>
              <p:nvPr/>
            </p:nvSpPr>
            <p:spPr>
              <a:xfrm>
                <a:off x="781871" y="1787925"/>
                <a:ext cx="3566361" cy="1484765"/>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sz="1600" b="0" i="1" smtClean="0">
                          <a:latin typeface="Cambria Math" charset="0"/>
                        </a:rPr>
                        <m:t>𝑊</m:t>
                      </m:r>
                      <m:r>
                        <a:rPr lang="en-US" sz="1600" b="0" i="1" smtClean="0">
                          <a:latin typeface="Cambria Math" charset="0"/>
                        </a:rPr>
                        <m:t>=</m:t>
                      </m:r>
                      <m:d>
                        <m:dPr>
                          <m:begChr m:val="["/>
                          <m:endChr m:val="]"/>
                          <m:ctrlPr>
                            <a:rPr lang="en-US" sz="1600" b="0" i="1" smtClean="0">
                              <a:latin typeface="Cambria Math" charset="0"/>
                            </a:rPr>
                          </m:ctrlPr>
                        </m:dPr>
                        <m:e>
                          <m:sSub>
                            <m:sSubPr>
                              <m:ctrlPr>
                                <a:rPr lang="en-US" sz="1600" b="0" i="1" smtClean="0">
                                  <a:latin typeface="Cambria Math" charset="0"/>
                                </a:rPr>
                              </m:ctrlPr>
                            </m:sSubPr>
                            <m:e>
                              <m:r>
                                <a:rPr lang="en-US" sz="1600" b="0" i="1" smtClean="0">
                                  <a:latin typeface="Cambria Math" charset="0"/>
                                </a:rPr>
                                <m:t>𝑈</m:t>
                              </m:r>
                            </m:e>
                            <m:sub>
                              <m:r>
                                <a:rPr lang="en-US" sz="1600" b="0" i="1" smtClean="0">
                                  <a:latin typeface="Cambria Math" charset="0"/>
                                </a:rPr>
                                <m:t>𝑓𝑢𝑡𝑢𝑟𝑒</m:t>
                              </m:r>
                            </m:sub>
                          </m:sSub>
                          <m:r>
                            <a:rPr lang="en-US" sz="1600" b="0" i="1" smtClean="0">
                              <a:latin typeface="Cambria Math" charset="0"/>
                            </a:rPr>
                            <m:t>  </m:t>
                          </m:r>
                          <m:sSub>
                            <m:sSubPr>
                              <m:ctrlPr>
                                <a:rPr lang="en-US" sz="1600" b="0" i="1" smtClean="0">
                                  <a:latin typeface="Cambria Math" charset="0"/>
                                </a:rPr>
                              </m:ctrlPr>
                            </m:sSubPr>
                            <m:e>
                              <m:r>
                                <a:rPr lang="en-US" sz="1600" b="0" i="1" smtClean="0">
                                  <a:latin typeface="Cambria Math" charset="0"/>
                                </a:rPr>
                                <m:t>𝑊</m:t>
                              </m:r>
                            </m:e>
                            <m:sub>
                              <m:r>
                                <a:rPr lang="en-US" sz="1600" b="0" i="1" smtClean="0">
                                  <a:latin typeface="Cambria Math" charset="0"/>
                                </a:rPr>
                                <m:t>𝑝𝑎𝑠𝑡</m:t>
                              </m:r>
                            </m:sub>
                          </m:sSub>
                          <m:r>
                            <a:rPr lang="en-US" sz="1600" b="0" i="1" smtClean="0">
                              <a:latin typeface="Cambria Math" charset="0"/>
                            </a:rPr>
                            <m:t> </m:t>
                          </m:r>
                          <m:sSub>
                            <m:sSubPr>
                              <m:ctrlPr>
                                <a:rPr lang="en-US" sz="1600" b="0" i="1" smtClean="0">
                                  <a:latin typeface="Cambria Math" charset="0"/>
                                </a:rPr>
                              </m:ctrlPr>
                            </m:sSubPr>
                            <m:e>
                              <m:r>
                                <a:rPr lang="en-US" sz="1600" b="0" i="1" smtClean="0">
                                  <a:latin typeface="Cambria Math" charset="0"/>
                                </a:rPr>
                                <m:t>𝑌</m:t>
                              </m:r>
                            </m:e>
                            <m:sub>
                              <m:r>
                                <a:rPr lang="en-US" sz="1600" b="0" i="1" smtClean="0">
                                  <a:latin typeface="Cambria Math" charset="0"/>
                                </a:rPr>
                                <m:t>𝑓𝑢𝑡𝑢𝑟𝑒</m:t>
                              </m:r>
                            </m:sub>
                          </m:sSub>
                        </m:e>
                      </m:d>
                    </m:oMath>
                    <m:oMath xmlns:m="http://schemas.openxmlformats.org/officeDocument/2006/math">
                      <m:r>
                        <a:rPr lang="en-US" sz="1600" b="0" i="1" smtClean="0">
                          <a:latin typeface="Cambria Math" charset="0"/>
                        </a:rPr>
                        <m:t>      =</m:t>
                      </m:r>
                      <m:d>
                        <m:dPr>
                          <m:begChr m:val="["/>
                          <m:endChr m:val="]"/>
                          <m:ctrlPr>
                            <a:rPr lang="en-US" sz="1600" b="0" i="1" smtClean="0">
                              <a:latin typeface="Cambria Math" charset="0"/>
                            </a:rPr>
                          </m:ctrlPr>
                        </m:dPr>
                        <m:e>
                          <m:sSub>
                            <m:sSubPr>
                              <m:ctrlPr>
                                <a:rPr lang="en-US" sz="1600" b="0" i="1" smtClean="0">
                                  <a:latin typeface="Cambria Math" charset="0"/>
                                </a:rPr>
                              </m:ctrlPr>
                            </m:sSubPr>
                            <m:e>
                              <m:r>
                                <a:rPr lang="en-US" sz="1600" b="0" i="1" smtClean="0">
                                  <a:latin typeface="Cambria Math" charset="0"/>
                                </a:rPr>
                                <m:t>𝑄</m:t>
                              </m:r>
                            </m:e>
                            <m:sub>
                              <m:r>
                                <a:rPr lang="en-US" sz="1600" b="0" i="1" smtClean="0">
                                  <a:latin typeface="Cambria Math" charset="0"/>
                                </a:rPr>
                                <m:t>1</m:t>
                              </m:r>
                            </m:sub>
                          </m:sSub>
                          <m:r>
                            <a:rPr lang="en-US" sz="1600" b="0" i="1" smtClean="0">
                              <a:latin typeface="Cambria Math" charset="0"/>
                            </a:rPr>
                            <m:t>  </m:t>
                          </m:r>
                          <m:sSub>
                            <m:sSubPr>
                              <m:ctrlPr>
                                <a:rPr lang="en-US" sz="1600" b="0" i="1" smtClean="0">
                                  <a:latin typeface="Cambria Math" charset="0"/>
                                </a:rPr>
                              </m:ctrlPr>
                            </m:sSubPr>
                            <m:e>
                              <m:r>
                                <a:rPr lang="en-US" sz="1600" b="0" i="1" smtClean="0">
                                  <a:latin typeface="Cambria Math" charset="0"/>
                                </a:rPr>
                                <m:t>𝑄</m:t>
                              </m:r>
                            </m:e>
                            <m:sub>
                              <m:r>
                                <a:rPr lang="en-US" sz="1600" b="0" i="1" smtClean="0">
                                  <a:latin typeface="Cambria Math" charset="0"/>
                                </a:rPr>
                                <m:t>2</m:t>
                              </m:r>
                            </m:sub>
                          </m:sSub>
                          <m:r>
                            <a:rPr lang="en-US" sz="1600" b="0" i="1" smtClean="0">
                              <a:latin typeface="Cambria Math" charset="0"/>
                            </a:rPr>
                            <m:t>  </m:t>
                          </m:r>
                          <m:sSub>
                            <m:sSubPr>
                              <m:ctrlPr>
                                <a:rPr lang="en-US" sz="1600" b="0" i="1" smtClean="0">
                                  <a:latin typeface="Cambria Math" charset="0"/>
                                </a:rPr>
                              </m:ctrlPr>
                            </m:sSubPr>
                            <m:e>
                              <m:r>
                                <a:rPr lang="en-US" sz="1600" b="0" i="1" smtClean="0">
                                  <a:latin typeface="Cambria Math" charset="0"/>
                                </a:rPr>
                                <m:t>𝑄</m:t>
                              </m:r>
                            </m:e>
                            <m:sub>
                              <m:r>
                                <a:rPr lang="en-US" sz="1600" b="0" i="1" smtClean="0">
                                  <a:latin typeface="Cambria Math" charset="0"/>
                                </a:rPr>
                                <m:t>3</m:t>
                              </m:r>
                            </m:sub>
                          </m:sSub>
                        </m:e>
                      </m:d>
                      <m:d>
                        <m:dPr>
                          <m:begChr m:val="["/>
                          <m:endChr m:val="]"/>
                          <m:ctrlPr>
                            <a:rPr lang="en-US" sz="1600" b="0" i="1" smtClean="0">
                              <a:latin typeface="Cambria Math" charset="0"/>
                            </a:rPr>
                          </m:ctrlPr>
                        </m:dPr>
                        <m:e>
                          <m:m>
                            <m:mPr>
                              <m:mcs>
                                <m:mc>
                                  <m:mcPr>
                                    <m:count m:val="3"/>
                                    <m:mcJc m:val="center"/>
                                  </m:mcPr>
                                </m:mc>
                              </m:mcs>
                              <m:ctrlPr>
                                <a:rPr lang="en-US" sz="1600" b="0" i="1" smtClean="0">
                                  <a:latin typeface="Cambria Math" charset="0"/>
                                </a:rPr>
                              </m:ctrlPr>
                            </m:mPr>
                            <m:mr>
                              <m:e>
                                <m:sSub>
                                  <m:sSubPr>
                                    <m:ctrlPr>
                                      <a:rPr lang="en-US" sz="1600" b="0" i="1" smtClean="0">
                                        <a:latin typeface="Cambria Math" charset="0"/>
                                      </a:rPr>
                                    </m:ctrlPr>
                                  </m:sSubPr>
                                  <m:e>
                                    <m:r>
                                      <m:rPr>
                                        <m:brk m:alnAt="7"/>
                                      </m:rPr>
                                      <a:rPr lang="en-US" sz="1600" b="0" i="1" smtClean="0">
                                        <a:latin typeface="Cambria Math" charset="0"/>
                                      </a:rPr>
                                      <m:t>𝑅</m:t>
                                    </m:r>
                                  </m:e>
                                  <m:sub>
                                    <m:r>
                                      <m:rPr>
                                        <m:brk m:alnAt="7"/>
                                      </m:rPr>
                                      <a:rPr lang="en-US" sz="1600" b="0" i="1" smtClean="0">
                                        <a:latin typeface="Cambria Math" charset="0"/>
                                      </a:rPr>
                                      <m:t>1</m:t>
                                    </m:r>
                                    <m:r>
                                      <a:rPr lang="en-US" sz="1600" b="0" i="1" smtClean="0">
                                        <a:latin typeface="Cambria Math" charset="0"/>
                                      </a:rPr>
                                      <m:t>1</m:t>
                                    </m:r>
                                  </m:sub>
                                </m:sSub>
                              </m:e>
                              <m:e>
                                <m:sSub>
                                  <m:sSubPr>
                                    <m:ctrlPr>
                                      <a:rPr lang="en-US" sz="1600" b="0" i="1" smtClean="0">
                                        <a:latin typeface="Cambria Math" charset="0"/>
                                      </a:rPr>
                                    </m:ctrlPr>
                                  </m:sSubPr>
                                  <m:e>
                                    <m:r>
                                      <a:rPr lang="en-US" sz="1600" b="0" i="1" smtClean="0">
                                        <a:latin typeface="Cambria Math" charset="0"/>
                                      </a:rPr>
                                      <m:t>𝑅</m:t>
                                    </m:r>
                                  </m:e>
                                  <m:sub>
                                    <m:r>
                                      <a:rPr lang="en-US" sz="1600" b="0" i="1" smtClean="0">
                                        <a:latin typeface="Cambria Math" charset="0"/>
                                      </a:rPr>
                                      <m:t>12</m:t>
                                    </m:r>
                                  </m:sub>
                                </m:sSub>
                              </m:e>
                              <m:e>
                                <m:sSub>
                                  <m:sSubPr>
                                    <m:ctrlPr>
                                      <a:rPr lang="en-US" sz="1600" b="0" i="1" smtClean="0">
                                        <a:latin typeface="Cambria Math" charset="0"/>
                                      </a:rPr>
                                    </m:ctrlPr>
                                  </m:sSubPr>
                                  <m:e>
                                    <m:r>
                                      <a:rPr lang="en-US" sz="1600" b="0" i="1" smtClean="0">
                                        <a:latin typeface="Cambria Math" charset="0"/>
                                      </a:rPr>
                                      <m:t>𝑅</m:t>
                                    </m:r>
                                  </m:e>
                                  <m:sub>
                                    <m:r>
                                      <a:rPr lang="en-US" sz="1600" b="0" i="1" smtClean="0">
                                        <a:latin typeface="Cambria Math" charset="0"/>
                                      </a:rPr>
                                      <m:t>13</m:t>
                                    </m:r>
                                  </m:sub>
                                </m:sSub>
                              </m:e>
                            </m:mr>
                            <m:mr>
                              <m:e>
                                <m:r>
                                  <a:rPr lang="en-US" sz="1600" b="0" i="1" smtClean="0">
                                    <a:latin typeface="Cambria Math" charset="0"/>
                                  </a:rPr>
                                  <m:t>0</m:t>
                                </m:r>
                              </m:e>
                              <m:e>
                                <m:sSub>
                                  <m:sSubPr>
                                    <m:ctrlPr>
                                      <a:rPr lang="en-US" sz="1600" b="0" i="1" smtClean="0">
                                        <a:latin typeface="Cambria Math" charset="0"/>
                                      </a:rPr>
                                    </m:ctrlPr>
                                  </m:sSubPr>
                                  <m:e>
                                    <m:r>
                                      <a:rPr lang="en-US" sz="1600" b="0" i="1" smtClean="0">
                                        <a:latin typeface="Cambria Math" charset="0"/>
                                      </a:rPr>
                                      <m:t>𝑅</m:t>
                                    </m:r>
                                  </m:e>
                                  <m:sub>
                                    <m:r>
                                      <a:rPr lang="en-US" sz="1600" b="0" i="1" smtClean="0">
                                        <a:latin typeface="Cambria Math" charset="0"/>
                                      </a:rPr>
                                      <m:t>22</m:t>
                                    </m:r>
                                  </m:sub>
                                </m:sSub>
                              </m:e>
                              <m:e>
                                <m:sSub>
                                  <m:sSubPr>
                                    <m:ctrlPr>
                                      <a:rPr lang="en-US" sz="1600" b="0" i="1" smtClean="0">
                                        <a:latin typeface="Cambria Math" charset="0"/>
                                      </a:rPr>
                                    </m:ctrlPr>
                                  </m:sSubPr>
                                  <m:e>
                                    <m:r>
                                      <a:rPr lang="en-US" sz="1600" b="0" i="1" smtClean="0">
                                        <a:latin typeface="Cambria Math" charset="0"/>
                                      </a:rPr>
                                      <m:t>𝑅</m:t>
                                    </m:r>
                                  </m:e>
                                  <m:sub>
                                    <m:r>
                                      <a:rPr lang="en-US" sz="1600" b="0" i="1" smtClean="0">
                                        <a:latin typeface="Cambria Math" charset="0"/>
                                      </a:rPr>
                                      <m:t>23</m:t>
                                    </m:r>
                                  </m:sub>
                                </m:sSub>
                              </m:e>
                            </m:mr>
                            <m:mr>
                              <m:e>
                                <m:r>
                                  <a:rPr lang="en-US" sz="1600" b="0" i="1" smtClean="0">
                                    <a:latin typeface="Cambria Math" charset="0"/>
                                  </a:rPr>
                                  <m:t>0</m:t>
                                </m:r>
                              </m:e>
                              <m:e>
                                <m:r>
                                  <a:rPr lang="en-US" sz="1600" b="0" i="1" smtClean="0">
                                    <a:latin typeface="Cambria Math" charset="0"/>
                                  </a:rPr>
                                  <m:t>0</m:t>
                                </m:r>
                              </m:e>
                              <m:e>
                                <m:sSub>
                                  <m:sSubPr>
                                    <m:ctrlPr>
                                      <a:rPr lang="en-US" sz="1600" b="0" i="1" smtClean="0">
                                        <a:latin typeface="Cambria Math" charset="0"/>
                                      </a:rPr>
                                    </m:ctrlPr>
                                  </m:sSubPr>
                                  <m:e>
                                    <m:r>
                                      <a:rPr lang="en-US" sz="1600" b="0" i="1" smtClean="0">
                                        <a:latin typeface="Cambria Math" charset="0"/>
                                      </a:rPr>
                                      <m:t>𝑅</m:t>
                                    </m:r>
                                  </m:e>
                                  <m:sub>
                                    <m:r>
                                      <a:rPr lang="en-US" sz="1600" b="0" i="1" smtClean="0">
                                        <a:latin typeface="Cambria Math" charset="0"/>
                                      </a:rPr>
                                      <m:t>33</m:t>
                                    </m:r>
                                  </m:sub>
                                </m:sSub>
                              </m:e>
                            </m:mr>
                          </m:m>
                        </m:e>
                      </m:d>
                    </m:oMath>
                    <m:oMath xmlns:m="http://schemas.openxmlformats.org/officeDocument/2006/math">
                      <m:sSubSup>
                        <m:sSubSupPr>
                          <m:ctrlPr>
                            <a:rPr lang="en-US" sz="1600" b="0" i="1" smtClean="0">
                              <a:latin typeface="Cambria Math" charset="0"/>
                            </a:rPr>
                          </m:ctrlPr>
                        </m:sSubSupPr>
                        <m:e>
                          <m:r>
                            <a:rPr lang="en-US" sz="1600" b="0" i="1" smtClean="0">
                              <a:latin typeface="Cambria Math" charset="0"/>
                            </a:rPr>
                            <m:t>𝑅</m:t>
                          </m:r>
                        </m:e>
                        <m:sub>
                          <m:r>
                            <a:rPr lang="en-US" sz="1600" b="0" i="1" smtClean="0">
                              <a:latin typeface="Cambria Math" charset="0"/>
                            </a:rPr>
                            <m:t>23</m:t>
                          </m:r>
                        </m:sub>
                        <m:sup>
                          <m:r>
                            <a:rPr lang="en-US" sz="1600" b="0" i="1" smtClean="0">
                              <a:latin typeface="Cambria Math" charset="0"/>
                            </a:rPr>
                            <m:t>𝑇</m:t>
                          </m:r>
                        </m:sup>
                      </m:sSubSup>
                      <m:r>
                        <a:rPr lang="en-US" sz="1600" b="0" i="1" smtClean="0">
                          <a:latin typeface="Cambria Math" charset="0"/>
                        </a:rPr>
                        <m:t> </m:t>
                      </m:r>
                      <m:r>
                        <m:rPr>
                          <m:sty m:val="p"/>
                        </m:rPr>
                        <a:rPr lang="en-US" sz="1600" b="0" i="0" smtClean="0">
                          <a:latin typeface="Cambria Math" charset="0"/>
                        </a:rPr>
                        <m:t>is</m:t>
                      </m:r>
                      <m:r>
                        <a:rPr lang="en-US" sz="1600" b="0" i="0" smtClean="0">
                          <a:latin typeface="Cambria Math" charset="0"/>
                        </a:rPr>
                        <m:t> </m:t>
                      </m:r>
                      <m:r>
                        <m:rPr>
                          <m:sty m:val="p"/>
                        </m:rPr>
                        <a:rPr lang="en-US" sz="1600" b="0" i="0" smtClean="0">
                          <a:latin typeface="Cambria Math" charset="0"/>
                        </a:rPr>
                        <m:t>the</m:t>
                      </m:r>
                      <m:r>
                        <a:rPr lang="en-US" sz="1600" b="0" i="0" smtClean="0">
                          <a:latin typeface="Cambria Math" charset="0"/>
                        </a:rPr>
                        <m:t> </m:t>
                      </m:r>
                      <m:r>
                        <m:rPr>
                          <m:sty m:val="p"/>
                        </m:rPr>
                        <a:rPr lang="en-US" sz="1600" b="0" i="0" smtClean="0">
                          <a:latin typeface="Cambria Math" charset="0"/>
                        </a:rPr>
                        <m:t>weighted</m:t>
                      </m:r>
                      <m:r>
                        <a:rPr lang="en-US" sz="1600" b="0" i="0" smtClean="0">
                          <a:latin typeface="Cambria Math" charset="0"/>
                        </a:rPr>
                        <m:t> </m:t>
                      </m:r>
                      <m:r>
                        <m:rPr>
                          <m:sty m:val="p"/>
                        </m:rPr>
                        <a:rPr lang="en-US" sz="1600" b="0" i="0" smtClean="0">
                          <a:latin typeface="Cambria Math" charset="0"/>
                        </a:rPr>
                        <m:t>Hankel</m:t>
                      </m:r>
                      <m:r>
                        <a:rPr lang="en-US" sz="1600" b="0" i="0" smtClean="0">
                          <a:latin typeface="Cambria Math" charset="0"/>
                        </a:rPr>
                        <m:t> </m:t>
                      </m:r>
                      <m:r>
                        <m:rPr>
                          <m:sty m:val="p"/>
                        </m:rPr>
                        <a:rPr lang="en-US" sz="1600" b="0" i="0" smtClean="0">
                          <a:latin typeface="Cambria Math" charset="0"/>
                        </a:rPr>
                        <m:t>matrix</m:t>
                      </m:r>
                      <m:r>
                        <a:rPr lang="en-US" sz="1600" b="0" i="1" smtClean="0">
                          <a:latin typeface="Cambria Math" charset="0"/>
                        </a:rPr>
                        <m:t> </m:t>
                      </m:r>
                      <m:r>
                        <a:rPr lang="en-US" sz="1600" b="0" i="1" smtClean="0">
                          <a:latin typeface="Cambria Math" charset="0"/>
                        </a:rPr>
                        <m:t>𝐻</m:t>
                      </m:r>
                      <m:sSup>
                        <m:sSupPr>
                          <m:ctrlPr>
                            <a:rPr lang="en-US" sz="1600" b="0" i="1" smtClean="0">
                              <a:latin typeface="Cambria Math" charset="0"/>
                            </a:rPr>
                          </m:ctrlPr>
                        </m:sSupPr>
                        <m:e>
                          <m:r>
                            <a:rPr lang="en-US" sz="1600" b="0" i="1" smtClean="0">
                              <a:latin typeface="Cambria Math" charset="0"/>
                            </a:rPr>
                            <m:t>𝑅</m:t>
                          </m:r>
                        </m:e>
                        <m:sup>
                          <m:r>
                            <a:rPr lang="en-US" sz="1600" b="0" i="1" smtClean="0">
                              <a:latin typeface="Cambria Math" charset="0"/>
                            </a:rPr>
                            <m:t>𝑇</m:t>
                          </m:r>
                        </m:sup>
                      </m:sSup>
                      <m:r>
                        <a:rPr lang="en-US" sz="1600" b="0" i="1" smtClean="0">
                          <a:latin typeface="Cambria Math" charset="0"/>
                        </a:rPr>
                        <m:t> </m:t>
                      </m:r>
                    </m:oMath>
                    <m:oMath xmlns:m="http://schemas.openxmlformats.org/officeDocument/2006/math">
                      <m:sSub>
                        <m:sSubPr>
                          <m:ctrlPr>
                            <a:rPr lang="en-US" sz="1600" b="0" i="1" smtClean="0">
                              <a:latin typeface="Cambria Math" charset="0"/>
                            </a:rPr>
                          </m:ctrlPr>
                        </m:sSubPr>
                        <m:e>
                          <m:r>
                            <a:rPr lang="en-US" sz="1600" b="0" i="1" smtClean="0">
                              <a:latin typeface="Cambria Math" charset="0"/>
                            </a:rPr>
                            <m:t>𝑅</m:t>
                          </m:r>
                        </m:e>
                        <m:sub>
                          <m:r>
                            <a:rPr lang="en-US" sz="1600" b="0" i="1" smtClean="0">
                              <a:latin typeface="Cambria Math" charset="0"/>
                            </a:rPr>
                            <m:t>22</m:t>
                          </m:r>
                        </m:sub>
                      </m:sSub>
                      <m:r>
                        <a:rPr lang="en-US" sz="1600" b="0" i="1" smtClean="0">
                          <a:latin typeface="Cambria Math" charset="0"/>
                        </a:rPr>
                        <m:t> </m:t>
                      </m:r>
                      <m:r>
                        <m:rPr>
                          <m:sty m:val="p"/>
                        </m:rPr>
                        <a:rPr lang="en-US" sz="1600" b="0" i="0" smtClean="0">
                          <a:latin typeface="Cambria Math" charset="0"/>
                        </a:rPr>
                        <m:t>is</m:t>
                      </m:r>
                      <m:r>
                        <a:rPr lang="en-US" sz="1600" b="0" i="0" smtClean="0">
                          <a:latin typeface="Cambria Math" charset="0"/>
                        </a:rPr>
                        <m:t> </m:t>
                      </m:r>
                      <m:r>
                        <m:rPr>
                          <m:sty m:val="p"/>
                        </m:rPr>
                        <a:rPr lang="en-US" sz="1600" b="0" i="0" smtClean="0">
                          <a:latin typeface="Cambria Math" charset="0"/>
                        </a:rPr>
                        <m:t>the</m:t>
                      </m:r>
                      <m:r>
                        <a:rPr lang="en-US" sz="1600" b="0" i="0" smtClean="0">
                          <a:latin typeface="Cambria Math" charset="0"/>
                        </a:rPr>
                        <m:t> </m:t>
                      </m:r>
                      <m:r>
                        <m:rPr>
                          <m:sty m:val="p"/>
                        </m:rPr>
                        <a:rPr lang="en-US" sz="1600" b="0" i="0" smtClean="0">
                          <a:latin typeface="Cambria Math" charset="0"/>
                        </a:rPr>
                        <m:t>weight</m:t>
                      </m:r>
                      <m:r>
                        <a:rPr lang="en-US" sz="1600" b="0" i="0" smtClean="0">
                          <a:latin typeface="Cambria Math" charset="0"/>
                        </a:rPr>
                        <m:t> </m:t>
                      </m:r>
                      <m:r>
                        <m:rPr>
                          <m:sty m:val="p"/>
                        </m:rPr>
                        <a:rPr lang="en-US" sz="1600" b="0" i="0" smtClean="0">
                          <a:latin typeface="Cambria Math" charset="0"/>
                        </a:rPr>
                        <m:t>matrix</m:t>
                      </m:r>
                      <m:r>
                        <a:rPr lang="en-US" sz="1600" b="0" i="1" smtClean="0">
                          <a:latin typeface="Cambria Math" charset="0"/>
                        </a:rPr>
                        <m:t> </m:t>
                      </m:r>
                      <m:r>
                        <a:rPr lang="en-US" sz="1600" b="0" i="1" smtClean="0">
                          <a:latin typeface="Cambria Math" charset="0"/>
                        </a:rPr>
                        <m:t>𝑅</m:t>
                      </m:r>
                    </m:oMath>
                  </m:oMathPara>
                </a14:m>
                <a:endParaRPr lang="en-US" sz="1600" dirty="0" smtClean="0"/>
              </a:p>
            </p:txBody>
          </p:sp>
        </mc:Choice>
        <mc:Fallback xmlns="">
          <p:sp>
            <p:nvSpPr>
              <p:cNvPr id="2" name="TextBox 1"/>
              <p:cNvSpPr txBox="1">
                <a:spLocks noRot="1" noChangeAspect="1" noMove="1" noResize="1" noEditPoints="1" noAdjustHandles="1" noChangeArrowheads="1" noChangeShapeType="1" noTextEdit="1"/>
              </p:cNvSpPr>
              <p:nvPr/>
            </p:nvSpPr>
            <p:spPr>
              <a:xfrm>
                <a:off x="781871" y="1787925"/>
                <a:ext cx="3566361" cy="1484765"/>
              </a:xfrm>
              <a:prstGeom prst="rect">
                <a:avLst/>
              </a:prstGeom>
              <a:blipFill rotWithShape="0">
                <a:blip r:embed="rId7"/>
                <a:stretch>
                  <a:fillRect l="-1880" t="-21721" b="-286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273276" y="5652700"/>
                <a:ext cx="3495572" cy="90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charset="0"/>
                            </a:rPr>
                          </m:ctrlPr>
                        </m:sSubPr>
                        <m:e>
                          <m:r>
                            <a:rPr lang="en-US" sz="1600" b="0" i="1" smtClean="0">
                              <a:latin typeface="Cambria Math" charset="0"/>
                            </a:rPr>
                            <m:t>𝑂</m:t>
                          </m:r>
                        </m:e>
                        <m:sub>
                          <m:r>
                            <a:rPr lang="en-US" sz="1600" b="0" i="1" smtClean="0">
                              <a:latin typeface="Cambria Math" charset="0"/>
                              <a:ea typeface="Cambria Math" charset="0"/>
                              <a:cs typeface="Cambria Math" charset="0"/>
                            </a:rPr>
                            <m:t>↓</m:t>
                          </m:r>
                        </m:sub>
                      </m:sSub>
                      <m:d>
                        <m:dPr>
                          <m:ctrlPr>
                            <a:rPr lang="en-US" sz="1600" b="0" i="1" smtClean="0">
                              <a:latin typeface="Cambria Math" charset="0"/>
                            </a:rPr>
                          </m:ctrlPr>
                        </m:dPr>
                        <m:e>
                          <m:r>
                            <a:rPr lang="en-US" sz="1600" b="0" i="1" smtClean="0">
                              <a:latin typeface="Cambria Math" charset="0"/>
                            </a:rPr>
                            <m:t>𝑀</m:t>
                          </m:r>
                        </m:e>
                      </m:d>
                      <m:r>
                        <a:rPr lang="en-US" sz="1600" b="0" i="1" smtClean="0">
                          <a:latin typeface="Cambria Math" charset="0"/>
                        </a:rPr>
                        <m:t>=</m:t>
                      </m:r>
                      <m:d>
                        <m:dPr>
                          <m:begChr m:val="["/>
                          <m:endChr m:val="]"/>
                          <m:ctrlPr>
                            <a:rPr lang="en-US" sz="1600" b="0" i="1" smtClean="0">
                              <a:latin typeface="Cambria Math" charset="0"/>
                            </a:rPr>
                          </m:ctrlPr>
                        </m:dPr>
                        <m:e>
                          <m:m>
                            <m:mPr>
                              <m:mcs>
                                <m:mc>
                                  <m:mcPr>
                                    <m:count m:val="1"/>
                                    <m:mcJc m:val="center"/>
                                  </m:mcPr>
                                </m:mc>
                              </m:mcs>
                              <m:ctrlPr>
                                <a:rPr lang="en-US" sz="1600" b="0" i="1" smtClean="0">
                                  <a:latin typeface="Cambria Math" charset="0"/>
                                </a:rPr>
                              </m:ctrlPr>
                            </m:mPr>
                            <m:mr>
                              <m:e>
                                <m:r>
                                  <m:rPr>
                                    <m:brk m:alnAt="7"/>
                                  </m:rPr>
                                  <a:rPr lang="en-US" sz="1600" b="0" i="1" smtClean="0">
                                    <a:latin typeface="Cambria Math" charset="0"/>
                                  </a:rPr>
                                  <m:t>𝐶</m:t>
                                </m:r>
                                <m:r>
                                  <a:rPr lang="en-US" sz="1600" b="0" i="1" smtClean="0">
                                    <a:latin typeface="Cambria Math" charset="0"/>
                                  </a:rPr>
                                  <m:t>𝐴</m:t>
                                </m:r>
                              </m:e>
                            </m:mr>
                            <m:mr>
                              <m:e>
                                <m:r>
                                  <a:rPr lang="en-US" sz="1600" b="0" i="1" smtClean="0">
                                    <a:latin typeface="Cambria Math" charset="0"/>
                                  </a:rPr>
                                  <m:t>𝐶</m:t>
                                </m:r>
                                <m:sSup>
                                  <m:sSupPr>
                                    <m:ctrlPr>
                                      <a:rPr lang="en-US" sz="1600" b="0" i="1" smtClean="0">
                                        <a:latin typeface="Cambria Math" charset="0"/>
                                      </a:rPr>
                                    </m:ctrlPr>
                                  </m:sSupPr>
                                  <m:e>
                                    <m:r>
                                      <a:rPr lang="en-US" sz="1600" b="0" i="1" smtClean="0">
                                        <a:latin typeface="Cambria Math" charset="0"/>
                                      </a:rPr>
                                      <m:t>𝐴</m:t>
                                    </m:r>
                                  </m:e>
                                  <m:sup>
                                    <m:r>
                                      <a:rPr lang="en-US" sz="1600" b="0" i="1" smtClean="0">
                                        <a:latin typeface="Cambria Math" charset="0"/>
                                      </a:rPr>
                                      <m:t>2</m:t>
                                    </m:r>
                                  </m:sup>
                                </m:sSup>
                              </m:e>
                            </m:mr>
                            <m:mr>
                              <m:e>
                                <m:r>
                                  <a:rPr lang="en-US" sz="1600" b="0" i="1" smtClean="0">
                                    <a:latin typeface="Cambria Math" charset="0"/>
                                  </a:rPr>
                                  <m:t>⋮</m:t>
                                </m:r>
                              </m:e>
                            </m:mr>
                            <m:mr>
                              <m:e>
                                <m:r>
                                  <a:rPr lang="en-US" sz="1600" b="0" i="1" smtClean="0">
                                    <a:latin typeface="Cambria Math" charset="0"/>
                                  </a:rPr>
                                  <m:t>𝐶</m:t>
                                </m:r>
                                <m:sSup>
                                  <m:sSupPr>
                                    <m:ctrlPr>
                                      <a:rPr lang="en-US" sz="1600" b="0" i="1" smtClean="0">
                                        <a:latin typeface="Cambria Math" charset="0"/>
                                      </a:rPr>
                                    </m:ctrlPr>
                                  </m:sSupPr>
                                  <m:e>
                                    <m:r>
                                      <a:rPr lang="en-US" sz="1600" b="0" i="1" smtClean="0">
                                        <a:latin typeface="Cambria Math" charset="0"/>
                                      </a:rPr>
                                      <m:t>𝐴</m:t>
                                    </m:r>
                                  </m:e>
                                  <m:sup>
                                    <m:r>
                                      <a:rPr lang="en-US" sz="1600" b="0" i="1" smtClean="0">
                                        <a:latin typeface="Cambria Math" charset="0"/>
                                      </a:rPr>
                                      <m:t>𝑀</m:t>
                                    </m:r>
                                    <m:r>
                                      <a:rPr lang="en-US" sz="1600" b="0" i="1" smtClean="0">
                                        <a:latin typeface="Cambria Math" charset="0"/>
                                      </a:rPr>
                                      <m:t>−1</m:t>
                                    </m:r>
                                  </m:sup>
                                </m:sSup>
                                <m:r>
                                  <a:rPr lang="en-US" sz="1600" b="0" i="1" smtClean="0">
                                    <a:latin typeface="Cambria Math" charset="0"/>
                                  </a:rPr>
                                  <m:t> </m:t>
                                </m:r>
                              </m:e>
                            </m:mr>
                          </m:m>
                        </m:e>
                      </m:d>
                      <m:r>
                        <a:rPr lang="en-US" sz="1600" b="0" i="1" smtClean="0">
                          <a:latin typeface="Cambria Math" charset="0"/>
                        </a:rPr>
                        <m:t>, </m:t>
                      </m:r>
                      <m:sSub>
                        <m:sSubPr>
                          <m:ctrlPr>
                            <a:rPr lang="en-US" sz="1600" b="0" i="1" smtClean="0">
                              <a:latin typeface="Cambria Math" charset="0"/>
                            </a:rPr>
                          </m:ctrlPr>
                        </m:sSubPr>
                        <m:e>
                          <m:r>
                            <a:rPr lang="en-US" sz="1600" b="0" i="1" smtClean="0">
                              <a:latin typeface="Cambria Math" charset="0"/>
                            </a:rPr>
                            <m:t>𝑂</m:t>
                          </m:r>
                        </m:e>
                        <m:sub>
                          <m:r>
                            <a:rPr lang="en-US" sz="1600" b="0" i="1" smtClean="0">
                              <a:latin typeface="Cambria Math" charset="0"/>
                              <a:ea typeface="Cambria Math" charset="0"/>
                              <a:cs typeface="Cambria Math" charset="0"/>
                            </a:rPr>
                            <m:t>↓</m:t>
                          </m:r>
                        </m:sub>
                      </m:sSub>
                      <m:d>
                        <m:dPr>
                          <m:ctrlPr>
                            <a:rPr lang="en-US" sz="1600" b="0" i="1" smtClean="0">
                              <a:latin typeface="Cambria Math" charset="0"/>
                            </a:rPr>
                          </m:ctrlPr>
                        </m:dPr>
                        <m:e>
                          <m:r>
                            <a:rPr lang="en-US" sz="1600" b="0" i="1" smtClean="0">
                              <a:latin typeface="Cambria Math" charset="0"/>
                            </a:rPr>
                            <m:t>𝑀</m:t>
                          </m:r>
                        </m:e>
                      </m:d>
                      <m:r>
                        <a:rPr lang="en-US" sz="1600" b="0" i="1" smtClean="0">
                          <a:latin typeface="Cambria Math" charset="0"/>
                        </a:rPr>
                        <m:t>=</m:t>
                      </m:r>
                      <m:d>
                        <m:dPr>
                          <m:begChr m:val="["/>
                          <m:endChr m:val="]"/>
                          <m:ctrlPr>
                            <a:rPr lang="en-US" sz="1600" i="1">
                              <a:latin typeface="Cambria Math" charset="0"/>
                            </a:rPr>
                          </m:ctrlPr>
                        </m:dPr>
                        <m:e>
                          <m:m>
                            <m:mPr>
                              <m:mcs>
                                <m:mc>
                                  <m:mcPr>
                                    <m:count m:val="1"/>
                                    <m:mcJc m:val="center"/>
                                  </m:mcPr>
                                </m:mc>
                              </m:mcs>
                              <m:ctrlPr>
                                <a:rPr lang="en-US" sz="1600" i="1">
                                  <a:latin typeface="Cambria Math" charset="0"/>
                                </a:rPr>
                              </m:ctrlPr>
                            </m:mPr>
                            <m:mr>
                              <m:e>
                                <m:r>
                                  <m:rPr>
                                    <m:brk m:alnAt="7"/>
                                  </m:rPr>
                                  <a:rPr lang="en-US" sz="1600" b="0" i="1" smtClean="0">
                                    <a:latin typeface="Cambria Math" charset="0"/>
                                  </a:rPr>
                                  <m:t>𝐶</m:t>
                                </m:r>
                              </m:e>
                            </m:mr>
                            <m:mr>
                              <m:e>
                                <m:r>
                                  <a:rPr lang="en-US" sz="1600" b="0" i="1" smtClean="0">
                                    <a:latin typeface="Cambria Math" charset="0"/>
                                  </a:rPr>
                                  <m:t>𝐶𝐴</m:t>
                                </m:r>
                              </m:e>
                            </m:mr>
                            <m:mr>
                              <m:e>
                                <m:r>
                                  <a:rPr lang="en-US" sz="1600" i="1" smtClean="0">
                                    <a:latin typeface="Cambria Math" charset="0"/>
                                  </a:rPr>
                                  <m:t>⋮</m:t>
                                </m:r>
                              </m:e>
                            </m:mr>
                            <m:mr>
                              <m:e>
                                <m:r>
                                  <a:rPr lang="en-US" sz="1600" b="0" i="1" smtClean="0">
                                    <a:latin typeface="Cambria Math" charset="0"/>
                                  </a:rPr>
                                  <m:t>𝐶</m:t>
                                </m:r>
                                <m:sSup>
                                  <m:sSupPr>
                                    <m:ctrlPr>
                                      <a:rPr lang="en-US" sz="1600" b="0" i="1" smtClean="0">
                                        <a:latin typeface="Cambria Math" charset="0"/>
                                      </a:rPr>
                                    </m:ctrlPr>
                                  </m:sSupPr>
                                  <m:e>
                                    <m:r>
                                      <a:rPr lang="en-US" sz="1600" b="0" i="1" smtClean="0">
                                        <a:latin typeface="Cambria Math" charset="0"/>
                                      </a:rPr>
                                      <m:t>𝐴</m:t>
                                    </m:r>
                                  </m:e>
                                  <m:sup>
                                    <m:r>
                                      <a:rPr lang="en-US" sz="1600" b="0" i="1" smtClean="0">
                                        <a:latin typeface="Cambria Math" charset="0"/>
                                      </a:rPr>
                                      <m:t>𝑀</m:t>
                                    </m:r>
                                    <m:r>
                                      <a:rPr lang="en-US" sz="1600" b="0" i="1" smtClean="0">
                                        <a:latin typeface="Cambria Math" charset="0"/>
                                      </a:rPr>
                                      <m:t>−2</m:t>
                                    </m:r>
                                  </m:sup>
                                </m:sSup>
                              </m:e>
                            </m:mr>
                          </m:m>
                        </m:e>
                      </m:d>
                    </m:oMath>
                  </m:oMathPara>
                </a14:m>
                <a:endParaRPr lang="en-US" sz="1600" dirty="0"/>
              </a:p>
            </p:txBody>
          </p:sp>
        </mc:Choice>
        <mc:Fallback xmlns="">
          <p:sp>
            <p:nvSpPr>
              <p:cNvPr id="7" name="TextBox 6"/>
              <p:cNvSpPr txBox="1">
                <a:spLocks noRot="1" noChangeAspect="1" noMove="1" noResize="1" noEditPoints="1" noAdjustHandles="1" noChangeArrowheads="1" noChangeShapeType="1" noTextEdit="1"/>
              </p:cNvSpPr>
              <p:nvPr/>
            </p:nvSpPr>
            <p:spPr>
              <a:xfrm>
                <a:off x="5273276" y="5652700"/>
                <a:ext cx="3495572" cy="907108"/>
              </a:xfrm>
              <a:prstGeom prst="rect">
                <a:avLst/>
              </a:prstGeom>
              <a:blipFill rotWithShape="0">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706315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Two-Stage Modeling</a:t>
            </a:r>
            <a:endParaRPr lang="en-US" dirty="0"/>
          </a:p>
        </p:txBody>
      </p:sp>
      <p:sp>
        <p:nvSpPr>
          <p:cNvPr id="6" name="Content Placeholder 3"/>
          <p:cNvSpPr>
            <a:spLocks noGrp="1"/>
          </p:cNvSpPr>
          <p:nvPr>
            <p:ph idx="1"/>
          </p:nvPr>
        </p:nvSpPr>
        <p:spPr>
          <a:xfrm>
            <a:off x="228600" y="1295400"/>
            <a:ext cx="8686800" cy="4953000"/>
          </a:xfrm>
        </p:spPr>
        <p:txBody>
          <a:bodyPr/>
          <a:lstStyle/>
          <a:p>
            <a:r>
              <a:rPr lang="en-US" dirty="0" smtClean="0"/>
              <a:t>We separate two kinds of factors and study their impacts on room temperatures independently</a:t>
            </a:r>
          </a:p>
          <a:p>
            <a:pPr lvl="1"/>
            <a:r>
              <a:rPr lang="en-US" dirty="0" smtClean="0"/>
              <a:t>(1) All power sources are deactivated. Only use ambient temperature </a:t>
            </a:r>
            <a:r>
              <a:rPr lang="en-US" dirty="0" err="1" smtClean="0"/>
              <a:t>T</a:t>
            </a:r>
            <a:r>
              <a:rPr lang="en-US" baseline="-25000" dirty="0" err="1" smtClean="0"/>
              <a:t>amb</a:t>
            </a:r>
            <a:r>
              <a:rPr lang="en-US" dirty="0" smtClean="0"/>
              <a:t>(t) to predict the room temperatures </a:t>
            </a:r>
            <a:r>
              <a:rPr lang="en-US" dirty="0" err="1" smtClean="0"/>
              <a:t>T</a:t>
            </a:r>
            <a:r>
              <a:rPr lang="en-US" baseline="-25000" dirty="0" err="1" smtClean="0"/>
              <a:t>np</a:t>
            </a:r>
            <a:r>
              <a:rPr lang="en-US" dirty="0" smtClean="0"/>
              <a:t>(t</a:t>
            </a:r>
            <a:r>
              <a:rPr lang="en-US" dirty="0"/>
              <a:t>): </a:t>
            </a:r>
            <a:r>
              <a:rPr lang="en-US" dirty="0" err="1"/>
              <a:t>T</a:t>
            </a:r>
            <a:r>
              <a:rPr lang="en-US" baseline="-25000" dirty="0" err="1"/>
              <a:t>np</a:t>
            </a:r>
            <a:r>
              <a:rPr lang="en-US" dirty="0"/>
              <a:t>(t)</a:t>
            </a:r>
            <a:r>
              <a:rPr lang="en-US" dirty="0" smtClean="0"/>
              <a:t> = M</a:t>
            </a:r>
            <a:r>
              <a:rPr lang="en-US" baseline="-25000" dirty="0" smtClean="0"/>
              <a:t>1</a:t>
            </a:r>
            <a:r>
              <a:rPr lang="en-US" dirty="0" smtClean="0"/>
              <a:t>(</a:t>
            </a:r>
            <a:r>
              <a:rPr lang="en-US" dirty="0" err="1"/>
              <a:t>T</a:t>
            </a:r>
            <a:r>
              <a:rPr lang="en-US" baseline="-25000" dirty="0" err="1"/>
              <a:t>amb</a:t>
            </a:r>
            <a:r>
              <a:rPr lang="en-US" dirty="0"/>
              <a:t>(t</a:t>
            </a:r>
            <a:r>
              <a:rPr lang="en-US" dirty="0" smtClean="0"/>
              <a:t>))</a:t>
            </a:r>
          </a:p>
          <a:p>
            <a:pPr lvl="1"/>
            <a:r>
              <a:rPr lang="en-US" dirty="0" smtClean="0"/>
              <a:t>(2) Activate HVAC and other input effects and build model using input power P(t) to predict the temperature difference of each room with/without those extra inputs: T</a:t>
            </a:r>
            <a:r>
              <a:rPr lang="en-US" baseline="-25000" dirty="0" smtClean="0"/>
              <a:t>all</a:t>
            </a:r>
            <a:r>
              <a:rPr lang="en-US" dirty="0" smtClean="0"/>
              <a:t>(t) - </a:t>
            </a:r>
            <a:r>
              <a:rPr lang="en-US" dirty="0" err="1" smtClean="0"/>
              <a:t>T</a:t>
            </a:r>
            <a:r>
              <a:rPr lang="en-US" baseline="-25000" dirty="0" err="1" smtClean="0"/>
              <a:t>np</a:t>
            </a:r>
            <a:r>
              <a:rPr lang="en-US" dirty="0" smtClean="0"/>
              <a:t>(t</a:t>
            </a:r>
            <a:r>
              <a:rPr lang="en-US" dirty="0"/>
              <a:t>) </a:t>
            </a:r>
            <a:r>
              <a:rPr lang="en-US" dirty="0" smtClean="0"/>
              <a:t>= M</a:t>
            </a:r>
            <a:r>
              <a:rPr lang="en-US" baseline="-25000" dirty="0" smtClean="0"/>
              <a:t>2</a:t>
            </a:r>
            <a:r>
              <a:rPr lang="en-US" dirty="0" smtClean="0"/>
              <a:t>(P(t</a:t>
            </a:r>
            <a:r>
              <a:rPr lang="en-US" dirty="0"/>
              <a:t>))</a:t>
            </a:r>
          </a:p>
          <a:p>
            <a:pPr lvl="1"/>
            <a:endParaRPr lang="en-US" dirty="0"/>
          </a:p>
        </p:txBody>
      </p:sp>
    </p:spTree>
    <p:extLst>
      <p:ext uri="{BB962C8B-B14F-4D97-AF65-F5344CB8AC3E}">
        <p14:creationId xmlns:p14="http://schemas.microsoft.com/office/powerpoint/2010/main" val="3589848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Two-Stage Modeling Results</a:t>
            </a:r>
            <a:endParaRPr lang="en-US" dirty="0"/>
          </a:p>
        </p:txBody>
      </p:sp>
      <p:sp>
        <p:nvSpPr>
          <p:cNvPr id="3" name="Content Placeholder 2"/>
          <p:cNvSpPr>
            <a:spLocks noGrp="1"/>
          </p:cNvSpPr>
          <p:nvPr>
            <p:ph sz="half" idx="1"/>
          </p:nvPr>
        </p:nvSpPr>
        <p:spPr>
          <a:xfrm>
            <a:off x="228600" y="1295400"/>
            <a:ext cx="4395216" cy="4953000"/>
          </a:xfrm>
        </p:spPr>
        <p:txBody>
          <a:bodyPr/>
          <a:lstStyle/>
          <a:p>
            <a:r>
              <a:rPr lang="en-US" dirty="0" smtClean="0"/>
              <a:t>M</a:t>
            </a:r>
            <a:r>
              <a:rPr lang="en-US" baseline="-25000" dirty="0" smtClean="0"/>
              <a:t>1 </a:t>
            </a:r>
            <a:r>
              <a:rPr lang="en-US" dirty="0" smtClean="0"/>
              <a:t>model has low accuracy, implying ambient T has </a:t>
            </a:r>
            <a:r>
              <a:rPr lang="en-US" u="sng" dirty="0" smtClean="0"/>
              <a:t>nonlinear impact </a:t>
            </a:r>
            <a:r>
              <a:rPr lang="en-US" dirty="0" smtClean="0"/>
              <a:t>on room temperatures</a:t>
            </a:r>
          </a:p>
          <a:p>
            <a:r>
              <a:rPr lang="en-US" dirty="0" smtClean="0"/>
              <a:t>M</a:t>
            </a:r>
            <a:r>
              <a:rPr lang="en-US" baseline="-25000" dirty="0" smtClean="0"/>
              <a:t>2</a:t>
            </a:r>
            <a:r>
              <a:rPr lang="en-US" dirty="0" smtClean="0"/>
              <a:t> model has higher accuracy. HVAC and other power inputs have more </a:t>
            </a:r>
            <a:r>
              <a:rPr lang="en-US" u="sng" dirty="0" smtClean="0"/>
              <a:t>linear </a:t>
            </a:r>
            <a:r>
              <a:rPr lang="en-US" dirty="0" smtClean="0"/>
              <a:t>effects on </a:t>
            </a:r>
            <a:r>
              <a:rPr lang="en-US" dirty="0"/>
              <a:t>T</a:t>
            </a:r>
            <a:r>
              <a:rPr lang="en-US" baseline="-25000" dirty="0"/>
              <a:t>all</a:t>
            </a:r>
            <a:r>
              <a:rPr lang="en-US" dirty="0"/>
              <a:t>(t) - </a:t>
            </a:r>
            <a:r>
              <a:rPr lang="en-US" dirty="0" err="1"/>
              <a:t>T</a:t>
            </a:r>
            <a:r>
              <a:rPr lang="en-US" baseline="-25000" dirty="0" err="1"/>
              <a:t>np</a:t>
            </a:r>
            <a:r>
              <a:rPr lang="en-US" dirty="0"/>
              <a:t>(t) </a:t>
            </a:r>
          </a:p>
        </p:txBody>
      </p:sp>
      <p:pic>
        <p:nvPicPr>
          <p:cNvPr id="6" name="Content Placeholder 5"/>
          <p:cNvPicPr>
            <a:picLocks noGrp="1" noChangeAspect="1"/>
          </p:cNvPicPr>
          <p:nvPr>
            <p:ph sz="quarter" idx="2"/>
          </p:nvPr>
        </p:nvPicPr>
        <p:blipFill>
          <a:blip r:embed="rId2"/>
          <a:stretch>
            <a:fillRect/>
          </a:stretch>
        </p:blipFill>
        <p:spPr>
          <a:xfrm>
            <a:off x="4623816" y="1600200"/>
            <a:ext cx="4435929" cy="1725083"/>
          </a:xfrm>
          <a:prstGeom prst="rect">
            <a:avLst/>
          </a:prstGeom>
        </p:spPr>
      </p:pic>
      <p:pic>
        <p:nvPicPr>
          <p:cNvPr id="7" name="Content Placeholder 6"/>
          <p:cNvPicPr>
            <a:picLocks noGrp="1" noChangeAspect="1"/>
          </p:cNvPicPr>
          <p:nvPr>
            <p:ph sz="quarter" idx="3"/>
          </p:nvPr>
        </p:nvPicPr>
        <p:blipFill>
          <a:blip r:embed="rId3"/>
          <a:stretch>
            <a:fillRect/>
          </a:stretch>
        </p:blipFill>
        <p:spPr>
          <a:xfrm>
            <a:off x="4593880" y="4093696"/>
            <a:ext cx="4495800" cy="1727862"/>
          </a:xfrm>
          <a:prstGeom prst="rect">
            <a:avLst/>
          </a:prstGeom>
        </p:spPr>
      </p:pic>
    </p:spTree>
    <p:extLst>
      <p:ext uri="{BB962C8B-B14F-4D97-AF65-F5344CB8AC3E}">
        <p14:creationId xmlns:p14="http://schemas.microsoft.com/office/powerpoint/2010/main" val="551201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Initial Results (no extra factors)</a:t>
            </a:r>
            <a:endParaRPr lang="en-US" dirty="0"/>
          </a:p>
        </p:txBody>
      </p:sp>
      <p:sp>
        <p:nvSpPr>
          <p:cNvPr id="4" name="Content Placeholder 3"/>
          <p:cNvSpPr>
            <a:spLocks noGrp="1"/>
          </p:cNvSpPr>
          <p:nvPr>
            <p:ph idx="1"/>
          </p:nvPr>
        </p:nvSpPr>
        <p:spPr/>
        <p:txBody>
          <a:bodyPr/>
          <a:lstStyle/>
          <a:p>
            <a:r>
              <a:rPr lang="en-US" dirty="0" smtClean="0"/>
              <a:t>Order for system identification: 50</a:t>
            </a:r>
          </a:p>
          <a:p>
            <a:endParaRPr lang="en-US" dirty="0" smtClean="0"/>
          </a:p>
          <a:p>
            <a:endParaRPr lang="en-US" dirty="0" smtClean="0"/>
          </a:p>
          <a:p>
            <a:endParaRPr lang="en-US" dirty="0" smtClean="0"/>
          </a:p>
          <a:p>
            <a:r>
              <a:rPr lang="en-US" dirty="0" smtClean="0"/>
              <a:t>Legend:</a:t>
            </a:r>
          </a:p>
          <a:p>
            <a:pPr lvl="1"/>
            <a:r>
              <a:rPr lang="en-US" dirty="0" smtClean="0"/>
              <a:t>Blue lines are EnergyPlus results</a:t>
            </a:r>
          </a:p>
          <a:p>
            <a:pPr lvl="1"/>
            <a:r>
              <a:rPr lang="en-US" dirty="0" smtClean="0"/>
              <a:t>Red lines are our estimated results</a:t>
            </a:r>
          </a:p>
          <a:p>
            <a:r>
              <a:rPr lang="en-US" sz="2000" dirty="0" smtClean="0"/>
              <a:t>Note: see results between 400 and 500. There is some extra effect that causes the golden result to be strange. Our system does not handle it well for both training (testing) and validation phases.</a:t>
            </a:r>
          </a:p>
          <a:p>
            <a:endParaRPr lang="en-US" dirty="0"/>
          </a:p>
        </p:txBody>
      </p:sp>
      <p:pic>
        <p:nvPicPr>
          <p:cNvPr id="5" name="Content Placeholder 5"/>
          <p:cNvPicPr>
            <a:picLocks noChangeAspect="1"/>
          </p:cNvPicPr>
          <p:nvPr/>
        </p:nvPicPr>
        <p:blipFill>
          <a:blip r:embed="rId2"/>
          <a:srcRect l="-14380" r="-14380"/>
          <a:stretch>
            <a:fillRect/>
          </a:stretch>
        </p:blipFill>
        <p:spPr bwMode="auto">
          <a:xfrm>
            <a:off x="5257800" y="1846797"/>
            <a:ext cx="4123931" cy="2268003"/>
          </a:xfrm>
          <a:prstGeom prst="rect">
            <a:avLst/>
          </a:prstGeom>
          <a:noFill/>
          <a:ln>
            <a:noFill/>
          </a:ln>
          <a:effectLst/>
          <a:extLst>
            <a:ext uri="{FAA26D3D-D897-4be2-8F04-BA451C77F1D7}">
              <ma14:placeholderFlag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32994441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 Results (Training Phase)</a:t>
            </a:r>
            <a:endParaRPr lang="en-US" dirty="0"/>
          </a:p>
        </p:txBody>
      </p:sp>
      <p:pic>
        <p:nvPicPr>
          <p:cNvPr id="3" name="Content Placeholder 3" descr="initial_o50_testing_phase.eps"/>
          <p:cNvPicPr>
            <a:picLocks noChangeAspect="1"/>
          </p:cNvPicPr>
          <p:nvPr/>
        </p:nvPicPr>
        <p:blipFill>
          <a:blip r:embed="rId2">
            <a:extLst>
              <a:ext uri="{28A0092B-C50C-407E-A947-70E740481C1C}">
                <a14:useLocalDpi xmlns:a14="http://schemas.microsoft.com/office/drawing/2010/main" val="0"/>
              </a:ext>
            </a:extLst>
          </a:blip>
          <a:srcRect t="-99" b="-99"/>
          <a:stretch>
            <a:fillRect/>
          </a:stretch>
        </p:blipFill>
        <p:spPr>
          <a:xfrm>
            <a:off x="-762000" y="1825625"/>
            <a:ext cx="10515600" cy="4351338"/>
          </a:xfrm>
          <a:prstGeom prst="rect">
            <a:avLst/>
          </a:prstGeom>
        </p:spPr>
      </p:pic>
    </p:spTree>
    <p:extLst>
      <p:ext uri="{BB962C8B-B14F-4D97-AF65-F5344CB8AC3E}">
        <p14:creationId xmlns:p14="http://schemas.microsoft.com/office/powerpoint/2010/main" val="6782132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077200" cy="868363"/>
          </a:xfrm>
        </p:spPr>
        <p:txBody>
          <a:bodyPr/>
          <a:lstStyle/>
          <a:p>
            <a:r>
              <a:rPr lang="en-US" dirty="0" smtClean="0"/>
              <a:t>Initial Results (Validation Phase)</a:t>
            </a:r>
            <a:endParaRPr lang="en-US" dirty="0"/>
          </a:p>
        </p:txBody>
      </p:sp>
      <p:pic>
        <p:nvPicPr>
          <p:cNvPr id="3" name="Content Placeholder 3" descr="initial_o50_validation_phase.eps"/>
          <p:cNvPicPr>
            <a:picLocks noChangeAspect="1"/>
          </p:cNvPicPr>
          <p:nvPr/>
        </p:nvPicPr>
        <p:blipFill>
          <a:blip r:embed="rId2">
            <a:extLst>
              <a:ext uri="{28A0092B-C50C-407E-A947-70E740481C1C}">
                <a14:useLocalDpi xmlns:a14="http://schemas.microsoft.com/office/drawing/2010/main" val="0"/>
              </a:ext>
            </a:extLst>
          </a:blip>
          <a:srcRect l="54" r="54"/>
          <a:stretch>
            <a:fillRect/>
          </a:stretch>
        </p:blipFill>
        <p:spPr>
          <a:xfrm>
            <a:off x="-762000" y="1825625"/>
            <a:ext cx="10515600" cy="4351338"/>
          </a:xfrm>
          <a:prstGeom prst="rect">
            <a:avLst/>
          </a:prstGeom>
        </p:spPr>
      </p:pic>
    </p:spTree>
    <p:extLst>
      <p:ext uri="{BB962C8B-B14F-4D97-AF65-F5344CB8AC3E}">
        <p14:creationId xmlns:p14="http://schemas.microsoft.com/office/powerpoint/2010/main" val="27048544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Results with extra factors</a:t>
            </a:r>
            <a:endParaRPr lang="en-US" dirty="0"/>
          </a:p>
        </p:txBody>
      </p:sp>
      <p:sp>
        <p:nvSpPr>
          <p:cNvPr id="4" name="Content Placeholder 3"/>
          <p:cNvSpPr>
            <a:spLocks noGrp="1"/>
          </p:cNvSpPr>
          <p:nvPr>
            <p:ph idx="1"/>
          </p:nvPr>
        </p:nvSpPr>
        <p:spPr/>
        <p:txBody>
          <a:bodyPr/>
          <a:lstStyle/>
          <a:p>
            <a:r>
              <a:rPr lang="en-US" dirty="0" smtClean="0"/>
              <a:t>Specifications</a:t>
            </a:r>
          </a:p>
          <a:p>
            <a:pPr lvl="1"/>
            <a:r>
              <a:rPr lang="en-US" sz="2000" dirty="0" smtClean="0"/>
              <a:t>Input: </a:t>
            </a:r>
          </a:p>
          <a:p>
            <a:pPr lvl="2"/>
            <a:r>
              <a:rPr lang="en-US" sz="1900" dirty="0" smtClean="0"/>
              <a:t>Ambient temperature, Custom scheduler, Light Heating Rate</a:t>
            </a:r>
          </a:p>
          <a:p>
            <a:pPr lvl="1"/>
            <a:r>
              <a:rPr lang="en-US" sz="2000" dirty="0" smtClean="0"/>
              <a:t>Output:</a:t>
            </a:r>
          </a:p>
          <a:p>
            <a:pPr lvl="2"/>
            <a:r>
              <a:rPr lang="en-US" sz="1900" dirty="0" smtClean="0"/>
              <a:t>Zone room temperatures</a:t>
            </a:r>
          </a:p>
          <a:p>
            <a:pPr lvl="1"/>
            <a:r>
              <a:rPr lang="en-US" sz="2000" dirty="0" smtClean="0"/>
              <a:t>Order for system </a:t>
            </a:r>
            <a:br>
              <a:rPr lang="en-US" sz="2000" dirty="0" smtClean="0"/>
            </a:br>
            <a:r>
              <a:rPr lang="en-US" sz="2000" dirty="0" smtClean="0"/>
              <a:t>identification: 90</a:t>
            </a:r>
          </a:p>
          <a:p>
            <a:endParaRPr lang="en-US" sz="2400" dirty="0" smtClean="0"/>
          </a:p>
          <a:p>
            <a:r>
              <a:rPr lang="en-US" sz="2400" dirty="0" smtClean="0"/>
              <a:t>Legend:</a:t>
            </a:r>
          </a:p>
          <a:p>
            <a:pPr lvl="1"/>
            <a:r>
              <a:rPr lang="en-US" sz="2000" dirty="0" smtClean="0"/>
              <a:t>Blue lines are EnergyPlus </a:t>
            </a:r>
            <a:br>
              <a:rPr lang="en-US" sz="2000" dirty="0" smtClean="0"/>
            </a:br>
            <a:r>
              <a:rPr lang="en-US" sz="2000" dirty="0" smtClean="0"/>
              <a:t>results</a:t>
            </a:r>
          </a:p>
          <a:p>
            <a:pPr lvl="1"/>
            <a:r>
              <a:rPr lang="en-US" sz="2000" dirty="0" smtClean="0"/>
              <a:t>Red lines are our estimated </a:t>
            </a:r>
            <a:br>
              <a:rPr lang="en-US" sz="2000" dirty="0" smtClean="0"/>
            </a:br>
            <a:r>
              <a:rPr lang="en-US" sz="2000" dirty="0" smtClean="0"/>
              <a:t>results</a:t>
            </a:r>
          </a:p>
        </p:txBody>
      </p:sp>
      <p:pic>
        <p:nvPicPr>
          <p:cNvPr id="5" name="Picture 4"/>
          <p:cNvPicPr>
            <a:picLocks noChangeAspect="1"/>
          </p:cNvPicPr>
          <p:nvPr/>
        </p:nvPicPr>
        <p:blipFill>
          <a:blip r:embed="rId2"/>
          <a:stretch>
            <a:fillRect/>
          </a:stretch>
        </p:blipFill>
        <p:spPr>
          <a:xfrm>
            <a:off x="4495800" y="2863743"/>
            <a:ext cx="4899113" cy="3384657"/>
          </a:xfrm>
          <a:prstGeom prst="rect">
            <a:avLst/>
          </a:prstGeom>
        </p:spPr>
      </p:pic>
    </p:spTree>
    <p:extLst>
      <p:ext uri="{BB962C8B-B14F-4D97-AF65-F5344CB8AC3E}">
        <p14:creationId xmlns:p14="http://schemas.microsoft.com/office/powerpoint/2010/main" val="15229483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(Training Phase)</a:t>
            </a:r>
            <a:endParaRPr lang="en-US" dirty="0"/>
          </a:p>
        </p:txBody>
      </p:sp>
      <p:pic>
        <p:nvPicPr>
          <p:cNvPr id="3" name="Picture 2" descr="20150623-test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930" y="1592728"/>
            <a:ext cx="10813930" cy="5189072"/>
          </a:xfrm>
          <a:prstGeom prst="rect">
            <a:avLst/>
          </a:prstGeom>
        </p:spPr>
      </p:pic>
    </p:spTree>
    <p:extLst>
      <p:ext uri="{BB962C8B-B14F-4D97-AF65-F5344CB8AC3E}">
        <p14:creationId xmlns:p14="http://schemas.microsoft.com/office/powerpoint/2010/main" val="22090157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(Validation Phase)</a:t>
            </a:r>
            <a:endParaRPr lang="en-US" dirty="0"/>
          </a:p>
        </p:txBody>
      </p:sp>
      <p:pic>
        <p:nvPicPr>
          <p:cNvPr id="3" name="Picture 2" descr="20150623-validation.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609128"/>
            <a:ext cx="10744200" cy="5155612"/>
          </a:xfrm>
          <a:prstGeom prst="rect">
            <a:avLst/>
          </a:prstGeom>
        </p:spPr>
      </p:pic>
    </p:spTree>
    <p:extLst>
      <p:ext uri="{BB962C8B-B14F-4D97-AF65-F5344CB8AC3E}">
        <p14:creationId xmlns:p14="http://schemas.microsoft.com/office/powerpoint/2010/main" val="24456561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a:t>
            </a:r>
            <a:endParaRPr lang="en-US" dirty="0"/>
          </a:p>
        </p:txBody>
      </p:sp>
      <p:sp>
        <p:nvSpPr>
          <p:cNvPr id="3" name="Content Placeholder 2"/>
          <p:cNvSpPr>
            <a:spLocks noGrp="1"/>
          </p:cNvSpPr>
          <p:nvPr>
            <p:ph idx="1"/>
          </p:nvPr>
        </p:nvSpPr>
        <p:spPr/>
        <p:txBody>
          <a:bodyPr/>
          <a:lstStyle/>
          <a:p>
            <a:r>
              <a:rPr lang="en-US" dirty="0" smtClean="0"/>
              <a:t>Testing phase seems to build the model accurately, even with light heat as a factor.</a:t>
            </a:r>
          </a:p>
        </p:txBody>
      </p:sp>
      <p:sp>
        <p:nvSpPr>
          <p:cNvPr id="4" name="TextBox 3"/>
          <p:cNvSpPr txBox="1"/>
          <p:nvPr/>
        </p:nvSpPr>
        <p:spPr>
          <a:xfrm>
            <a:off x="3276600" y="2590800"/>
            <a:ext cx="5867400" cy="1200329"/>
          </a:xfrm>
          <a:prstGeom prst="rect">
            <a:avLst/>
          </a:prstGeom>
          <a:noFill/>
        </p:spPr>
        <p:txBody>
          <a:bodyPr wrap="square" rtlCol="0">
            <a:spAutoFit/>
          </a:bodyPr>
          <a:lstStyle/>
          <a:p>
            <a:r>
              <a:rPr lang="en-US" dirty="0" smtClean="0"/>
              <a:t>Example below:</a:t>
            </a:r>
          </a:p>
          <a:p>
            <a:r>
              <a:rPr lang="en-US" dirty="0" smtClean="0"/>
              <a:t>Actual schedule(blue) : 4-</a:t>
            </a:r>
            <a:r>
              <a:rPr lang="en-US" u="sng" dirty="0" smtClean="0"/>
              <a:t>2</a:t>
            </a:r>
            <a:r>
              <a:rPr lang="en-US" dirty="0" smtClean="0"/>
              <a:t>-5-</a:t>
            </a:r>
            <a:r>
              <a:rPr lang="en-US" u="sng" dirty="0" smtClean="0"/>
              <a:t>2</a:t>
            </a:r>
            <a:r>
              <a:rPr lang="en-US" dirty="0" smtClean="0"/>
              <a:t>-5-</a:t>
            </a:r>
            <a:r>
              <a:rPr lang="en-US" u="sng" dirty="0" smtClean="0"/>
              <a:t>1</a:t>
            </a:r>
            <a:r>
              <a:rPr lang="en-US" dirty="0" smtClean="0"/>
              <a:t>-4-</a:t>
            </a:r>
            <a:r>
              <a:rPr lang="en-US" u="sng" dirty="0" smtClean="0"/>
              <a:t>2</a:t>
            </a:r>
            <a:r>
              <a:rPr lang="en-US" dirty="0" smtClean="0"/>
              <a:t>-5-</a:t>
            </a:r>
            <a:r>
              <a:rPr lang="en-US" u="sng" dirty="0" smtClean="0"/>
              <a:t>2</a:t>
            </a:r>
            <a:r>
              <a:rPr lang="en-US" dirty="0" smtClean="0"/>
              <a:t>-5-</a:t>
            </a:r>
            <a:r>
              <a:rPr lang="en-US" u="sng" dirty="0" smtClean="0"/>
              <a:t>2</a:t>
            </a:r>
            <a:r>
              <a:rPr lang="en-US" dirty="0" smtClean="0"/>
              <a:t>-…</a:t>
            </a:r>
          </a:p>
          <a:p>
            <a:r>
              <a:rPr lang="en-US" dirty="0" smtClean="0"/>
              <a:t>Estimated schedule(red)  : 2-</a:t>
            </a:r>
            <a:r>
              <a:rPr lang="en-US" u="sng" dirty="0" smtClean="0"/>
              <a:t>2</a:t>
            </a:r>
            <a:r>
              <a:rPr lang="en-US" dirty="0" smtClean="0"/>
              <a:t>-5-</a:t>
            </a:r>
            <a:r>
              <a:rPr lang="en-US" u="sng" dirty="0" smtClean="0"/>
              <a:t>2</a:t>
            </a:r>
            <a:r>
              <a:rPr lang="en-US" dirty="0" smtClean="0"/>
              <a:t>-5-</a:t>
            </a:r>
            <a:r>
              <a:rPr lang="en-US" u="sng" dirty="0" smtClean="0"/>
              <a:t>2</a:t>
            </a:r>
            <a:r>
              <a:rPr lang="en-US" dirty="0" smtClean="0"/>
              <a:t>-5-</a:t>
            </a:r>
            <a:r>
              <a:rPr lang="en-US" u="sng" dirty="0" smtClean="0"/>
              <a:t>2</a:t>
            </a:r>
            <a:r>
              <a:rPr lang="en-US" dirty="0" smtClean="0"/>
              <a:t>-5-</a:t>
            </a:r>
            <a:r>
              <a:rPr lang="en-US" u="sng" dirty="0" smtClean="0"/>
              <a:t>2</a:t>
            </a:r>
            <a:r>
              <a:rPr lang="en-US" dirty="0" smtClean="0"/>
              <a:t>-5-</a:t>
            </a:r>
            <a:r>
              <a:rPr lang="en-US" u="sng" dirty="0" smtClean="0"/>
              <a:t>2</a:t>
            </a:r>
            <a:r>
              <a:rPr lang="en-US" dirty="0" smtClean="0"/>
              <a:t>-…</a:t>
            </a:r>
          </a:p>
          <a:p>
            <a:r>
              <a:rPr lang="en-US" dirty="0"/>
              <a:t>(Underlined numbers are weekend days</a:t>
            </a:r>
            <a:r>
              <a:rPr lang="en-US" dirty="0" smtClean="0"/>
              <a:t>)</a:t>
            </a:r>
            <a:endParaRPr lang="en-US" dirty="0"/>
          </a:p>
        </p:txBody>
      </p:sp>
      <p:pic>
        <p:nvPicPr>
          <p:cNvPr id="5" name="Picture 4"/>
          <p:cNvPicPr>
            <a:picLocks noChangeAspect="1"/>
          </p:cNvPicPr>
          <p:nvPr/>
        </p:nvPicPr>
        <p:blipFill>
          <a:blip r:embed="rId2"/>
          <a:stretch>
            <a:fillRect/>
          </a:stretch>
        </p:blipFill>
        <p:spPr>
          <a:xfrm>
            <a:off x="0" y="4244176"/>
            <a:ext cx="9180305" cy="1394624"/>
          </a:xfrm>
          <a:prstGeom prst="rect">
            <a:avLst/>
          </a:prstGeom>
        </p:spPr>
      </p:pic>
    </p:spTree>
    <p:extLst>
      <p:ext uri="{BB962C8B-B14F-4D97-AF65-F5344CB8AC3E}">
        <p14:creationId xmlns:p14="http://schemas.microsoft.com/office/powerpoint/2010/main" val="32231817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Model order selection to avoid </a:t>
            </a:r>
            <a:r>
              <a:rPr lang="en-US" sz="2800" dirty="0" err="1" smtClean="0"/>
              <a:t>overfitting</a:t>
            </a:r>
            <a:endParaRPr lang="en-US" sz="2800" dirty="0"/>
          </a:p>
        </p:txBody>
      </p:sp>
      <p:sp>
        <p:nvSpPr>
          <p:cNvPr id="3" name="Content Placeholder 2"/>
          <p:cNvSpPr>
            <a:spLocks noGrp="1"/>
          </p:cNvSpPr>
          <p:nvPr>
            <p:ph idx="1"/>
          </p:nvPr>
        </p:nvSpPr>
        <p:spPr/>
        <p:txBody>
          <a:bodyPr/>
          <a:lstStyle/>
          <a:p>
            <a:r>
              <a:rPr lang="en-US" dirty="0" smtClean="0"/>
              <a:t>Done various optimization which includes selecting a proper order.</a:t>
            </a:r>
          </a:p>
          <a:p>
            <a:r>
              <a:rPr lang="en-US" dirty="0" smtClean="0"/>
              <a:t>For this order study, the best order seen below is 37. After many trials, we found an acceptable order.</a:t>
            </a:r>
          </a:p>
        </p:txBody>
      </p:sp>
      <p:pic>
        <p:nvPicPr>
          <p:cNvPr id="4" name="Picture 3" descr="order_study.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2800" y="3505200"/>
            <a:ext cx="4064000" cy="3048000"/>
          </a:xfrm>
          <a:prstGeom prst="rect">
            <a:avLst/>
          </a:prstGeom>
        </p:spPr>
      </p:pic>
    </p:spTree>
    <p:extLst>
      <p:ext uri="{BB962C8B-B14F-4D97-AF65-F5344CB8AC3E}">
        <p14:creationId xmlns:p14="http://schemas.microsoft.com/office/powerpoint/2010/main" val="39168776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Results (Training Phase)</a:t>
            </a:r>
            <a:endParaRPr lang="en-US" dirty="0"/>
          </a:p>
        </p:txBody>
      </p:sp>
      <p:sp>
        <p:nvSpPr>
          <p:cNvPr id="3" name="Content Placeholder 2"/>
          <p:cNvSpPr>
            <a:spLocks noGrp="1"/>
          </p:cNvSpPr>
          <p:nvPr>
            <p:ph idx="1"/>
          </p:nvPr>
        </p:nvSpPr>
        <p:spPr/>
        <p:txBody>
          <a:bodyPr/>
          <a:lstStyle/>
          <a:p>
            <a:r>
              <a:rPr lang="en-US" sz="3200" dirty="0" smtClean="0"/>
              <a:t>For 5-zone building, only one zone and the first 500 hours shown below</a:t>
            </a:r>
          </a:p>
        </p:txBody>
      </p:sp>
      <p:pic>
        <p:nvPicPr>
          <p:cNvPr id="4" name="Picture 3" descr="5zone-testingphase-only-consider-ambient-tempera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2516275"/>
            <a:ext cx="5321300" cy="4000500"/>
          </a:xfrm>
          <a:prstGeom prst="rect">
            <a:avLst/>
          </a:prstGeom>
        </p:spPr>
      </p:pic>
    </p:spTree>
    <p:extLst>
      <p:ext uri="{BB962C8B-B14F-4D97-AF65-F5344CB8AC3E}">
        <p14:creationId xmlns:p14="http://schemas.microsoft.com/office/powerpoint/2010/main" val="28671978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Results (Validation Phase)</a:t>
            </a:r>
            <a:endParaRPr lang="en-US" dirty="0"/>
          </a:p>
        </p:txBody>
      </p:sp>
      <p:sp>
        <p:nvSpPr>
          <p:cNvPr id="4" name="TextBox 3"/>
          <p:cNvSpPr txBox="1"/>
          <p:nvPr/>
        </p:nvSpPr>
        <p:spPr>
          <a:xfrm>
            <a:off x="-1103474" y="3331400"/>
            <a:ext cx="184666" cy="369332"/>
          </a:xfrm>
          <a:prstGeom prst="rect">
            <a:avLst/>
          </a:prstGeom>
          <a:noFill/>
        </p:spPr>
        <p:txBody>
          <a:bodyPr wrap="none" rtlCol="0">
            <a:spAutoFit/>
          </a:bodyPr>
          <a:lstStyle/>
          <a:p>
            <a:endParaRPr lang="en-US" dirty="0"/>
          </a:p>
        </p:txBody>
      </p:sp>
      <p:pic>
        <p:nvPicPr>
          <p:cNvPr id="5" name="Picture 4" descr="5zone-validationphase-only-consider-ambient-tempera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2057400"/>
            <a:ext cx="5321300" cy="4000500"/>
          </a:xfrm>
          <a:prstGeom prst="rect">
            <a:avLst/>
          </a:prstGeom>
        </p:spPr>
      </p:pic>
    </p:spTree>
    <p:extLst>
      <p:ext uri="{BB962C8B-B14F-4D97-AF65-F5344CB8AC3E}">
        <p14:creationId xmlns:p14="http://schemas.microsoft.com/office/powerpoint/2010/main" val="17300756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Absolute and Relative Errors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51481336"/>
              </p:ext>
            </p:extLst>
          </p:nvPr>
        </p:nvGraphicFramePr>
        <p:xfrm>
          <a:off x="1752600" y="1627828"/>
          <a:ext cx="5867400" cy="2182172"/>
        </p:xfrm>
        <a:graphic>
          <a:graphicData uri="http://schemas.openxmlformats.org/drawingml/2006/table">
            <a:tbl>
              <a:tblPr firstRow="1" bandRow="1">
                <a:tableStyleId>{10A1B5D5-9B99-4C35-A422-299274C87663}</a:tableStyleId>
              </a:tblPr>
              <a:tblGrid>
                <a:gridCol w="762000"/>
                <a:gridCol w="1295400"/>
                <a:gridCol w="762000"/>
                <a:gridCol w="762000"/>
                <a:gridCol w="762000"/>
                <a:gridCol w="762000"/>
                <a:gridCol w="762000"/>
              </a:tblGrid>
              <a:tr h="304799">
                <a:tc gridSpan="7">
                  <a:txBody>
                    <a:bodyPr/>
                    <a:lstStyle/>
                    <a:p>
                      <a:pPr algn="ctr" fontAlgn="b"/>
                      <a:r>
                        <a:rPr lang="en-US" sz="1100" u="none" strike="noStrike" dirty="0">
                          <a:effectLst/>
                        </a:rPr>
                        <a:t>Five zone with HVAC only considering ambient temperature</a:t>
                      </a:r>
                      <a:endParaRPr lang="en-US" sz="1100" b="1" i="0" u="none" strike="noStrike" dirty="0">
                        <a:solidFill>
                          <a:srgbClr val="000000"/>
                        </a:solidFill>
                        <a:effectLst/>
                        <a:latin typeface="Calibri"/>
                      </a:endParaRPr>
                    </a:p>
                  </a:txBody>
                  <a:tcPr marL="12700" marR="12700" marT="1270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08597">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12700" marR="12700" marT="12700" marB="0" anchor="b"/>
                </a:tc>
                <a:tc>
                  <a:txBody>
                    <a:bodyPr/>
                    <a:lstStyle/>
                    <a:p>
                      <a:pPr algn="l" fontAlgn="b"/>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1</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2</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a:effectLst/>
                        </a:rPr>
                        <a:t>SPACE 3</a:t>
                      </a:r>
                      <a:endParaRPr lang="en-US" sz="1100" b="0" i="0" u="sng" strike="noStrike">
                        <a:solidFill>
                          <a:srgbClr val="000000"/>
                        </a:solidFill>
                        <a:effectLst/>
                        <a:latin typeface="Calibri"/>
                      </a:endParaRPr>
                    </a:p>
                  </a:txBody>
                  <a:tcPr marL="12700" marR="12700" marT="12700" marB="0" anchor="b"/>
                </a:tc>
                <a:tc>
                  <a:txBody>
                    <a:bodyPr/>
                    <a:lstStyle/>
                    <a:p>
                      <a:pPr algn="ctr" fontAlgn="b"/>
                      <a:r>
                        <a:rPr lang="en-US" sz="1100" u="sng" strike="noStrike">
                          <a:effectLst/>
                        </a:rPr>
                        <a:t>SPACE 4</a:t>
                      </a:r>
                      <a:endParaRPr lang="en-US" sz="1100" b="0" i="0" u="sng" strike="noStrike">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5</a:t>
                      </a:r>
                      <a:endParaRPr lang="en-US" sz="1100" b="0" i="0" u="sng" strike="noStrike" dirty="0">
                        <a:solidFill>
                          <a:srgbClr val="000000"/>
                        </a:solidFill>
                        <a:effectLst/>
                        <a:latin typeface="Calibri"/>
                      </a:endParaRPr>
                    </a:p>
                  </a:txBody>
                  <a:tcPr marL="12700" marR="12700" marT="12700" marB="0" anchor="b"/>
                </a:tc>
              </a:tr>
              <a:tr h="208597">
                <a:tc rowSpan="4">
                  <a:txBody>
                    <a:bodyPr/>
                    <a:lstStyle/>
                    <a:p>
                      <a:pPr algn="ctr" fontAlgn="ctr"/>
                      <a:r>
                        <a:rPr lang="en-US" sz="1100" u="none" strike="noStrike" dirty="0">
                          <a:effectLst/>
                        </a:rPr>
                        <a:t>Testing</a:t>
                      </a:r>
                      <a:endParaRPr lang="en-US" sz="1100" b="1" i="0" u="none" strike="noStrike" dirty="0">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0.0150</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0.0165</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0.0138</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0.0136</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0.0120</a:t>
                      </a:r>
                      <a:endParaRPr lang="en-US" sz="1100" b="0" i="0" u="none" strike="noStrike" dirty="0">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0.0879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0.0825</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0.0958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0.0927</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0.0900</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0.3078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0.3372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0.2752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0.2739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0.2482</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1.8780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1.7701</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2.0544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1.9978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1.9546</a:t>
                      </a:r>
                      <a:endParaRPr lang="en-US" sz="1100" b="0" i="0" u="none" strike="noStrike">
                        <a:solidFill>
                          <a:srgbClr val="000000"/>
                        </a:solidFill>
                        <a:effectLst/>
                        <a:latin typeface="Calibri"/>
                      </a:endParaRPr>
                    </a:p>
                  </a:txBody>
                  <a:tcPr marL="12700" marR="12700" marT="12700" marB="0" anchor="b"/>
                </a:tc>
              </a:tr>
              <a:tr h="208597">
                <a:tc rowSpan="4">
                  <a:txBody>
                    <a:bodyPr/>
                    <a:lstStyle/>
                    <a:p>
                      <a:pPr algn="ctr" fontAlgn="ctr"/>
                      <a:r>
                        <a:rPr lang="en-US" sz="1100" u="none" strike="noStrike">
                          <a:effectLst/>
                        </a:rPr>
                        <a:t>Validation</a:t>
                      </a:r>
                      <a:endParaRPr lang="en-US" sz="1100" b="1" i="0" u="none" strike="noStrike">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0.0267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0.0290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0.0187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0.0199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0.0166</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0.1510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0.1868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0.1438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0.1463</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0.1375</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0.5707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0.6267</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0.3874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0.4157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0.3538</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2.7525</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4.1471</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3.2361</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3.3607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3.1209</a:t>
                      </a:r>
                      <a:endParaRPr lang="en-US" sz="1100" b="0" i="0" u="none" strike="noStrike" dirty="0">
                        <a:solidFill>
                          <a:srgbClr val="000000"/>
                        </a:solidFill>
                        <a:effectLst/>
                        <a:latin typeface="Calibri"/>
                      </a:endParaRPr>
                    </a:p>
                  </a:txBody>
                  <a:tcPr marL="12700" marR="12700" marT="12700" marB="0" anchor="b"/>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92005515"/>
              </p:ext>
            </p:extLst>
          </p:nvPr>
        </p:nvGraphicFramePr>
        <p:xfrm>
          <a:off x="1752600" y="4142426"/>
          <a:ext cx="5867400" cy="2182174"/>
        </p:xfrm>
        <a:graphic>
          <a:graphicData uri="http://schemas.openxmlformats.org/drawingml/2006/table">
            <a:tbl>
              <a:tblPr firstRow="1" bandRow="1">
                <a:tableStyleId>{10A1B5D5-9B99-4C35-A422-299274C87663}</a:tableStyleId>
              </a:tblPr>
              <a:tblGrid>
                <a:gridCol w="762000"/>
                <a:gridCol w="1295400"/>
                <a:gridCol w="762000"/>
                <a:gridCol w="762000"/>
                <a:gridCol w="762000"/>
                <a:gridCol w="762000"/>
                <a:gridCol w="762000"/>
              </a:tblGrid>
              <a:tr h="304801">
                <a:tc gridSpan="7">
                  <a:txBody>
                    <a:bodyPr/>
                    <a:lstStyle/>
                    <a:p>
                      <a:pPr algn="ctr" fontAlgn="b"/>
                      <a:r>
                        <a:rPr lang="en-US" sz="1100" u="none" strike="noStrike" dirty="0">
                          <a:effectLst/>
                        </a:rPr>
                        <a:t>Five zone with HVAC and considering extra factors</a:t>
                      </a:r>
                      <a:endParaRPr lang="en-US" sz="1100" b="1" i="0" u="none" strike="noStrike" dirty="0">
                        <a:solidFill>
                          <a:srgbClr val="000000"/>
                        </a:solidFill>
                        <a:effectLst/>
                        <a:latin typeface="Calibri"/>
                      </a:endParaRPr>
                    </a:p>
                  </a:txBody>
                  <a:tcPr marL="12700" marR="12700" marT="1270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08597">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12700" marR="12700" marT="12700" marB="0" anchor="b"/>
                </a:tc>
                <a:tc>
                  <a:txBody>
                    <a:bodyPr/>
                    <a:lstStyle/>
                    <a:p>
                      <a:pPr algn="l" fontAlgn="b"/>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1</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2</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3</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4</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5</a:t>
                      </a:r>
                      <a:endParaRPr lang="en-US" sz="1100" b="0" i="0" u="sng" strike="noStrike" dirty="0">
                        <a:solidFill>
                          <a:srgbClr val="000000"/>
                        </a:solidFill>
                        <a:effectLst/>
                        <a:latin typeface="Calibri"/>
                      </a:endParaRPr>
                    </a:p>
                  </a:txBody>
                  <a:tcPr marL="12700" marR="12700" marT="12700" marB="0" anchor="b"/>
                </a:tc>
              </a:tr>
              <a:tr h="208597">
                <a:tc rowSpan="4">
                  <a:txBody>
                    <a:bodyPr/>
                    <a:lstStyle/>
                    <a:p>
                      <a:pPr algn="ctr" fontAlgn="ctr"/>
                      <a:r>
                        <a:rPr lang="en-US" sz="1100" u="none" strike="noStrike" dirty="0">
                          <a:effectLst/>
                        </a:rPr>
                        <a:t>Testing</a:t>
                      </a:r>
                      <a:endParaRPr lang="en-US" sz="1100" b="1" i="0" u="none" strike="noStrike" dirty="0">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0.0153</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0.0167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0.0132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0.0139</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0.0088</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0.0792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0.0948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0.0759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0.0788</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0.0598</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0.3297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0.3620</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0.2742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0.2919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0.1900</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1.7938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2.0272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1.6310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1.6794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1.3117</a:t>
                      </a:r>
                      <a:endParaRPr lang="en-US" sz="1100" b="0" i="0" u="none" strike="noStrike">
                        <a:solidFill>
                          <a:srgbClr val="000000"/>
                        </a:solidFill>
                        <a:effectLst/>
                        <a:latin typeface="Calibri"/>
                      </a:endParaRPr>
                    </a:p>
                  </a:txBody>
                  <a:tcPr marL="12700" marR="12700" marT="12700" marB="0" anchor="b"/>
                </a:tc>
              </a:tr>
              <a:tr h="208597">
                <a:tc rowSpan="4">
                  <a:txBody>
                    <a:bodyPr/>
                    <a:lstStyle/>
                    <a:p>
                      <a:pPr algn="ctr" fontAlgn="ctr"/>
                      <a:r>
                        <a:rPr lang="en-US" sz="1100" u="none" strike="noStrike">
                          <a:effectLst/>
                        </a:rPr>
                        <a:t>Validation</a:t>
                      </a:r>
                      <a:endParaRPr lang="en-US" sz="1100" b="1" i="0" u="none" strike="noStrike">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0.0320</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0.0333</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0.0187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0.0203</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0.0145</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0.1594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0.1690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0.0786</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0.0930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0.0650</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0.7247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0.7520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0.3947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0.4352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0.3187</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4.3228</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4.6669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1.6876</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2.0009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1.4297</a:t>
                      </a:r>
                      <a:endParaRPr lang="en-US" sz="1100" b="0" i="0" u="none" strike="noStrike" dirty="0">
                        <a:solidFill>
                          <a:srgbClr val="000000"/>
                        </a:solidFill>
                        <a:effectLst/>
                        <a:latin typeface="Calibri"/>
                      </a:endParaRPr>
                    </a:p>
                  </a:txBody>
                  <a:tcPr marL="12700" marR="12700" marT="12700" marB="0" anchor="b"/>
                </a:tc>
              </a:tr>
            </a:tbl>
          </a:graphicData>
        </a:graphic>
      </p:graphicFrame>
    </p:spTree>
    <p:extLst>
      <p:ext uri="{BB962C8B-B14F-4D97-AF65-F5344CB8AC3E}">
        <p14:creationId xmlns:p14="http://schemas.microsoft.com/office/powerpoint/2010/main" val="404157362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2-Zone Results</a:t>
            </a:r>
            <a:endParaRPr lang="en-US" dirty="0"/>
          </a:p>
        </p:txBody>
      </p:sp>
      <p:sp>
        <p:nvSpPr>
          <p:cNvPr id="8" name="Content Placeholder 7"/>
          <p:cNvSpPr>
            <a:spLocks noGrp="1"/>
          </p:cNvSpPr>
          <p:nvPr>
            <p:ph idx="1"/>
          </p:nvPr>
        </p:nvSpPr>
        <p:spPr/>
        <p:txBody>
          <a:bodyPr/>
          <a:lstStyle/>
          <a:p>
            <a:r>
              <a:rPr lang="en-US" dirty="0" smtClean="0"/>
              <a:t>For 2-zone, only one zone</a:t>
            </a:r>
            <a:br>
              <a:rPr lang="en-US" dirty="0" smtClean="0"/>
            </a:br>
            <a:r>
              <a:rPr lang="en-US" dirty="0" smtClean="0"/>
              <a:t>and first 500 hours are</a:t>
            </a:r>
            <a:br>
              <a:rPr lang="en-US" dirty="0" smtClean="0"/>
            </a:br>
            <a:r>
              <a:rPr lang="en-US" dirty="0" smtClean="0"/>
              <a:t>shown below</a:t>
            </a:r>
            <a:endParaRPr lang="en-US" dirty="0"/>
          </a:p>
        </p:txBody>
      </p:sp>
      <p:pic>
        <p:nvPicPr>
          <p:cNvPr id="4" name="Picture 3" descr="2zone-testingphase-consider-all-factor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730" y="3429000"/>
            <a:ext cx="4263070" cy="3204933"/>
          </a:xfrm>
          <a:prstGeom prst="rect">
            <a:avLst/>
          </a:prstGeom>
        </p:spPr>
      </p:pic>
      <p:pic>
        <p:nvPicPr>
          <p:cNvPr id="5" name="Picture 4" descr="2zone-validationphase-consider-all-factors.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429000"/>
            <a:ext cx="4267200" cy="3208038"/>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1930722868"/>
              </p:ext>
            </p:extLst>
          </p:nvPr>
        </p:nvGraphicFramePr>
        <p:xfrm>
          <a:off x="5257800" y="810705"/>
          <a:ext cx="3429000" cy="2465895"/>
        </p:xfrm>
        <a:graphic>
          <a:graphicData uri="http://schemas.openxmlformats.org/drawingml/2006/table">
            <a:tbl>
              <a:tblPr firstRow="1" bandRow="1">
                <a:tableStyleId>{10A1B5D5-9B99-4C35-A422-299274C87663}</a:tableStyleId>
              </a:tblPr>
              <a:tblGrid>
                <a:gridCol w="646981"/>
                <a:gridCol w="1410419"/>
                <a:gridCol w="685800"/>
                <a:gridCol w="685800"/>
              </a:tblGrid>
              <a:tr h="304797">
                <a:tc gridSpan="4">
                  <a:txBody>
                    <a:bodyPr/>
                    <a:lstStyle/>
                    <a:p>
                      <a:pPr algn="ctr" fontAlgn="b"/>
                      <a:r>
                        <a:rPr lang="en-US" sz="1100" u="none" strike="noStrike" dirty="0">
                          <a:effectLst/>
                        </a:rPr>
                        <a:t>Two zone with HVAC and extra factors</a:t>
                      </a:r>
                      <a:endParaRPr lang="en-US" sz="1100" b="1" i="0" u="none" strike="noStrike" dirty="0">
                        <a:solidFill>
                          <a:srgbClr val="000000"/>
                        </a:solidFill>
                        <a:effectLst/>
                        <a:latin typeface="Calibri"/>
                      </a:endParaRPr>
                    </a:p>
                  </a:txBody>
                  <a:tcPr marL="12700" marR="12700" marT="12700" marB="0" anchor="b"/>
                </a:tc>
                <a:tc hMerge="1">
                  <a:txBody>
                    <a:bodyPr/>
                    <a:lstStyle/>
                    <a:p>
                      <a:endParaRPr lang="en-US"/>
                    </a:p>
                  </a:txBody>
                  <a:tcPr/>
                </a:tc>
                <a:tc hMerge="1">
                  <a:txBody>
                    <a:bodyPr/>
                    <a:lstStyle/>
                    <a:p>
                      <a:endParaRPr lang="en-US"/>
                    </a:p>
                  </a:txBody>
                  <a:tcPr/>
                </a:tc>
                <a:tc hMerge="1">
                  <a:txBody>
                    <a:bodyPr/>
                    <a:lstStyle/>
                    <a:p>
                      <a:endParaRPr lang="en-US"/>
                    </a:p>
                  </a:txBody>
                  <a:tcPr/>
                </a:tc>
              </a:tr>
              <a:tr h="240122">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12700" marR="12700" marT="12700" marB="0" anchor="b"/>
                </a:tc>
                <a:tc>
                  <a:txBody>
                    <a:bodyPr/>
                    <a:lstStyle/>
                    <a:p>
                      <a:pPr algn="l" fontAlgn="b"/>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1</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a:effectLst/>
                        </a:rPr>
                        <a:t>SPACE 2</a:t>
                      </a:r>
                      <a:endParaRPr lang="en-US" sz="1100" b="0" i="0" u="sng" strike="noStrike">
                        <a:solidFill>
                          <a:srgbClr val="000000"/>
                        </a:solidFill>
                        <a:effectLst/>
                        <a:latin typeface="Calibri"/>
                      </a:endParaRPr>
                    </a:p>
                  </a:txBody>
                  <a:tcPr marL="12700" marR="12700" marT="12700" marB="0" anchor="b"/>
                </a:tc>
              </a:tr>
              <a:tr h="240122">
                <a:tc rowSpan="4">
                  <a:txBody>
                    <a:bodyPr/>
                    <a:lstStyle/>
                    <a:p>
                      <a:pPr algn="ctr" fontAlgn="ctr"/>
                      <a:r>
                        <a:rPr lang="en-US" sz="1100" u="none" strike="noStrike" dirty="0">
                          <a:effectLst/>
                        </a:rPr>
                        <a:t>Testing</a:t>
                      </a:r>
                      <a:endParaRPr lang="en-US" sz="1100" b="1" i="0" u="none" strike="noStrike" dirty="0">
                        <a:solidFill>
                          <a:srgbClr val="000000"/>
                        </a:solidFill>
                        <a:effectLst/>
                        <a:latin typeface="Calibri"/>
                      </a:endParaRPr>
                    </a:p>
                  </a:txBody>
                  <a:tcPr marL="12700" marR="12700" marT="12700" marB="0" anchor="ctr"/>
                </a:tc>
                <a:tc>
                  <a:txBody>
                    <a:bodyPr/>
                    <a:lstStyle/>
                    <a:p>
                      <a:pPr algn="l" fontAlgn="b"/>
                      <a:r>
                        <a:rPr lang="en-US" sz="1100" u="none" strike="noStrike" dirty="0">
                          <a:effectLst/>
                        </a:rPr>
                        <a:t>Relative RMS Error</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0.0021</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0.0022</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0.0128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0.0144</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dirty="0">
                          <a:effectLst/>
                        </a:rPr>
                        <a:t>Absolute RMS Error</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0.0476</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0.0488</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0.2959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0.3235</a:t>
                      </a:r>
                      <a:endParaRPr lang="en-US" sz="1100" b="0" i="0" u="none" strike="noStrike">
                        <a:solidFill>
                          <a:srgbClr val="000000"/>
                        </a:solidFill>
                        <a:effectLst/>
                        <a:latin typeface="Calibri"/>
                      </a:endParaRPr>
                    </a:p>
                  </a:txBody>
                  <a:tcPr marL="12700" marR="12700" marT="12700" marB="0" anchor="b"/>
                </a:tc>
              </a:tr>
              <a:tr h="240122">
                <a:tc rowSpan="4">
                  <a:txBody>
                    <a:bodyPr/>
                    <a:lstStyle/>
                    <a:p>
                      <a:pPr algn="ctr" fontAlgn="ctr"/>
                      <a:r>
                        <a:rPr lang="en-US" sz="1100" u="none" strike="noStrike">
                          <a:effectLst/>
                        </a:rPr>
                        <a:t>Validation</a:t>
                      </a:r>
                      <a:endParaRPr lang="en-US" sz="1100" b="1" i="0" u="none" strike="noStrike">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0.0041</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0.0060</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0.0214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0.0229</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0.0939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0.1338</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0.4912</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0.5164</a:t>
                      </a:r>
                      <a:endParaRPr lang="en-US" sz="1100" b="0" i="0" u="none" strike="noStrike" dirty="0">
                        <a:solidFill>
                          <a:srgbClr val="000000"/>
                        </a:solidFill>
                        <a:effectLst/>
                        <a:latin typeface="Calibri"/>
                      </a:endParaRPr>
                    </a:p>
                  </a:txBody>
                  <a:tcPr marL="12700" marR="12700" marT="12700" marB="0" anchor="b"/>
                </a:tc>
              </a:tr>
            </a:tbl>
          </a:graphicData>
        </a:graphic>
      </p:graphicFrame>
    </p:spTree>
    <p:extLst>
      <p:ext uri="{BB962C8B-B14F-4D97-AF65-F5344CB8AC3E}">
        <p14:creationId xmlns:p14="http://schemas.microsoft.com/office/powerpoint/2010/main" val="228454681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a:xfrm>
            <a:off x="228600" y="1066800"/>
            <a:ext cx="8686800" cy="4953000"/>
          </a:xfrm>
        </p:spPr>
        <p:txBody>
          <a:bodyPr/>
          <a:lstStyle/>
          <a:p>
            <a:r>
              <a:rPr lang="en-US" dirty="0" smtClean="0"/>
              <a:t>Based on recently proposed subspace identification method</a:t>
            </a:r>
          </a:p>
          <a:p>
            <a:r>
              <a:rPr lang="en-US" dirty="0" smtClean="0"/>
              <a:t>5-zone (all factors)</a:t>
            </a:r>
          </a:p>
          <a:p>
            <a:pPr lvl="1"/>
            <a:r>
              <a:rPr lang="en-US" dirty="0" smtClean="0"/>
              <a:t>1.4 - 3.3% average relative error</a:t>
            </a:r>
          </a:p>
          <a:p>
            <a:pPr lvl="1"/>
            <a:r>
              <a:rPr lang="en-US" dirty="0" smtClean="0"/>
              <a:t>6.5 – 16.9% max relative error</a:t>
            </a:r>
          </a:p>
          <a:p>
            <a:r>
              <a:rPr lang="en-US" dirty="0" smtClean="0"/>
              <a:t>5-zone (HVAC only)</a:t>
            </a:r>
          </a:p>
          <a:p>
            <a:pPr lvl="1"/>
            <a:r>
              <a:rPr lang="en-US" dirty="0" smtClean="0"/>
              <a:t>1.7 – 2.9% average relative error</a:t>
            </a:r>
          </a:p>
          <a:p>
            <a:pPr lvl="1"/>
            <a:r>
              <a:rPr lang="en-US" dirty="0" smtClean="0"/>
              <a:t>13.8 – 18.7% max relative error</a:t>
            </a:r>
          </a:p>
          <a:p>
            <a:r>
              <a:rPr lang="en-US" dirty="0" smtClean="0"/>
              <a:t>2-zone (all factors)</a:t>
            </a:r>
          </a:p>
          <a:p>
            <a:pPr lvl="1"/>
            <a:r>
              <a:rPr lang="en-US" dirty="0" smtClean="0"/>
              <a:t>0.4 – 0.6% average relative error</a:t>
            </a:r>
          </a:p>
          <a:p>
            <a:pPr lvl="1"/>
            <a:r>
              <a:rPr lang="en-US" dirty="0" smtClean="0"/>
              <a:t>2.1 – 2.3% max relative error</a:t>
            </a:r>
            <a:endParaRPr lang="en-US" dirty="0"/>
          </a:p>
        </p:txBody>
      </p:sp>
    </p:spTree>
    <p:extLst>
      <p:ext uri="{BB962C8B-B14F-4D97-AF65-F5344CB8AC3E}">
        <p14:creationId xmlns:p14="http://schemas.microsoft.com/office/powerpoint/2010/main" val="13121681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WordArt 2"/>
          <p:cNvSpPr>
            <a:spLocks noChangeArrowheads="1" noChangeShapeType="1" noTextEdit="1"/>
          </p:cNvSpPr>
          <p:nvPr/>
        </p:nvSpPr>
        <p:spPr bwMode="auto">
          <a:xfrm>
            <a:off x="914400" y="1676400"/>
            <a:ext cx="7010400" cy="3646488"/>
          </a:xfrm>
          <a:prstGeom prst="rect">
            <a:avLst/>
          </a:prstGeom>
        </p:spPr>
        <p:txBody>
          <a:bodyPr wrap="none" fromWordArt="1">
            <a:prstTxWarp prst="textCascadeUp">
              <a:avLst>
                <a:gd name="adj" fmla="val 44444"/>
              </a:avLst>
            </a:prstTxWarp>
            <a:scene3d>
              <a:camera prst="legacyPerspectiveFront">
                <a:rot lat="20519985" lon="1080000" rev="0"/>
              </a:camera>
              <a:lightRig rig="legacyHarsh2" dir="b"/>
            </a:scene3d>
            <a:sp3d extrusionH="430200" prstMaterial="legacyMatte">
              <a:extrusionClr>
                <a:srgbClr val="FF6600"/>
              </a:extrusionClr>
            </a:sp3d>
          </a:bodyPr>
          <a:lstStyle/>
          <a:p>
            <a:pPr algn="ctr"/>
            <a:r>
              <a:rPr lang="en-US" sz="3600" kern="10">
                <a:ln w="9525">
                  <a:round/>
                  <a:headEnd/>
                  <a:tailEnd/>
                </a:ln>
                <a:gradFill rotWithShape="1">
                  <a:gsLst>
                    <a:gs pos="0">
                      <a:srgbClr val="FFE701"/>
                    </a:gs>
                    <a:gs pos="100000">
                      <a:srgbClr val="FE3E02"/>
                    </a:gs>
                  </a:gsLst>
                  <a:lin ang="5400000" scaled="1"/>
                </a:gradFill>
                <a:latin typeface="Comic Sans MS"/>
                <a:ea typeface="Comic Sans MS"/>
                <a:cs typeface="Comic Sans MS"/>
              </a:rPr>
              <a:t>Questions???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19661</TotalTime>
  <Words>1120</Words>
  <Application>Microsoft Macintosh PowerPoint</Application>
  <PresentationFormat>On-screen Show (4:3)</PresentationFormat>
  <Paragraphs>299</Paragraphs>
  <Slides>27</Slides>
  <Notes>7</Notes>
  <HiddenSlides>6</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40" baseType="lpstr">
      <vt:lpstr>Arial Unicode MS</vt:lpstr>
      <vt:lpstr>Calibri</vt:lpstr>
      <vt:lpstr>Cambria Math</vt:lpstr>
      <vt:lpstr>Comic Sans MS</vt:lpstr>
      <vt:lpstr>FangSong</vt:lpstr>
      <vt:lpstr>ＭＳ Ｐゴシック</vt:lpstr>
      <vt:lpstr>PMingLiU</vt:lpstr>
      <vt:lpstr>Times New Roman</vt:lpstr>
      <vt:lpstr>Wingdings</vt:lpstr>
      <vt:lpstr>宋体</vt:lpstr>
      <vt:lpstr>Arial</vt:lpstr>
      <vt:lpstr>Network</vt:lpstr>
      <vt:lpstr>Equation</vt:lpstr>
      <vt:lpstr>Building Thermal Modeling for Energy-Efficient Smart Building Control</vt:lpstr>
      <vt:lpstr>Outline</vt:lpstr>
      <vt:lpstr>Motivation</vt:lpstr>
      <vt:lpstr>EnergyPlus</vt:lpstr>
      <vt:lpstr>Setting For Each Thermal Zone</vt:lpstr>
      <vt:lpstr>EnergyPlus Results</vt:lpstr>
      <vt:lpstr>EnergyPlus Results</vt:lpstr>
      <vt:lpstr>Proposed thermal modeling method</vt:lpstr>
      <vt:lpstr>Behavioral thermal modeling problem</vt:lpstr>
      <vt:lpstr>Subspace System Identification[1]</vt:lpstr>
      <vt:lpstr>SID algorithm flow see [1] for more details</vt:lpstr>
      <vt:lpstr>Two-Stage Modeling</vt:lpstr>
      <vt:lpstr>Two-Stage Modeling Results</vt:lpstr>
      <vt:lpstr>Initial Results (no extra factors)</vt:lpstr>
      <vt:lpstr>Initial Results (Training Phase)</vt:lpstr>
      <vt:lpstr>Initial Results (Validation Phase)</vt:lpstr>
      <vt:lpstr>Results with extra factors</vt:lpstr>
      <vt:lpstr>Results (Training Phase)</vt:lpstr>
      <vt:lpstr>Results (Validation Phase)</vt:lpstr>
      <vt:lpstr>Analysis</vt:lpstr>
      <vt:lpstr>Model order selection to avoid overfitting</vt:lpstr>
      <vt:lpstr>Final Results (Training Phase)</vt:lpstr>
      <vt:lpstr>Final Results (Validation Phase)</vt:lpstr>
      <vt:lpstr>Absolute and Relative Errors</vt:lpstr>
      <vt:lpstr>2-Zone Results</vt:lpstr>
      <vt:lpstr>Summary</vt:lpstr>
      <vt:lpstr>PowerPoint Presentation</vt:lpstr>
    </vt:vector>
  </TitlesOfParts>
  <Company>ucr</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thermal modeling for quad-core microprocessors</dc:title>
  <dc:creator>Sheldon Tan</dc:creator>
  <cp:lastModifiedBy>Microsoft Office User</cp:lastModifiedBy>
  <cp:revision>179</cp:revision>
  <cp:lastPrinted>2015-07-31T18:38:36Z</cp:lastPrinted>
  <dcterms:created xsi:type="dcterms:W3CDTF">2007-04-20T17:45:10Z</dcterms:created>
  <dcterms:modified xsi:type="dcterms:W3CDTF">2015-08-11T14:06:54Z</dcterms:modified>
</cp:coreProperties>
</file>