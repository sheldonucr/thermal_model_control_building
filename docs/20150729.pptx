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394" r:id="rId3"/>
    <p:sldId id="511" r:id="rId4"/>
    <p:sldId id="493" r:id="rId5"/>
    <p:sldId id="494" r:id="rId6"/>
    <p:sldId id="496" r:id="rId7"/>
    <p:sldId id="497" r:id="rId8"/>
    <p:sldId id="498" r:id="rId9"/>
    <p:sldId id="499" r:id="rId10"/>
    <p:sldId id="500" r:id="rId11"/>
    <p:sldId id="501" r:id="rId12"/>
    <p:sldId id="502" r:id="rId13"/>
    <p:sldId id="503" r:id="rId14"/>
    <p:sldId id="504" r:id="rId15"/>
    <p:sldId id="505" r:id="rId16"/>
    <p:sldId id="506" r:id="rId17"/>
    <p:sldId id="507" r:id="rId18"/>
    <p:sldId id="508" r:id="rId19"/>
    <p:sldId id="509" r:id="rId20"/>
    <p:sldId id="510" r:id="rId21"/>
    <p:sldId id="512" r:id="rId22"/>
    <p:sldId id="425" r:id="rId23"/>
  </p:sldIdLst>
  <p:sldSz cx="9144000" cy="6858000" type="screen4x3"/>
  <p:notesSz cx="7034213" cy="92837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hiddenSlides="1"/>
  <p:clrMru>
    <a:srgbClr val="FF0000"/>
    <a:srgbClr val="006699"/>
    <a:srgbClr val="333300"/>
    <a:srgbClr val="FF6600"/>
    <a:srgbClr val="FF9900"/>
    <a:srgbClr val="99CC00"/>
    <a:srgbClr val="3399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p:cViewPr>
        <p:scale>
          <a:sx n="108" d="100"/>
          <a:sy n="108" d="100"/>
        </p:scale>
        <p:origin x="2304" y="528"/>
      </p:cViewPr>
      <p:guideLst>
        <p:guide orient="horz" pos="2160"/>
        <p:guide pos="2880"/>
      </p:guideLst>
    </p:cSldViewPr>
  </p:slideViewPr>
  <p:outlineViewPr>
    <p:cViewPr>
      <p:scale>
        <a:sx n="33" d="100"/>
        <a:sy n="33" d="100"/>
      </p:scale>
      <p:origin x="0" y="1338"/>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48000" cy="463550"/>
          </a:xfrm>
          <a:prstGeom prst="rect">
            <a:avLst/>
          </a:prstGeom>
          <a:noFill/>
          <a:ln w="9525">
            <a:noFill/>
            <a:miter lim="800000"/>
            <a:headEnd/>
            <a:tailEnd/>
          </a:ln>
          <a:effectLst/>
        </p:spPr>
        <p:txBody>
          <a:bodyPr vert="horz" wrap="square" lIns="93241" tIns="46621" rIns="93241" bIns="46621" numCol="1" anchor="t" anchorCtr="0" compatLnSpc="1">
            <a:prstTxWarp prst="textNoShape">
              <a:avLst/>
            </a:prstTxWarp>
          </a:bodyPr>
          <a:lstStyle>
            <a:lvl1pPr defTabSz="931863">
              <a:defRPr sz="1200">
                <a:ea typeface="+mn-ea"/>
                <a:cs typeface="+mn-cs"/>
              </a:defRPr>
            </a:lvl1pPr>
          </a:lstStyle>
          <a:p>
            <a:pPr>
              <a:defRPr/>
            </a:pPr>
            <a:endParaRPr lang="en-US"/>
          </a:p>
        </p:txBody>
      </p:sp>
      <p:sp>
        <p:nvSpPr>
          <p:cNvPr id="31747" name="Rectangle 3"/>
          <p:cNvSpPr>
            <a:spLocks noGrp="1" noChangeArrowheads="1"/>
          </p:cNvSpPr>
          <p:nvPr>
            <p:ph type="dt" idx="1"/>
          </p:nvPr>
        </p:nvSpPr>
        <p:spPr bwMode="auto">
          <a:xfrm>
            <a:off x="3984625" y="0"/>
            <a:ext cx="3048000" cy="463550"/>
          </a:xfrm>
          <a:prstGeom prst="rect">
            <a:avLst/>
          </a:prstGeom>
          <a:noFill/>
          <a:ln w="9525">
            <a:noFill/>
            <a:miter lim="800000"/>
            <a:headEnd/>
            <a:tailEnd/>
          </a:ln>
          <a:effectLst/>
        </p:spPr>
        <p:txBody>
          <a:bodyPr vert="horz" wrap="square" lIns="93241" tIns="46621" rIns="93241" bIns="46621" numCol="1" anchor="t" anchorCtr="0" compatLnSpc="1">
            <a:prstTxWarp prst="textNoShape">
              <a:avLst/>
            </a:prstTxWarp>
          </a:bodyPr>
          <a:lstStyle>
            <a:lvl1pPr algn="r" defTabSz="931863">
              <a:defRPr sz="1200">
                <a:ea typeface="+mn-ea"/>
                <a:cs typeface="+mn-cs"/>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196975" y="696913"/>
            <a:ext cx="4641850" cy="3481387"/>
          </a:xfrm>
          <a:prstGeom prst="rect">
            <a:avLst/>
          </a:prstGeom>
          <a:noFill/>
          <a:ln w="9525">
            <a:solidFill>
              <a:srgbClr val="000000"/>
            </a:solidFill>
            <a:miter lim="800000"/>
            <a:headEnd/>
            <a:tailEnd/>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31749" name="Rectangle 5"/>
          <p:cNvSpPr>
            <a:spLocks noGrp="1" noChangeArrowheads="1"/>
          </p:cNvSpPr>
          <p:nvPr>
            <p:ph type="body" sz="quarter" idx="3"/>
          </p:nvPr>
        </p:nvSpPr>
        <p:spPr bwMode="auto">
          <a:xfrm>
            <a:off x="703263" y="4410075"/>
            <a:ext cx="5627687" cy="4176713"/>
          </a:xfrm>
          <a:prstGeom prst="rect">
            <a:avLst/>
          </a:prstGeom>
          <a:noFill/>
          <a:ln w="9525">
            <a:noFill/>
            <a:miter lim="800000"/>
            <a:headEnd/>
            <a:tailEnd/>
          </a:ln>
          <a:effectLst/>
        </p:spPr>
        <p:txBody>
          <a:bodyPr vert="horz" wrap="square" lIns="93241" tIns="46621" rIns="93241" bIns="4662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1750" name="Rectangle 6"/>
          <p:cNvSpPr>
            <a:spLocks noGrp="1" noChangeArrowheads="1"/>
          </p:cNvSpPr>
          <p:nvPr>
            <p:ph type="ftr" sz="quarter" idx="4"/>
          </p:nvPr>
        </p:nvSpPr>
        <p:spPr bwMode="auto">
          <a:xfrm>
            <a:off x="0" y="8818563"/>
            <a:ext cx="3048000" cy="463550"/>
          </a:xfrm>
          <a:prstGeom prst="rect">
            <a:avLst/>
          </a:prstGeom>
          <a:noFill/>
          <a:ln w="9525">
            <a:noFill/>
            <a:miter lim="800000"/>
            <a:headEnd/>
            <a:tailEnd/>
          </a:ln>
          <a:effectLst/>
        </p:spPr>
        <p:txBody>
          <a:bodyPr vert="horz" wrap="square" lIns="93241" tIns="46621" rIns="93241" bIns="46621" numCol="1" anchor="b" anchorCtr="0" compatLnSpc="1">
            <a:prstTxWarp prst="textNoShape">
              <a:avLst/>
            </a:prstTxWarp>
          </a:bodyPr>
          <a:lstStyle>
            <a:lvl1pPr defTabSz="931863">
              <a:defRPr sz="1200">
                <a:ea typeface="+mn-ea"/>
                <a:cs typeface="+mn-cs"/>
              </a:defRPr>
            </a:lvl1pPr>
          </a:lstStyle>
          <a:p>
            <a:pPr>
              <a:defRPr/>
            </a:pPr>
            <a:endParaRPr lang="en-US"/>
          </a:p>
        </p:txBody>
      </p:sp>
      <p:sp>
        <p:nvSpPr>
          <p:cNvPr id="31751" name="Rectangle 7"/>
          <p:cNvSpPr>
            <a:spLocks noGrp="1" noChangeArrowheads="1"/>
          </p:cNvSpPr>
          <p:nvPr>
            <p:ph type="sldNum" sz="quarter" idx="5"/>
          </p:nvPr>
        </p:nvSpPr>
        <p:spPr bwMode="auto">
          <a:xfrm>
            <a:off x="3984625" y="8818563"/>
            <a:ext cx="3048000" cy="463550"/>
          </a:xfrm>
          <a:prstGeom prst="rect">
            <a:avLst/>
          </a:prstGeom>
          <a:noFill/>
          <a:ln w="9525">
            <a:noFill/>
            <a:miter lim="800000"/>
            <a:headEnd/>
            <a:tailEnd/>
          </a:ln>
          <a:effectLst/>
        </p:spPr>
        <p:txBody>
          <a:bodyPr vert="horz" wrap="square" lIns="93241" tIns="46621" rIns="93241" bIns="46621" numCol="1" anchor="b" anchorCtr="0" compatLnSpc="1">
            <a:prstTxWarp prst="textNoShape">
              <a:avLst/>
            </a:prstTxWarp>
          </a:bodyPr>
          <a:lstStyle>
            <a:lvl1pPr algn="r" defTabSz="931863">
              <a:defRPr sz="1200">
                <a:cs typeface="+mn-cs"/>
              </a:defRPr>
            </a:lvl1pPr>
          </a:lstStyle>
          <a:p>
            <a:pPr>
              <a:defRPr/>
            </a:pPr>
            <a:fld id="{3DE8CADA-B7C0-5641-AB52-B1E11B8563F1}" type="slidenum">
              <a:rPr lang="en-US"/>
              <a:pPr>
                <a:defRPr/>
              </a:pPr>
              <a:t>‹#›</a:t>
            </a:fld>
            <a:endParaRPr lang="en-US"/>
          </a:p>
        </p:txBody>
      </p:sp>
    </p:spTree>
    <p:extLst>
      <p:ext uri="{BB962C8B-B14F-4D97-AF65-F5344CB8AC3E}">
        <p14:creationId xmlns:p14="http://schemas.microsoft.com/office/powerpoint/2010/main" val="12887491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eaLnBrk="0" hangingPunct="0">
              <a:defRPr sz="2400">
                <a:solidFill>
                  <a:schemeClr val="tx1"/>
                </a:solidFill>
                <a:latin typeface="Arial" charset="0"/>
                <a:ea typeface="ＭＳ Ｐゴシック" charset="0"/>
                <a:cs typeface="ＭＳ Ｐゴシック" charset="0"/>
              </a:defRPr>
            </a:lvl1pPr>
            <a:lvl2pPr marL="742950" indent="-285750" defTabSz="931863" eaLnBrk="0" hangingPunct="0">
              <a:defRPr sz="2400">
                <a:solidFill>
                  <a:schemeClr val="tx1"/>
                </a:solidFill>
                <a:latin typeface="Arial" charset="0"/>
                <a:ea typeface="ＭＳ Ｐゴシック" charset="0"/>
              </a:defRPr>
            </a:lvl2pPr>
            <a:lvl3pPr marL="1143000" indent="-228600" defTabSz="931863" eaLnBrk="0" hangingPunct="0">
              <a:defRPr sz="2400">
                <a:solidFill>
                  <a:schemeClr val="tx1"/>
                </a:solidFill>
                <a:latin typeface="Arial" charset="0"/>
                <a:ea typeface="ＭＳ Ｐゴシック" charset="0"/>
              </a:defRPr>
            </a:lvl3pPr>
            <a:lvl4pPr marL="1600200" indent="-228600" defTabSz="931863" eaLnBrk="0" hangingPunct="0">
              <a:defRPr sz="2400">
                <a:solidFill>
                  <a:schemeClr val="tx1"/>
                </a:solidFill>
                <a:latin typeface="Arial" charset="0"/>
                <a:ea typeface="ＭＳ Ｐゴシック" charset="0"/>
              </a:defRPr>
            </a:lvl4pPr>
            <a:lvl5pPr marL="2057400" indent="-228600" defTabSz="931863" eaLnBrk="0" hangingPunct="0">
              <a:defRPr sz="2400">
                <a:solidFill>
                  <a:schemeClr val="tx1"/>
                </a:solidFill>
                <a:latin typeface="Arial" charset="0"/>
                <a:ea typeface="ＭＳ Ｐゴシック" charset="0"/>
              </a:defRPr>
            </a:lvl5pPr>
            <a:lvl6pPr marL="2514600" indent="-228600" defTabSz="93186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93186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93186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9318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B1E92A7-6C67-5849-B134-14A4E4D39B18}" type="slidenum">
              <a:rPr lang="en-US" sz="1200"/>
              <a:pPr eaLnBrk="1" hangingPunct="1"/>
              <a:t>1</a:t>
            </a:fld>
            <a:endParaRPr lang="en-US" sz="1200"/>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90335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xfrm>
            <a:off x="1195388" y="695325"/>
            <a:ext cx="4641850" cy="3481388"/>
          </a:xfrm>
          <a:ln/>
        </p:spPr>
      </p:sp>
      <p:sp>
        <p:nvSpPr>
          <p:cNvPr id="20482" name="Rectangle 3"/>
          <p:cNvSpPr>
            <a:spLocks noGrp="1" noChangeArrowheads="1"/>
          </p:cNvSpPr>
          <p:nvPr>
            <p:ph type="body" idx="1"/>
          </p:nvPr>
        </p:nvSpPr>
        <p:spPr>
          <a:xfrm>
            <a:off x="703263" y="4410075"/>
            <a:ext cx="5627687" cy="4178300"/>
          </a:xfrm>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513937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Need to control the heating</a:t>
            </a:r>
            <a:r>
              <a:rPr lang="en-US" baseline="0" dirty="0" smtClean="0"/>
              <a:t>, ventilation and air conditioning in a more energy-efficient way.</a:t>
            </a:r>
            <a:endParaRPr lang="en-US" dirty="0"/>
          </a:p>
        </p:txBody>
      </p:sp>
      <p:sp>
        <p:nvSpPr>
          <p:cNvPr id="4" name="Slide Number Placeholder 3"/>
          <p:cNvSpPr>
            <a:spLocks noGrp="1"/>
          </p:cNvSpPr>
          <p:nvPr>
            <p:ph type="sldNum" sz="quarter" idx="10"/>
          </p:nvPr>
        </p:nvSpPr>
        <p:spPr/>
        <p:txBody>
          <a:bodyPr/>
          <a:lstStyle/>
          <a:p>
            <a:pPr>
              <a:defRPr/>
            </a:pPr>
            <a:fld id="{3DE8CADA-B7C0-5641-AB52-B1E11B8563F1}" type="slidenum">
              <a:rPr lang="en-US" smtClean="0"/>
              <a:pPr>
                <a:defRPr/>
              </a:pPr>
              <a:t>3</a:t>
            </a:fld>
            <a:endParaRPr lang="en-US"/>
          </a:p>
        </p:txBody>
      </p:sp>
    </p:spTree>
    <p:extLst>
      <p:ext uri="{BB962C8B-B14F-4D97-AF65-F5344CB8AC3E}">
        <p14:creationId xmlns:p14="http://schemas.microsoft.com/office/powerpoint/2010/main" val="45424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a:ln/>
        </p:spPr>
      </p:sp>
      <p:sp>
        <p:nvSpPr>
          <p:cNvPr id="22530" name="Notes Placeholder 2"/>
          <p:cNvSpPr>
            <a:spLocks noGrp="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53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eaLnBrk="0" hangingPunct="0">
              <a:defRPr sz="2400">
                <a:solidFill>
                  <a:schemeClr val="tx1"/>
                </a:solidFill>
                <a:latin typeface="Arial" charset="0"/>
                <a:ea typeface="ＭＳ Ｐゴシック" charset="0"/>
                <a:cs typeface="ＭＳ Ｐゴシック" charset="0"/>
              </a:defRPr>
            </a:lvl1pPr>
            <a:lvl2pPr marL="742950" indent="-285750" defTabSz="931863" eaLnBrk="0" hangingPunct="0">
              <a:defRPr sz="2400">
                <a:solidFill>
                  <a:schemeClr val="tx1"/>
                </a:solidFill>
                <a:latin typeface="Arial" charset="0"/>
                <a:ea typeface="ＭＳ Ｐゴシック" charset="0"/>
              </a:defRPr>
            </a:lvl2pPr>
            <a:lvl3pPr marL="1143000" indent="-228600" defTabSz="931863" eaLnBrk="0" hangingPunct="0">
              <a:defRPr sz="2400">
                <a:solidFill>
                  <a:schemeClr val="tx1"/>
                </a:solidFill>
                <a:latin typeface="Arial" charset="0"/>
                <a:ea typeface="ＭＳ Ｐゴシック" charset="0"/>
              </a:defRPr>
            </a:lvl3pPr>
            <a:lvl4pPr marL="1600200" indent="-228600" defTabSz="931863" eaLnBrk="0" hangingPunct="0">
              <a:defRPr sz="2400">
                <a:solidFill>
                  <a:schemeClr val="tx1"/>
                </a:solidFill>
                <a:latin typeface="Arial" charset="0"/>
                <a:ea typeface="ＭＳ Ｐゴシック" charset="0"/>
              </a:defRPr>
            </a:lvl4pPr>
            <a:lvl5pPr marL="2057400" indent="-228600" defTabSz="931863" eaLnBrk="0" hangingPunct="0">
              <a:defRPr sz="2400">
                <a:solidFill>
                  <a:schemeClr val="tx1"/>
                </a:solidFill>
                <a:latin typeface="Arial" charset="0"/>
                <a:ea typeface="ＭＳ Ｐゴシック" charset="0"/>
              </a:defRPr>
            </a:lvl5pPr>
            <a:lvl6pPr marL="2514600" indent="-228600" defTabSz="93186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93186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93186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9318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E15CF5F-B729-3345-B54D-073602371DDE}" type="slidenum">
              <a:rPr lang="en-US" sz="1200"/>
              <a:pPr eaLnBrk="1" hangingPunct="1"/>
              <a:t>4</a:t>
            </a:fld>
            <a:endParaRPr lang="en-US" sz="1200"/>
          </a:p>
        </p:txBody>
      </p:sp>
    </p:spTree>
    <p:extLst>
      <p:ext uri="{BB962C8B-B14F-4D97-AF65-F5344CB8AC3E}">
        <p14:creationId xmlns:p14="http://schemas.microsoft.com/office/powerpoint/2010/main" val="204102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ChangeArrowheads="1" noTextEdit="1"/>
          </p:cNvSpPr>
          <p:nvPr>
            <p:ph type="sldImg"/>
          </p:nvPr>
        </p:nvSpPr>
        <p:spPr>
          <a:xfrm>
            <a:off x="1195388" y="695325"/>
            <a:ext cx="4641850" cy="3481388"/>
          </a:xfrm>
          <a:ln/>
        </p:spPr>
      </p:sp>
      <p:sp>
        <p:nvSpPr>
          <p:cNvPr id="24578" name="Rectangle 3"/>
          <p:cNvSpPr>
            <a:spLocks noGrp="1" noChangeArrowheads="1"/>
          </p:cNvSpPr>
          <p:nvPr>
            <p:ph type="body" idx="1"/>
          </p:nvPr>
        </p:nvSpPr>
        <p:spPr>
          <a:xfrm>
            <a:off x="703263" y="4410075"/>
            <a:ext cx="5627687" cy="4178300"/>
          </a:xfrm>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595311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1"/>
          <p:cNvSpPr>
            <a:spLocks noChangeShapeType="1"/>
          </p:cNvSpPr>
          <p:nvPr userDrawn="1"/>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 name="Line 47"/>
          <p:cNvSpPr>
            <a:spLocks noChangeShapeType="1"/>
          </p:cNvSpPr>
          <p:nvPr userDrawn="1"/>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pic>
        <p:nvPicPr>
          <p:cNvPr id="6" name="Picture 48" descr="ucr_seal"/>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43800" y="914400"/>
            <a:ext cx="1219200" cy="121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49" descr="ucr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4763"/>
            <a:ext cx="1676400" cy="503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594" name="Rectangle 42"/>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3595" name="Rectangle 43"/>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8" name="Rectangle 44"/>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en-US"/>
          </a:p>
        </p:txBody>
      </p:sp>
      <p:sp>
        <p:nvSpPr>
          <p:cNvPr id="9" name="Rectangle 46"/>
          <p:cNvSpPr>
            <a:spLocks noGrp="1" noChangeArrowheads="1"/>
          </p:cNvSpPr>
          <p:nvPr>
            <p:ph type="sldNum" sz="quarter" idx="11"/>
          </p:nvPr>
        </p:nvSpPr>
        <p:spPr>
          <a:xfrm>
            <a:off x="6553200" y="6248400"/>
            <a:ext cx="2133600" cy="457200"/>
          </a:xfrm>
        </p:spPr>
        <p:txBody>
          <a:bodyPr/>
          <a:lstStyle>
            <a:lvl1pPr>
              <a:defRPr/>
            </a:lvl1pPr>
          </a:lstStyle>
          <a:p>
            <a:pPr>
              <a:defRPr/>
            </a:pPr>
            <a:fld id="{6170F3D8-6F41-6240-A086-0A35E254049F}" type="slidenum">
              <a:rPr lang="en-US"/>
              <a:pPr>
                <a:defRPr/>
              </a:pPr>
              <a:t>‹#›</a:t>
            </a:fld>
            <a:endParaRPr lang="en-US"/>
          </a:p>
        </p:txBody>
      </p:sp>
    </p:spTree>
    <p:extLst>
      <p:ext uri="{BB962C8B-B14F-4D97-AF65-F5344CB8AC3E}">
        <p14:creationId xmlns:p14="http://schemas.microsoft.com/office/powerpoint/2010/main" val="1468457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AA90726C-FA00-A04A-B941-1A020A7C9675}" type="slidenum">
              <a:rPr lang="en-US"/>
              <a:pPr>
                <a:defRPr/>
              </a:pPr>
              <a:t>‹#›</a:t>
            </a:fld>
            <a:endParaRPr lang="en-US"/>
          </a:p>
        </p:txBody>
      </p:sp>
    </p:spTree>
    <p:extLst>
      <p:ext uri="{BB962C8B-B14F-4D97-AF65-F5344CB8AC3E}">
        <p14:creationId xmlns:p14="http://schemas.microsoft.com/office/powerpoint/2010/main" val="3513877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340F53B5-8FB6-DE47-A7DA-E03D06273221}" type="slidenum">
              <a:rPr lang="en-US"/>
              <a:pPr>
                <a:defRPr/>
              </a:pPr>
              <a:t>‹#›</a:t>
            </a:fld>
            <a:endParaRPr lang="en-US"/>
          </a:p>
        </p:txBody>
      </p:sp>
    </p:spTree>
    <p:extLst>
      <p:ext uri="{BB962C8B-B14F-4D97-AF65-F5344CB8AC3E}">
        <p14:creationId xmlns:p14="http://schemas.microsoft.com/office/powerpoint/2010/main" val="48091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07F86CE9-8139-0A4C-AC44-8689978B552F}" type="slidenum">
              <a:rPr lang="en-US"/>
              <a:pPr>
                <a:defRPr/>
              </a:pPr>
              <a:t>‹#›</a:t>
            </a:fld>
            <a:endParaRPr lang="en-US"/>
          </a:p>
        </p:txBody>
      </p:sp>
    </p:spTree>
    <p:extLst>
      <p:ext uri="{BB962C8B-B14F-4D97-AF65-F5344CB8AC3E}">
        <p14:creationId xmlns:p14="http://schemas.microsoft.com/office/powerpoint/2010/main" val="232834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44"/>
          <p:cNvSpPr>
            <a:spLocks noGrp="1" noChangeArrowheads="1"/>
          </p:cNvSpPr>
          <p:nvPr>
            <p:ph type="sldNum" sz="quarter" idx="11"/>
          </p:nvPr>
        </p:nvSpPr>
        <p:spPr>
          <a:ln/>
        </p:spPr>
        <p:txBody>
          <a:bodyPr/>
          <a:lstStyle>
            <a:lvl1pPr>
              <a:defRPr/>
            </a:lvl1pPr>
          </a:lstStyle>
          <a:p>
            <a:pPr>
              <a:defRPr/>
            </a:pPr>
            <a:fld id="{37100582-73FE-E347-963D-C81AB7279706}" type="slidenum">
              <a:rPr lang="en-US"/>
              <a:pPr>
                <a:defRPr/>
              </a:pPr>
              <a:t>‹#›</a:t>
            </a:fld>
            <a:endParaRPr lang="en-US"/>
          </a:p>
        </p:txBody>
      </p:sp>
    </p:spTree>
    <p:extLst>
      <p:ext uri="{BB962C8B-B14F-4D97-AF65-F5344CB8AC3E}">
        <p14:creationId xmlns:p14="http://schemas.microsoft.com/office/powerpoint/2010/main" val="193268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44"/>
          <p:cNvSpPr>
            <a:spLocks noGrp="1" noChangeArrowheads="1"/>
          </p:cNvSpPr>
          <p:nvPr>
            <p:ph type="sldNum" sz="quarter" idx="11"/>
          </p:nvPr>
        </p:nvSpPr>
        <p:spPr>
          <a:ln/>
        </p:spPr>
        <p:txBody>
          <a:bodyPr/>
          <a:lstStyle>
            <a:lvl1pPr>
              <a:defRPr/>
            </a:lvl1pPr>
          </a:lstStyle>
          <a:p>
            <a:pPr>
              <a:defRPr/>
            </a:pPr>
            <a:fld id="{DF14457F-4FE2-144E-B086-C306CC90BC4E}" type="slidenum">
              <a:rPr lang="en-US"/>
              <a:pPr>
                <a:defRPr/>
              </a:pPr>
              <a:t>‹#›</a:t>
            </a:fld>
            <a:endParaRPr lang="en-US"/>
          </a:p>
        </p:txBody>
      </p:sp>
    </p:spTree>
    <p:extLst>
      <p:ext uri="{BB962C8B-B14F-4D97-AF65-F5344CB8AC3E}">
        <p14:creationId xmlns:p14="http://schemas.microsoft.com/office/powerpoint/2010/main" val="2613301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44"/>
          <p:cNvSpPr>
            <a:spLocks noGrp="1" noChangeArrowheads="1"/>
          </p:cNvSpPr>
          <p:nvPr>
            <p:ph type="sldNum" sz="quarter" idx="11"/>
          </p:nvPr>
        </p:nvSpPr>
        <p:spPr>
          <a:ln/>
        </p:spPr>
        <p:txBody>
          <a:bodyPr/>
          <a:lstStyle>
            <a:lvl1pPr>
              <a:defRPr/>
            </a:lvl1pPr>
          </a:lstStyle>
          <a:p>
            <a:pPr>
              <a:defRPr/>
            </a:pPr>
            <a:fld id="{E1275C12-2B8C-354B-8AF7-6986DF3A6756}" type="slidenum">
              <a:rPr lang="en-US"/>
              <a:pPr>
                <a:defRPr/>
              </a:pPr>
              <a:t>‹#›</a:t>
            </a:fld>
            <a:endParaRPr lang="en-US"/>
          </a:p>
        </p:txBody>
      </p:sp>
    </p:spTree>
    <p:extLst>
      <p:ext uri="{BB962C8B-B14F-4D97-AF65-F5344CB8AC3E}">
        <p14:creationId xmlns:p14="http://schemas.microsoft.com/office/powerpoint/2010/main" val="350666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42249077-7A23-2147-AA6D-5754CC76EEDF}" type="slidenum">
              <a:rPr lang="en-US"/>
              <a:pPr>
                <a:defRPr/>
              </a:pPr>
              <a:t>‹#›</a:t>
            </a:fld>
            <a:endParaRPr lang="en-US"/>
          </a:p>
        </p:txBody>
      </p:sp>
    </p:spTree>
    <p:extLst>
      <p:ext uri="{BB962C8B-B14F-4D97-AF65-F5344CB8AC3E}">
        <p14:creationId xmlns:p14="http://schemas.microsoft.com/office/powerpoint/2010/main" val="2023405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9197E3E7-515D-634F-B834-EE542A7BAB94}" type="slidenum">
              <a:rPr lang="en-US"/>
              <a:pPr>
                <a:defRPr/>
              </a:pPr>
              <a:t>‹#›</a:t>
            </a:fld>
            <a:endParaRPr lang="en-US"/>
          </a:p>
        </p:txBody>
      </p:sp>
    </p:spTree>
    <p:extLst>
      <p:ext uri="{BB962C8B-B14F-4D97-AF65-F5344CB8AC3E}">
        <p14:creationId xmlns:p14="http://schemas.microsoft.com/office/powerpoint/2010/main" val="1741117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70096297-B9FF-404E-A688-8949BB106EAD}" type="slidenum">
              <a:rPr lang="en-US"/>
              <a:pPr>
                <a:defRPr/>
              </a:pPr>
              <a:t>‹#›</a:t>
            </a:fld>
            <a:endParaRPr lang="en-US"/>
          </a:p>
        </p:txBody>
      </p:sp>
    </p:spTree>
    <p:extLst>
      <p:ext uri="{BB962C8B-B14F-4D97-AF65-F5344CB8AC3E}">
        <p14:creationId xmlns:p14="http://schemas.microsoft.com/office/powerpoint/2010/main" val="3820814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D650EBDF-C52C-1B49-A986-F844FAD9841A}" type="slidenum">
              <a:rPr lang="en-US"/>
              <a:pPr>
                <a:defRPr/>
              </a:pPr>
              <a:t>‹#›</a:t>
            </a:fld>
            <a:endParaRPr lang="en-US"/>
          </a:p>
        </p:txBody>
      </p:sp>
    </p:spTree>
    <p:extLst>
      <p:ext uri="{BB962C8B-B14F-4D97-AF65-F5344CB8AC3E}">
        <p14:creationId xmlns:p14="http://schemas.microsoft.com/office/powerpoint/2010/main" val="1867427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ED55C78F-CB68-D943-A4C4-6699ED67FAF5}" type="slidenum">
              <a:rPr lang="en-US"/>
              <a:pPr>
                <a:defRPr/>
              </a:pPr>
              <a:t>‹#›</a:t>
            </a:fld>
            <a:endParaRPr lang="en-US"/>
          </a:p>
        </p:txBody>
      </p:sp>
    </p:spTree>
    <p:extLst>
      <p:ext uri="{BB962C8B-B14F-4D97-AF65-F5344CB8AC3E}">
        <p14:creationId xmlns:p14="http://schemas.microsoft.com/office/powerpoint/2010/main" val="745928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8683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228600" y="1295400"/>
            <a:ext cx="8686800" cy="4953000"/>
          </a:xfrm>
        </p:spPr>
        <p:txBody>
          <a:bodyPr/>
          <a:lstStyle/>
          <a:p>
            <a:pPr lvl="0"/>
            <a:endParaRPr lang="en-US" noProof="0"/>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8D7BEF88-24B4-6243-B862-D85389D3F133}" type="slidenum">
              <a:rPr lang="en-US"/>
              <a:pPr>
                <a:defRPr/>
              </a:pPr>
              <a:t>‹#›</a:t>
            </a:fld>
            <a:endParaRPr lang="en-US"/>
          </a:p>
        </p:txBody>
      </p:sp>
    </p:spTree>
    <p:extLst>
      <p:ext uri="{BB962C8B-B14F-4D97-AF65-F5344CB8AC3E}">
        <p14:creationId xmlns:p14="http://schemas.microsoft.com/office/powerpoint/2010/main" val="4213400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8683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2672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295400"/>
            <a:ext cx="4267200" cy="2400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848100"/>
            <a:ext cx="4267200" cy="2400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44"/>
          <p:cNvSpPr>
            <a:spLocks noGrp="1" noChangeArrowheads="1"/>
          </p:cNvSpPr>
          <p:nvPr>
            <p:ph type="sldNum" sz="quarter" idx="11"/>
          </p:nvPr>
        </p:nvSpPr>
        <p:spPr>
          <a:ln/>
        </p:spPr>
        <p:txBody>
          <a:bodyPr/>
          <a:lstStyle>
            <a:lvl1pPr>
              <a:defRPr/>
            </a:lvl1pPr>
          </a:lstStyle>
          <a:p>
            <a:pPr>
              <a:defRPr/>
            </a:pPr>
            <a:fld id="{AB9F14F3-1642-0C45-9B8F-616EF0A07D97}" type="slidenum">
              <a:rPr lang="en-US"/>
              <a:pPr>
                <a:defRPr/>
              </a:pPr>
              <a:t>‹#›</a:t>
            </a:fld>
            <a:endParaRPr lang="en-US"/>
          </a:p>
        </p:txBody>
      </p:sp>
    </p:spTree>
    <p:extLst>
      <p:ext uri="{BB962C8B-B14F-4D97-AF65-F5344CB8AC3E}">
        <p14:creationId xmlns:p14="http://schemas.microsoft.com/office/powerpoint/2010/main" val="233851536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40"/>
          <p:cNvSpPr>
            <a:spLocks noGrp="1" noChangeArrowheads="1"/>
          </p:cNvSpPr>
          <p:nvPr>
            <p:ph type="title"/>
          </p:nvPr>
        </p:nvSpPr>
        <p:spPr bwMode="auto">
          <a:xfrm>
            <a:off x="228600" y="0"/>
            <a:ext cx="7772400" cy="868363"/>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41"/>
          <p:cNvSpPr>
            <a:spLocks noGrp="1" noChangeArrowheads="1"/>
          </p:cNvSpPr>
          <p:nvPr>
            <p:ph type="body" idx="1"/>
          </p:nvPr>
        </p:nvSpPr>
        <p:spPr bwMode="auto">
          <a:xfrm>
            <a:off x="228600" y="1295400"/>
            <a:ext cx="8686800" cy="4953000"/>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570" name="Rectangle 42"/>
          <p:cNvSpPr>
            <a:spLocks noGrp="1" noChangeArrowheads="1"/>
          </p:cNvSpPr>
          <p:nvPr>
            <p:ph type="dt" sz="half" idx="2"/>
          </p:nvPr>
        </p:nvSpPr>
        <p:spPr bwMode="auto">
          <a:xfrm>
            <a:off x="457200" y="64008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a typeface="+mn-ea"/>
                <a:cs typeface="+mn-cs"/>
              </a:defRPr>
            </a:lvl1pPr>
          </a:lstStyle>
          <a:p>
            <a:pPr>
              <a:defRPr/>
            </a:pPr>
            <a:endParaRPr lang="en-US" altLang="en-US"/>
          </a:p>
        </p:txBody>
      </p:sp>
      <p:sp>
        <p:nvSpPr>
          <p:cNvPr id="22572" name="Rectangle 44"/>
          <p:cNvSpPr>
            <a:spLocks noGrp="1" noChangeArrowheads="1"/>
          </p:cNvSpPr>
          <p:nvPr>
            <p:ph type="sldNum" sz="quarter" idx="4"/>
          </p:nvPr>
        </p:nvSpPr>
        <p:spPr bwMode="auto">
          <a:xfrm>
            <a:off x="6553200" y="6324600"/>
            <a:ext cx="2133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cs typeface="+mn-cs"/>
              </a:defRPr>
            </a:lvl1pPr>
          </a:lstStyle>
          <a:p>
            <a:pPr>
              <a:defRPr/>
            </a:pPr>
            <a:fld id="{1B0C86D5-2624-6D4E-8A5E-66DEED2A2B78}" type="slidenum">
              <a:rPr lang="en-US"/>
              <a:pPr>
                <a:defRPr/>
              </a:pPr>
              <a:t>‹#›</a:t>
            </a:fld>
            <a:endParaRPr lang="en-US"/>
          </a:p>
        </p:txBody>
      </p:sp>
      <p:pic>
        <p:nvPicPr>
          <p:cNvPr id="1030" name="Picture 45" descr="ucr_seal"/>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001000" y="304800"/>
            <a:ext cx="952500" cy="952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7"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Lst>
  <p:timing>
    <p:tnLst>
      <p:par>
        <p:cTn id="1" dur="indefinite" restart="never" nodeType="tmRoot"/>
      </p:par>
    </p:tnLst>
  </p:timing>
  <p:txStyles>
    <p:titleStyle>
      <a:lvl1pPr algn="l" rtl="0" eaLnBrk="0" fontAlgn="base" hangingPunct="0">
        <a:spcBef>
          <a:spcPct val="0"/>
        </a:spcBef>
        <a:spcAft>
          <a:spcPct val="0"/>
        </a:spcAft>
        <a:defRPr sz="3900" b="1">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charset="0"/>
        <a:buChar char="l"/>
        <a:defRPr sz="3000">
          <a:solidFill>
            <a:srgbClr val="333300"/>
          </a:solidFill>
          <a:latin typeface="+mn-lt"/>
          <a:ea typeface="ＭＳ Ｐゴシック" charset="0"/>
          <a:cs typeface="ＭＳ Ｐゴシック" charset="0"/>
        </a:defRPr>
      </a:lvl1pPr>
      <a:lvl2pPr marL="692150" indent="-347663" algn="l" rtl="0" eaLnBrk="0" fontAlgn="base" hangingPunct="0">
        <a:spcBef>
          <a:spcPct val="20000"/>
        </a:spcBef>
        <a:spcAft>
          <a:spcPct val="0"/>
        </a:spcAft>
        <a:buClr>
          <a:schemeClr val="accent2"/>
        </a:buClr>
        <a:buSzPct val="70000"/>
        <a:buFont typeface="Wingdings" charset="0"/>
        <a:buChar char="l"/>
        <a:defRPr sz="2600">
          <a:solidFill>
            <a:srgbClr val="006699"/>
          </a:solidFill>
          <a:latin typeface="+mn-lt"/>
          <a:ea typeface="ＭＳ Ｐゴシック" charset="0"/>
        </a:defRPr>
      </a:lvl2pPr>
      <a:lvl3pPr marL="987425" indent="-293688" algn="l" rtl="0" eaLnBrk="0" fontAlgn="base" hangingPunct="0">
        <a:spcBef>
          <a:spcPct val="20000"/>
        </a:spcBef>
        <a:spcAft>
          <a:spcPct val="0"/>
        </a:spcAft>
        <a:buClr>
          <a:schemeClr val="accent1"/>
        </a:buClr>
        <a:buSzPct val="70000"/>
        <a:buFont typeface="Wingdings" charset="0"/>
        <a:buChar char="l"/>
        <a:defRPr sz="2300">
          <a:solidFill>
            <a:schemeClr val="hlink"/>
          </a:solidFill>
          <a:latin typeface="+mn-lt"/>
          <a:ea typeface="ＭＳ Ｐゴシック" charset="0"/>
        </a:defRPr>
      </a:lvl3pPr>
      <a:lvl4pPr marL="1281113" indent="-292100" algn="l" rtl="0" eaLnBrk="0" fontAlgn="base" hangingPunct="0">
        <a:spcBef>
          <a:spcPct val="20000"/>
        </a:spcBef>
        <a:spcAft>
          <a:spcPct val="0"/>
        </a:spcAft>
        <a:buClr>
          <a:schemeClr val="tx2"/>
        </a:buClr>
        <a:buSzPct val="75000"/>
        <a:buFont typeface="Wingdings" charset="0"/>
        <a:buChar char="§"/>
        <a:defRPr sz="2000">
          <a:solidFill>
            <a:srgbClr val="333300"/>
          </a:solidFill>
          <a:latin typeface="+mn-lt"/>
          <a:ea typeface="ＭＳ Ｐゴシック" charset="0"/>
        </a:defRPr>
      </a:lvl4pPr>
      <a:lvl5pPr marL="1598613" indent="-315913" algn="l" rtl="0" eaLnBrk="0" fontAlgn="base" hangingPunct="0">
        <a:spcBef>
          <a:spcPct val="20000"/>
        </a:spcBef>
        <a:spcAft>
          <a:spcPct val="0"/>
        </a:spcAft>
        <a:buClr>
          <a:schemeClr val="folHlink"/>
        </a:buClr>
        <a:buSzPct val="80000"/>
        <a:buFont typeface="Wingdings" charset="0"/>
        <a:buChar char="§"/>
        <a:defRPr sz="2000">
          <a:solidFill>
            <a:schemeClr val="tx1"/>
          </a:solidFill>
          <a:latin typeface="+mn-lt"/>
          <a:ea typeface="ＭＳ Ｐゴシック" charset="0"/>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 Id="rId3" Type="http://schemas.openxmlformats.org/officeDocument/2006/relationships/image" Target="../media/image20.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subTitle" idx="1"/>
          </p:nvPr>
        </p:nvSpPr>
        <p:spPr>
          <a:xfrm>
            <a:off x="3124200" y="3200400"/>
            <a:ext cx="3973513" cy="2894013"/>
          </a:xfrm>
        </p:spPr>
        <p:txBody>
          <a:bodyPr/>
          <a:lstStyle/>
          <a:p>
            <a:pPr algn="ctr">
              <a:defRPr/>
            </a:pPr>
            <a:r>
              <a:rPr lang="en-US" sz="2400" dirty="0" smtClean="0">
                <a:cs typeface="+mn-cs"/>
              </a:rPr>
              <a:t>Daniel Quach, </a:t>
            </a:r>
            <a:r>
              <a:rPr lang="en-US" sz="2400" dirty="0" err="1" smtClean="0">
                <a:cs typeface="+mn-cs"/>
              </a:rPr>
              <a:t>Shujuan</a:t>
            </a:r>
            <a:r>
              <a:rPr lang="en-US" sz="2400" dirty="0" smtClean="0">
                <a:cs typeface="+mn-cs"/>
              </a:rPr>
              <a:t> Wang, Jian Ma, Hengyang Zhao, Hai Wang, Sheldon </a:t>
            </a:r>
            <a:r>
              <a:rPr lang="en-US" sz="2400" dirty="0" smtClean="0">
                <a:cs typeface="+mn-cs"/>
              </a:rPr>
              <a:t>X.-D. Tan</a:t>
            </a:r>
            <a:endParaRPr lang="en-US" sz="2400" dirty="0" smtClean="0">
              <a:cs typeface="+mn-cs"/>
            </a:endParaRPr>
          </a:p>
          <a:p>
            <a:pPr algn="ctr">
              <a:defRPr/>
            </a:pPr>
            <a:endParaRPr lang="en-US" sz="2400" b="1" dirty="0" smtClean="0">
              <a:solidFill>
                <a:srgbClr val="FF6600"/>
              </a:solidFill>
              <a:effectLst>
                <a:outerShdw blurRad="38100" dist="38100" dir="2700000" algn="tl">
                  <a:srgbClr val="C0C0C0"/>
                </a:outerShdw>
              </a:effectLst>
              <a:ea typeface="FangSong" pitchFamily="49" charset="-122"/>
              <a:cs typeface="Arial Unicode MS" pitchFamily="34" charset="-128"/>
            </a:endParaRPr>
          </a:p>
          <a:p>
            <a:pPr algn="ctr" eaLnBrk="1" hangingPunct="1">
              <a:lnSpc>
                <a:spcPct val="90000"/>
              </a:lnSpc>
              <a:defRPr/>
            </a:pPr>
            <a:r>
              <a:rPr lang="en-US" sz="2400" dirty="0" smtClean="0">
                <a:effectLst>
                  <a:outerShdw blurRad="38100" dist="38100" dir="2700000" algn="tl">
                    <a:srgbClr val="C0C0C0"/>
                  </a:outerShdw>
                </a:effectLst>
                <a:ea typeface="FangSong" pitchFamily="49" charset="-122"/>
                <a:cs typeface="Arial Unicode MS" pitchFamily="34" charset="-128"/>
              </a:rPr>
              <a:t>Department of Electrical </a:t>
            </a:r>
            <a:r>
              <a:rPr lang="en-US" sz="2400" dirty="0" smtClean="0">
                <a:effectLst>
                  <a:outerShdw blurRad="38100" dist="38100" dir="2700000" algn="tl">
                    <a:srgbClr val="C0C0C0"/>
                  </a:outerShdw>
                </a:effectLst>
                <a:ea typeface="FangSong" pitchFamily="49" charset="-122"/>
                <a:cs typeface="Arial Unicode MS" pitchFamily="34" charset="-128"/>
              </a:rPr>
              <a:t>and Computer Engineering </a:t>
            </a:r>
            <a:endParaRPr lang="en-US" sz="2400" dirty="0" smtClean="0">
              <a:effectLst>
                <a:outerShdw blurRad="38100" dist="38100" dir="2700000" algn="tl">
                  <a:srgbClr val="C0C0C0"/>
                </a:outerShdw>
              </a:effectLst>
              <a:ea typeface="FangSong" pitchFamily="49" charset="-122"/>
              <a:cs typeface="Arial Unicode MS" pitchFamily="34" charset="-128"/>
            </a:endParaRPr>
          </a:p>
          <a:p>
            <a:pPr algn="ctr" eaLnBrk="1" hangingPunct="1">
              <a:lnSpc>
                <a:spcPct val="90000"/>
              </a:lnSpc>
              <a:defRPr/>
            </a:pPr>
            <a:r>
              <a:rPr lang="en-US" sz="2400" dirty="0" smtClean="0">
                <a:effectLst>
                  <a:outerShdw blurRad="38100" dist="38100" dir="2700000" algn="tl">
                    <a:srgbClr val="C0C0C0"/>
                  </a:outerShdw>
                </a:effectLst>
                <a:ea typeface="FangSong" pitchFamily="49" charset="-122"/>
                <a:cs typeface="Arial Unicode MS" pitchFamily="34" charset="-128"/>
              </a:rPr>
              <a:t>University of California, Riverside, CA</a:t>
            </a:r>
          </a:p>
          <a:p>
            <a:pPr algn="ctr" eaLnBrk="1" hangingPunct="1">
              <a:lnSpc>
                <a:spcPct val="90000"/>
              </a:lnSpc>
              <a:defRPr/>
            </a:pPr>
            <a:endParaRPr lang="en-US" sz="2400" dirty="0" smtClean="0">
              <a:ea typeface="FangSong" pitchFamily="49" charset="-122"/>
              <a:cs typeface="Arial Unicode MS" pitchFamily="34" charset="-128"/>
            </a:endParaRPr>
          </a:p>
          <a:p>
            <a:pPr algn="ctr" eaLnBrk="1" hangingPunct="1">
              <a:lnSpc>
                <a:spcPct val="90000"/>
              </a:lnSpc>
              <a:defRPr/>
            </a:pPr>
            <a:endParaRPr lang="en-US" sz="2400" dirty="0" smtClean="0">
              <a:ea typeface="FangSong" pitchFamily="49" charset="-122"/>
              <a:cs typeface="Arial Unicode MS" pitchFamily="34" charset="-128"/>
            </a:endParaRPr>
          </a:p>
          <a:p>
            <a:pPr eaLnBrk="1" hangingPunct="1">
              <a:lnSpc>
                <a:spcPct val="90000"/>
              </a:lnSpc>
              <a:defRPr/>
            </a:pPr>
            <a:endParaRPr lang="en-US" sz="2400" dirty="0" smtClean="0">
              <a:ea typeface="FangSong" pitchFamily="49" charset="-122"/>
              <a:cs typeface="Arial Unicode MS" pitchFamily="34" charset="-128"/>
            </a:endParaRPr>
          </a:p>
          <a:p>
            <a:pPr algn="ctr" eaLnBrk="1" hangingPunct="1">
              <a:lnSpc>
                <a:spcPct val="90000"/>
              </a:lnSpc>
              <a:defRPr/>
            </a:pPr>
            <a:endParaRPr lang="en-US" sz="1800" dirty="0" smtClean="0">
              <a:ea typeface="FangSong" pitchFamily="49" charset="-122"/>
              <a:cs typeface="Arial Unicode MS" pitchFamily="34" charset="-128"/>
            </a:endParaRPr>
          </a:p>
        </p:txBody>
      </p:sp>
      <p:sp>
        <p:nvSpPr>
          <p:cNvPr id="2057" name="Rectangle 9"/>
          <p:cNvSpPr>
            <a:spLocks noGrp="1" noChangeArrowheads="1"/>
          </p:cNvSpPr>
          <p:nvPr>
            <p:ph type="ctrTitle"/>
          </p:nvPr>
        </p:nvSpPr>
        <p:spPr/>
        <p:txBody>
          <a:bodyPr/>
          <a:lstStyle/>
          <a:p>
            <a:pPr algn="ctr" eaLnBrk="1" hangingPunct="1">
              <a:defRPr/>
            </a:pPr>
            <a:r>
              <a:rPr lang="en-US" sz="3600" dirty="0"/>
              <a:t>Building Thermal Modeling for Energy-Efficient Smart Building Control</a:t>
            </a:r>
            <a:endParaRPr lang="en-US" sz="3600" dirty="0">
              <a:effectLst>
                <a:outerShdw blurRad="38100" dist="38100" dir="2700000" algn="tl">
                  <a:srgbClr val="DDDDDD"/>
                </a:outerShdw>
              </a:effectLst>
              <a:latin typeface="Arial" charset="0"/>
              <a:cs typeface="+mj-cs"/>
            </a:endParaRPr>
          </a:p>
        </p:txBody>
      </p:sp>
      <p:pic>
        <p:nvPicPr>
          <p:cNvPr id="17411" name="Picture 19" descr="pict_towe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05200"/>
            <a:ext cx="2143125" cy="1714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r>
              <a:rPr lang="en-US">
                <a:latin typeface="Arial" charset="0"/>
              </a:rPr>
              <a:t>Outline</a:t>
            </a:r>
          </a:p>
        </p:txBody>
      </p:sp>
      <p:sp>
        <p:nvSpPr>
          <p:cNvPr id="19458" name="Rectangle 3"/>
          <p:cNvSpPr>
            <a:spLocks noGrp="1" noChangeArrowheads="1"/>
          </p:cNvSpPr>
          <p:nvPr>
            <p:ph idx="1"/>
          </p:nvPr>
        </p:nvSpPr>
        <p:spPr/>
        <p:txBody>
          <a:bodyPr/>
          <a:lstStyle/>
          <a:p>
            <a:r>
              <a:rPr lang="en-US" sz="2600" dirty="0" smtClean="0">
                <a:latin typeface="Arial" charset="0"/>
              </a:rPr>
              <a:t>Motivation</a:t>
            </a:r>
          </a:p>
          <a:p>
            <a:r>
              <a:rPr lang="en-US" sz="2600" dirty="0" smtClean="0">
                <a:latin typeface="Arial" charset="0"/>
              </a:rPr>
              <a:t>EnergyPlus Review</a:t>
            </a:r>
          </a:p>
          <a:p>
            <a:r>
              <a:rPr lang="en-US" sz="2600" dirty="0" smtClean="0">
                <a:latin typeface="Arial" charset="0"/>
              </a:rPr>
              <a:t>Subspace Identification based method</a:t>
            </a:r>
            <a:endParaRPr lang="en-US" sz="2600" dirty="0">
              <a:latin typeface="Arial" charset="0"/>
            </a:endParaRPr>
          </a:p>
          <a:p>
            <a:r>
              <a:rPr lang="en-US" sz="2600" dirty="0" smtClean="0">
                <a:latin typeface="Arial" charset="0"/>
              </a:rPr>
              <a:t>Initial Results with no extra factors</a:t>
            </a:r>
          </a:p>
          <a:p>
            <a:r>
              <a:rPr lang="en-US" sz="2600" dirty="0" smtClean="0">
                <a:latin typeface="Arial" charset="0"/>
              </a:rPr>
              <a:t>Results with extra factors</a:t>
            </a:r>
          </a:p>
          <a:p>
            <a:r>
              <a:rPr lang="en-US" sz="2600" dirty="0" smtClean="0">
                <a:latin typeface="Arial" charset="0"/>
              </a:rPr>
              <a:t>Optimization and Final Results</a:t>
            </a:r>
          </a:p>
          <a:p>
            <a:r>
              <a:rPr lang="en-US" sz="2600" dirty="0" smtClean="0">
                <a:latin typeface="Arial" charset="0"/>
              </a:rPr>
              <a:t>Summary</a:t>
            </a:r>
            <a:endParaRPr lang="en-US" sz="2600" dirty="0">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en-US" dirty="0"/>
          </a:p>
        </p:txBody>
      </p:sp>
      <p:sp>
        <p:nvSpPr>
          <p:cNvPr id="3" name="Content Placeholder 2"/>
          <p:cNvSpPr>
            <a:spLocks noGrp="1"/>
          </p:cNvSpPr>
          <p:nvPr>
            <p:ph idx="1"/>
          </p:nvPr>
        </p:nvSpPr>
        <p:spPr/>
        <p:txBody>
          <a:bodyPr/>
          <a:lstStyle/>
          <a:p>
            <a:r>
              <a:rPr lang="en-US" dirty="0" smtClean="0"/>
              <a:t>Estimated building section makes up about 40% energy consumption in U.S.</a:t>
            </a:r>
          </a:p>
          <a:p>
            <a:r>
              <a:rPr lang="en-US" dirty="0" smtClean="0"/>
              <a:t>Responsible for 70% of electricity use on average households</a:t>
            </a:r>
          </a:p>
          <a:p>
            <a:r>
              <a:rPr lang="en-US" dirty="0" smtClean="0"/>
              <a:t>About 50% of energy consumed in buildings are related to space heating, cooling, and ventilation</a:t>
            </a:r>
          </a:p>
          <a:p>
            <a:endParaRPr lang="en-US" dirty="0"/>
          </a:p>
        </p:txBody>
      </p:sp>
    </p:spTree>
    <p:extLst>
      <p:ext uri="{BB962C8B-B14F-4D97-AF65-F5344CB8AC3E}">
        <p14:creationId xmlns:p14="http://schemas.microsoft.com/office/powerpoint/2010/main" val="197531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dirty="0" smtClean="0">
                <a:latin typeface="Arial" charset="0"/>
              </a:rPr>
              <a:t>EnergyPlus</a:t>
            </a:r>
            <a:endParaRPr lang="en-US" dirty="0">
              <a:latin typeface="Arial" charset="0"/>
            </a:endParaRPr>
          </a:p>
        </p:txBody>
      </p:sp>
      <p:sp>
        <p:nvSpPr>
          <p:cNvPr id="21506" name="Content Placeholder 8"/>
          <p:cNvSpPr>
            <a:spLocks noGrp="1"/>
          </p:cNvSpPr>
          <p:nvPr>
            <p:ph idx="1"/>
          </p:nvPr>
        </p:nvSpPr>
        <p:spPr/>
        <p:txBody>
          <a:bodyPr/>
          <a:lstStyle/>
          <a:p>
            <a:r>
              <a:rPr lang="en-US" dirty="0" smtClean="0"/>
              <a:t>Software package by U.S.</a:t>
            </a:r>
            <a:br>
              <a:rPr lang="en-US" dirty="0" smtClean="0"/>
            </a:br>
            <a:r>
              <a:rPr lang="en-US" dirty="0" smtClean="0"/>
              <a:t>Dept. of Energy used for</a:t>
            </a:r>
            <a:br>
              <a:rPr lang="en-US" dirty="0" smtClean="0"/>
            </a:br>
            <a:r>
              <a:rPr lang="en-US" dirty="0" smtClean="0"/>
              <a:t>modeling thermal behavior,</a:t>
            </a:r>
            <a:br>
              <a:rPr lang="en-US" dirty="0" smtClean="0"/>
            </a:br>
            <a:r>
              <a:rPr lang="en-US" dirty="0" smtClean="0"/>
              <a:t>energy, and water use.</a:t>
            </a:r>
          </a:p>
          <a:p>
            <a:r>
              <a:rPr lang="en-US" dirty="0" smtClean="0"/>
              <a:t>Capable of modifying</a:t>
            </a:r>
            <a:br>
              <a:rPr lang="en-US" dirty="0" smtClean="0"/>
            </a:br>
            <a:r>
              <a:rPr lang="en-US" dirty="0" smtClean="0"/>
              <a:t>specific settings for each </a:t>
            </a:r>
            <a:br>
              <a:rPr lang="en-US" dirty="0" smtClean="0"/>
            </a:br>
            <a:r>
              <a:rPr lang="en-US" dirty="0" smtClean="0"/>
              <a:t>zone</a:t>
            </a:r>
          </a:p>
          <a:p>
            <a:pPr lvl="1"/>
            <a:r>
              <a:rPr lang="en-US" dirty="0" smtClean="0"/>
              <a:t>Thermal zones, Space type, Schedule, Outdoor Air, People, Lights, Electric Equipment, Surfaces, etc.</a:t>
            </a:r>
          </a:p>
          <a:p>
            <a:endParaRPr lang="en-US" dirty="0">
              <a:latin typeface="Arial" charset="0"/>
            </a:endParaRPr>
          </a:p>
        </p:txBody>
      </p:sp>
      <p:pic>
        <p:nvPicPr>
          <p:cNvPr id="4" name="Picture 3" descr="5zone-b.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2667000"/>
            <a:ext cx="3428655" cy="1676400"/>
          </a:xfrm>
          <a:prstGeom prst="rect">
            <a:avLst/>
          </a:prstGeom>
        </p:spPr>
      </p:pic>
      <p:pic>
        <p:nvPicPr>
          <p:cNvPr id="5" name="Picture 4" descr="5zone-a.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600" y="1371600"/>
            <a:ext cx="3496236" cy="11430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Setting For Each Thermal Zone</a:t>
            </a:r>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828800"/>
            <a:ext cx="9048750" cy="428590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5503369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 Results</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1785938"/>
            <a:ext cx="7070725" cy="482239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椭圆 3"/>
          <p:cNvSpPr/>
          <p:nvPr/>
        </p:nvSpPr>
        <p:spPr>
          <a:xfrm>
            <a:off x="622300" y="6286500"/>
            <a:ext cx="927100" cy="4953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椭圆 5"/>
          <p:cNvSpPr/>
          <p:nvPr/>
        </p:nvSpPr>
        <p:spPr>
          <a:xfrm>
            <a:off x="6527800" y="1917700"/>
            <a:ext cx="1663700" cy="4953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直接箭头连接符 6"/>
          <p:cNvCxnSpPr/>
          <p:nvPr/>
        </p:nvCxnSpPr>
        <p:spPr>
          <a:xfrm>
            <a:off x="7086600" y="1371600"/>
            <a:ext cx="273050" cy="5461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24600" y="699869"/>
            <a:ext cx="2082800" cy="646331"/>
          </a:xfrm>
          <a:prstGeom prst="rect">
            <a:avLst/>
          </a:prstGeom>
          <a:noFill/>
        </p:spPr>
        <p:txBody>
          <a:bodyPr wrap="square" rtlCol="0">
            <a:spAutoFit/>
          </a:bodyPr>
          <a:lstStyle/>
          <a:p>
            <a:r>
              <a:rPr lang="en-US" dirty="0" smtClean="0"/>
              <a:t>Use this to get more results</a:t>
            </a:r>
            <a:endParaRPr lang="en-US" dirty="0"/>
          </a:p>
        </p:txBody>
      </p:sp>
    </p:spTree>
    <p:extLst>
      <p:ext uri="{BB962C8B-B14F-4D97-AF65-F5344CB8AC3E}">
        <p14:creationId xmlns:p14="http://schemas.microsoft.com/office/powerpoint/2010/main" val="29850600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 Results</a:t>
            </a:r>
            <a:endParaRPr lang="en-US" dirty="0"/>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5" y="2066925"/>
            <a:ext cx="6181725" cy="3409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030969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Proposed Method</a:t>
            </a:r>
            <a:endParaRPr lang="en-US" dirty="0"/>
          </a:p>
        </p:txBody>
      </p:sp>
      <p:sp>
        <p:nvSpPr>
          <p:cNvPr id="6" name="Content Placeholder 5"/>
          <p:cNvSpPr>
            <a:spLocks noGrp="1"/>
          </p:cNvSpPr>
          <p:nvPr>
            <p:ph idx="1"/>
          </p:nvPr>
        </p:nvSpPr>
        <p:spPr/>
        <p:txBody>
          <a:bodyPr/>
          <a:lstStyle/>
          <a:p>
            <a:r>
              <a:rPr lang="en-US" dirty="0" smtClean="0"/>
              <a:t>Implemented using MATLAB with System Identification Toolbox</a:t>
            </a:r>
          </a:p>
          <a:p>
            <a:r>
              <a:rPr lang="en-US" dirty="0" smtClean="0"/>
              <a:t>Used EnergyPlus to simulate model and generate inputs and ‘golden’ outputs</a:t>
            </a:r>
          </a:p>
          <a:p>
            <a:pPr lvl="5"/>
            <a:endParaRPr lang="en-US" dirty="0" smtClean="0"/>
          </a:p>
          <a:p>
            <a:pPr lvl="5"/>
            <a:endParaRPr lang="en-US" dirty="0"/>
          </a:p>
          <a:p>
            <a:r>
              <a:rPr lang="en-US" dirty="0" smtClean="0"/>
              <a:t>Inputs: </a:t>
            </a:r>
          </a:p>
          <a:p>
            <a:pPr lvl="1"/>
            <a:r>
              <a:rPr lang="en-US" dirty="0" smtClean="0"/>
              <a:t>Ambient temperature, HVAC data, light, electrical equipment, people</a:t>
            </a:r>
          </a:p>
          <a:p>
            <a:r>
              <a:rPr lang="en-US" dirty="0" smtClean="0"/>
              <a:t>Output: </a:t>
            </a:r>
          </a:p>
          <a:p>
            <a:pPr lvl="1"/>
            <a:r>
              <a:rPr lang="en-US" dirty="0" smtClean="0"/>
              <a:t>Zone room temperature</a:t>
            </a:r>
          </a:p>
        </p:txBody>
      </p:sp>
    </p:spTree>
    <p:extLst>
      <p:ext uri="{BB962C8B-B14F-4D97-AF65-F5344CB8AC3E}">
        <p14:creationId xmlns:p14="http://schemas.microsoft.com/office/powerpoint/2010/main" val="2057372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Initial Results (no extra factors)</a:t>
            </a:r>
            <a:endParaRPr lang="en-US" dirty="0"/>
          </a:p>
        </p:txBody>
      </p:sp>
      <p:sp>
        <p:nvSpPr>
          <p:cNvPr id="4" name="Content Placeholder 3"/>
          <p:cNvSpPr>
            <a:spLocks noGrp="1"/>
          </p:cNvSpPr>
          <p:nvPr>
            <p:ph idx="1"/>
          </p:nvPr>
        </p:nvSpPr>
        <p:spPr/>
        <p:txBody>
          <a:bodyPr/>
          <a:lstStyle/>
          <a:p>
            <a:r>
              <a:rPr lang="en-US" dirty="0" smtClean="0"/>
              <a:t>Order for system identification: 50</a:t>
            </a:r>
          </a:p>
          <a:p>
            <a:endParaRPr lang="en-US" dirty="0" smtClean="0"/>
          </a:p>
          <a:p>
            <a:endParaRPr lang="en-US" dirty="0" smtClean="0"/>
          </a:p>
          <a:p>
            <a:endParaRPr lang="en-US" dirty="0" smtClean="0"/>
          </a:p>
          <a:p>
            <a:r>
              <a:rPr lang="en-US" dirty="0" smtClean="0"/>
              <a:t>Legend:</a:t>
            </a:r>
          </a:p>
          <a:p>
            <a:pPr lvl="1"/>
            <a:r>
              <a:rPr lang="en-US" dirty="0" smtClean="0"/>
              <a:t>Blue lines are EnergyPlus results</a:t>
            </a:r>
          </a:p>
          <a:p>
            <a:pPr lvl="1"/>
            <a:r>
              <a:rPr lang="en-US" dirty="0" smtClean="0"/>
              <a:t>Red lines are our estimated results</a:t>
            </a:r>
          </a:p>
          <a:p>
            <a:r>
              <a:rPr lang="en-US" sz="2000" dirty="0" smtClean="0"/>
              <a:t>Note: see results between 400 and 500. There is some extra effect that causes the golden result to be strange. Our system does not handle it well for both training (testing) and validation phases.</a:t>
            </a:r>
          </a:p>
          <a:p>
            <a:endParaRPr lang="en-US" dirty="0"/>
          </a:p>
        </p:txBody>
      </p:sp>
      <p:pic>
        <p:nvPicPr>
          <p:cNvPr id="5" name="Content Placeholder 5"/>
          <p:cNvPicPr>
            <a:picLocks noChangeAspect="1"/>
          </p:cNvPicPr>
          <p:nvPr/>
        </p:nvPicPr>
        <p:blipFill>
          <a:blip r:embed="rId2"/>
          <a:srcRect l="-14380" r="-14380"/>
          <a:stretch>
            <a:fillRect/>
          </a:stretch>
        </p:blipFill>
        <p:spPr bwMode="auto">
          <a:xfrm>
            <a:off x="5257800" y="1846797"/>
            <a:ext cx="4123931" cy="2268003"/>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299444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(Training Phase)</a:t>
            </a:r>
            <a:endParaRPr lang="en-US" dirty="0"/>
          </a:p>
        </p:txBody>
      </p:sp>
      <p:pic>
        <p:nvPicPr>
          <p:cNvPr id="3" name="Content Placeholder 3" descr="initial_o50_testing_phase.eps"/>
          <p:cNvPicPr>
            <a:picLocks noChangeAspect="1"/>
          </p:cNvPicPr>
          <p:nvPr/>
        </p:nvPicPr>
        <p:blipFill>
          <a:blip r:embed="rId2">
            <a:extLst>
              <a:ext uri="{28A0092B-C50C-407E-A947-70E740481C1C}">
                <a14:useLocalDpi xmlns:a14="http://schemas.microsoft.com/office/drawing/2010/main" val="0"/>
              </a:ext>
            </a:extLst>
          </a:blip>
          <a:srcRect t="-99" b="-99"/>
          <a:stretch>
            <a:fillRect/>
          </a:stretch>
        </p:blipFill>
        <p:spPr>
          <a:xfrm>
            <a:off x="-762000" y="1825625"/>
            <a:ext cx="10515600" cy="4351338"/>
          </a:xfrm>
          <a:prstGeom prst="rect">
            <a:avLst/>
          </a:prstGeom>
        </p:spPr>
      </p:pic>
    </p:spTree>
    <p:extLst>
      <p:ext uri="{BB962C8B-B14F-4D97-AF65-F5344CB8AC3E}">
        <p14:creationId xmlns:p14="http://schemas.microsoft.com/office/powerpoint/2010/main" val="6782132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077200" cy="868363"/>
          </a:xfrm>
        </p:spPr>
        <p:txBody>
          <a:bodyPr/>
          <a:lstStyle/>
          <a:p>
            <a:r>
              <a:rPr lang="en-US" dirty="0" smtClean="0"/>
              <a:t>Initial Results (Validation Phase)</a:t>
            </a:r>
            <a:endParaRPr lang="en-US" dirty="0"/>
          </a:p>
        </p:txBody>
      </p:sp>
      <p:pic>
        <p:nvPicPr>
          <p:cNvPr id="3" name="Content Placeholder 3" descr="initial_o50_validation_phase.eps"/>
          <p:cNvPicPr>
            <a:picLocks noChangeAspect="1"/>
          </p:cNvPicPr>
          <p:nvPr/>
        </p:nvPicPr>
        <p:blipFill>
          <a:blip r:embed="rId2">
            <a:extLst>
              <a:ext uri="{28A0092B-C50C-407E-A947-70E740481C1C}">
                <a14:useLocalDpi xmlns:a14="http://schemas.microsoft.com/office/drawing/2010/main" val="0"/>
              </a:ext>
            </a:extLst>
          </a:blip>
          <a:srcRect l="54" r="54"/>
          <a:stretch>
            <a:fillRect/>
          </a:stretch>
        </p:blipFill>
        <p:spPr>
          <a:xfrm>
            <a:off x="-762000" y="1825625"/>
            <a:ext cx="10515600" cy="4351338"/>
          </a:xfrm>
          <a:prstGeom prst="rect">
            <a:avLst/>
          </a:prstGeom>
        </p:spPr>
      </p:pic>
    </p:spTree>
    <p:extLst>
      <p:ext uri="{BB962C8B-B14F-4D97-AF65-F5344CB8AC3E}">
        <p14:creationId xmlns:p14="http://schemas.microsoft.com/office/powerpoint/2010/main" val="2704854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 with extra factors</a:t>
            </a:r>
            <a:endParaRPr lang="en-US" dirty="0"/>
          </a:p>
        </p:txBody>
      </p:sp>
      <p:sp>
        <p:nvSpPr>
          <p:cNvPr id="4" name="Content Placeholder 3"/>
          <p:cNvSpPr>
            <a:spLocks noGrp="1"/>
          </p:cNvSpPr>
          <p:nvPr>
            <p:ph idx="1"/>
          </p:nvPr>
        </p:nvSpPr>
        <p:spPr/>
        <p:txBody>
          <a:bodyPr/>
          <a:lstStyle/>
          <a:p>
            <a:r>
              <a:rPr lang="en-US" dirty="0" smtClean="0"/>
              <a:t>Specifications</a:t>
            </a:r>
          </a:p>
          <a:p>
            <a:pPr lvl="1"/>
            <a:r>
              <a:rPr lang="en-US" sz="2000" dirty="0" smtClean="0"/>
              <a:t>Input: </a:t>
            </a:r>
          </a:p>
          <a:p>
            <a:pPr lvl="2"/>
            <a:r>
              <a:rPr lang="en-US" sz="1900" dirty="0" smtClean="0"/>
              <a:t>Ambient temperature, Custom scheduler, Light Heating Rate</a:t>
            </a:r>
          </a:p>
          <a:p>
            <a:pPr lvl="1"/>
            <a:r>
              <a:rPr lang="en-US" sz="2000" dirty="0" smtClean="0"/>
              <a:t>Output:</a:t>
            </a:r>
          </a:p>
          <a:p>
            <a:pPr lvl="2"/>
            <a:r>
              <a:rPr lang="en-US" sz="1900" dirty="0" smtClean="0"/>
              <a:t>Zone room temperatures</a:t>
            </a:r>
          </a:p>
          <a:p>
            <a:pPr lvl="1"/>
            <a:r>
              <a:rPr lang="en-US" sz="2000" dirty="0" smtClean="0"/>
              <a:t>Order for system </a:t>
            </a:r>
            <a:br>
              <a:rPr lang="en-US" sz="2000" dirty="0" smtClean="0"/>
            </a:br>
            <a:r>
              <a:rPr lang="en-US" sz="2000" dirty="0" smtClean="0"/>
              <a:t>identification: 90</a:t>
            </a:r>
          </a:p>
          <a:p>
            <a:endParaRPr lang="en-US" sz="2400" dirty="0" smtClean="0"/>
          </a:p>
          <a:p>
            <a:r>
              <a:rPr lang="en-US" sz="2400" dirty="0" smtClean="0"/>
              <a:t>Legend:</a:t>
            </a:r>
          </a:p>
          <a:p>
            <a:pPr lvl="1"/>
            <a:r>
              <a:rPr lang="en-US" sz="2000" dirty="0" smtClean="0"/>
              <a:t>Blue lines are EnergyPlus </a:t>
            </a:r>
            <a:br>
              <a:rPr lang="en-US" sz="2000" dirty="0" smtClean="0"/>
            </a:br>
            <a:r>
              <a:rPr lang="en-US" sz="2000" dirty="0" smtClean="0"/>
              <a:t>results</a:t>
            </a:r>
          </a:p>
          <a:p>
            <a:pPr lvl="1"/>
            <a:r>
              <a:rPr lang="en-US" sz="2000" dirty="0" smtClean="0"/>
              <a:t>Red lines are our estimated </a:t>
            </a:r>
            <a:br>
              <a:rPr lang="en-US" sz="2000" dirty="0" smtClean="0"/>
            </a:br>
            <a:r>
              <a:rPr lang="en-US" sz="2000" dirty="0" smtClean="0"/>
              <a:t>results</a:t>
            </a:r>
          </a:p>
        </p:txBody>
      </p:sp>
      <p:pic>
        <p:nvPicPr>
          <p:cNvPr id="5" name="Picture 4"/>
          <p:cNvPicPr>
            <a:picLocks noChangeAspect="1"/>
          </p:cNvPicPr>
          <p:nvPr/>
        </p:nvPicPr>
        <p:blipFill>
          <a:blip r:embed="rId2"/>
          <a:stretch>
            <a:fillRect/>
          </a:stretch>
        </p:blipFill>
        <p:spPr>
          <a:xfrm>
            <a:off x="4495800" y="2863743"/>
            <a:ext cx="4899113" cy="3384657"/>
          </a:xfrm>
          <a:prstGeom prst="rect">
            <a:avLst/>
          </a:prstGeom>
        </p:spPr>
      </p:pic>
    </p:spTree>
    <p:extLst>
      <p:ext uri="{BB962C8B-B14F-4D97-AF65-F5344CB8AC3E}">
        <p14:creationId xmlns:p14="http://schemas.microsoft.com/office/powerpoint/2010/main" val="1522948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(Training Phase)</a:t>
            </a:r>
            <a:endParaRPr lang="en-US" dirty="0"/>
          </a:p>
        </p:txBody>
      </p:sp>
      <p:pic>
        <p:nvPicPr>
          <p:cNvPr id="3" name="Picture 2" descr="20150623-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930" y="1592728"/>
            <a:ext cx="10813930" cy="5189072"/>
          </a:xfrm>
          <a:prstGeom prst="rect">
            <a:avLst/>
          </a:prstGeom>
        </p:spPr>
      </p:pic>
    </p:spTree>
    <p:extLst>
      <p:ext uri="{BB962C8B-B14F-4D97-AF65-F5344CB8AC3E}">
        <p14:creationId xmlns:p14="http://schemas.microsoft.com/office/powerpoint/2010/main" val="22090157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(Validation Phase)</a:t>
            </a:r>
            <a:endParaRPr lang="en-US" dirty="0"/>
          </a:p>
        </p:txBody>
      </p:sp>
      <p:pic>
        <p:nvPicPr>
          <p:cNvPr id="3" name="Picture 2" descr="20150623-validatio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609128"/>
            <a:ext cx="10744200" cy="5155612"/>
          </a:xfrm>
          <a:prstGeom prst="rect">
            <a:avLst/>
          </a:prstGeom>
        </p:spPr>
      </p:pic>
    </p:spTree>
    <p:extLst>
      <p:ext uri="{BB962C8B-B14F-4D97-AF65-F5344CB8AC3E}">
        <p14:creationId xmlns:p14="http://schemas.microsoft.com/office/powerpoint/2010/main" val="24456561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a:t>
            </a:r>
            <a:endParaRPr lang="en-US" dirty="0"/>
          </a:p>
        </p:txBody>
      </p:sp>
      <p:sp>
        <p:nvSpPr>
          <p:cNvPr id="3" name="Content Placeholder 2"/>
          <p:cNvSpPr>
            <a:spLocks noGrp="1"/>
          </p:cNvSpPr>
          <p:nvPr>
            <p:ph idx="1"/>
          </p:nvPr>
        </p:nvSpPr>
        <p:spPr/>
        <p:txBody>
          <a:bodyPr/>
          <a:lstStyle/>
          <a:p>
            <a:r>
              <a:rPr lang="en-US" dirty="0" smtClean="0"/>
              <a:t>Testing phase seems to build the model accurately, even with light heat as a factor.</a:t>
            </a:r>
          </a:p>
        </p:txBody>
      </p:sp>
      <p:sp>
        <p:nvSpPr>
          <p:cNvPr id="4" name="TextBox 3"/>
          <p:cNvSpPr txBox="1"/>
          <p:nvPr/>
        </p:nvSpPr>
        <p:spPr>
          <a:xfrm>
            <a:off x="3276600" y="2590800"/>
            <a:ext cx="5867400" cy="1200329"/>
          </a:xfrm>
          <a:prstGeom prst="rect">
            <a:avLst/>
          </a:prstGeom>
          <a:noFill/>
        </p:spPr>
        <p:txBody>
          <a:bodyPr wrap="square" rtlCol="0">
            <a:spAutoFit/>
          </a:bodyPr>
          <a:lstStyle/>
          <a:p>
            <a:r>
              <a:rPr lang="en-US" dirty="0" smtClean="0"/>
              <a:t>Example below:</a:t>
            </a:r>
          </a:p>
          <a:p>
            <a:r>
              <a:rPr lang="en-US" dirty="0" smtClean="0"/>
              <a:t>Actual schedule(blue) : 4-</a:t>
            </a:r>
            <a:r>
              <a:rPr lang="en-US" u="sng" dirty="0" smtClean="0"/>
              <a:t>2</a:t>
            </a:r>
            <a:r>
              <a:rPr lang="en-US" dirty="0" smtClean="0"/>
              <a:t>-5-</a:t>
            </a:r>
            <a:r>
              <a:rPr lang="en-US" u="sng" dirty="0" smtClean="0"/>
              <a:t>2</a:t>
            </a:r>
            <a:r>
              <a:rPr lang="en-US" dirty="0" smtClean="0"/>
              <a:t>-5-</a:t>
            </a:r>
            <a:r>
              <a:rPr lang="en-US" u="sng" dirty="0" smtClean="0"/>
              <a:t>1</a:t>
            </a:r>
            <a:r>
              <a:rPr lang="en-US" dirty="0" smtClean="0"/>
              <a:t>-4-</a:t>
            </a:r>
            <a:r>
              <a:rPr lang="en-US" u="sng" dirty="0" smtClean="0"/>
              <a:t>2</a:t>
            </a:r>
            <a:r>
              <a:rPr lang="en-US" dirty="0" smtClean="0"/>
              <a:t>-5-</a:t>
            </a:r>
            <a:r>
              <a:rPr lang="en-US" u="sng" dirty="0" smtClean="0"/>
              <a:t>2</a:t>
            </a:r>
            <a:r>
              <a:rPr lang="en-US" dirty="0" smtClean="0"/>
              <a:t>-5-</a:t>
            </a:r>
            <a:r>
              <a:rPr lang="en-US" u="sng" dirty="0" smtClean="0"/>
              <a:t>2</a:t>
            </a:r>
            <a:r>
              <a:rPr lang="en-US" dirty="0" smtClean="0"/>
              <a:t>-…</a:t>
            </a:r>
          </a:p>
          <a:p>
            <a:r>
              <a:rPr lang="en-US" dirty="0" smtClean="0"/>
              <a:t>Estimated schedule(red)  : 2-</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a:t>
            </a:r>
          </a:p>
          <a:p>
            <a:r>
              <a:rPr lang="en-US" dirty="0"/>
              <a:t>(Underlined numbers are weekend days</a:t>
            </a:r>
            <a:r>
              <a:rPr lang="en-US" dirty="0" smtClean="0"/>
              <a:t>)</a:t>
            </a:r>
            <a:endParaRPr lang="en-US" dirty="0"/>
          </a:p>
        </p:txBody>
      </p:sp>
      <p:pic>
        <p:nvPicPr>
          <p:cNvPr id="5" name="Picture 4"/>
          <p:cNvPicPr>
            <a:picLocks noChangeAspect="1"/>
          </p:cNvPicPr>
          <p:nvPr/>
        </p:nvPicPr>
        <p:blipFill>
          <a:blip r:embed="rId2"/>
          <a:stretch>
            <a:fillRect/>
          </a:stretch>
        </p:blipFill>
        <p:spPr>
          <a:xfrm>
            <a:off x="0" y="4244176"/>
            <a:ext cx="9180305" cy="1394624"/>
          </a:xfrm>
          <a:prstGeom prst="rect">
            <a:avLst/>
          </a:prstGeom>
        </p:spPr>
      </p:pic>
    </p:spTree>
    <p:extLst>
      <p:ext uri="{BB962C8B-B14F-4D97-AF65-F5344CB8AC3E}">
        <p14:creationId xmlns:p14="http://schemas.microsoft.com/office/powerpoint/2010/main" val="32231817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Model order selection to avoid </a:t>
            </a:r>
            <a:r>
              <a:rPr lang="en-US" sz="2800" dirty="0" err="1" smtClean="0"/>
              <a:t>overfitting</a:t>
            </a:r>
            <a:endParaRPr lang="en-US" sz="2800" dirty="0"/>
          </a:p>
        </p:txBody>
      </p:sp>
      <p:sp>
        <p:nvSpPr>
          <p:cNvPr id="3" name="Content Placeholder 2"/>
          <p:cNvSpPr>
            <a:spLocks noGrp="1"/>
          </p:cNvSpPr>
          <p:nvPr>
            <p:ph idx="1"/>
          </p:nvPr>
        </p:nvSpPr>
        <p:spPr/>
        <p:txBody>
          <a:bodyPr/>
          <a:lstStyle/>
          <a:p>
            <a:r>
              <a:rPr lang="en-US" dirty="0" smtClean="0"/>
              <a:t>Done various optimization which includes selecting a proper order.</a:t>
            </a:r>
          </a:p>
          <a:p>
            <a:r>
              <a:rPr lang="en-US" dirty="0" smtClean="0"/>
              <a:t>For this order study, the best order seen below is 37. After many trials, we found an acceptable order.</a:t>
            </a:r>
          </a:p>
        </p:txBody>
      </p:sp>
      <p:pic>
        <p:nvPicPr>
          <p:cNvPr id="4" name="Picture 3" descr="order_study.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800" y="3505200"/>
            <a:ext cx="4064000" cy="3048000"/>
          </a:xfrm>
          <a:prstGeom prst="rect">
            <a:avLst/>
          </a:prstGeom>
        </p:spPr>
      </p:pic>
    </p:spTree>
    <p:extLst>
      <p:ext uri="{BB962C8B-B14F-4D97-AF65-F5344CB8AC3E}">
        <p14:creationId xmlns:p14="http://schemas.microsoft.com/office/powerpoint/2010/main" val="39168776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(Training Phase)</a:t>
            </a:r>
            <a:endParaRPr lang="en-US" dirty="0"/>
          </a:p>
        </p:txBody>
      </p:sp>
      <p:sp>
        <p:nvSpPr>
          <p:cNvPr id="3" name="Content Placeholder 2"/>
          <p:cNvSpPr>
            <a:spLocks noGrp="1"/>
          </p:cNvSpPr>
          <p:nvPr>
            <p:ph idx="1"/>
          </p:nvPr>
        </p:nvSpPr>
        <p:spPr/>
        <p:txBody>
          <a:bodyPr/>
          <a:lstStyle/>
          <a:p>
            <a:r>
              <a:rPr lang="en-US" sz="3200" dirty="0" smtClean="0"/>
              <a:t>For 5-zone building, only one zone and the first 500 hours shown below</a:t>
            </a:r>
          </a:p>
        </p:txBody>
      </p:sp>
      <p:pic>
        <p:nvPicPr>
          <p:cNvPr id="4" name="Picture 3" descr="5zone-testingphase-only-consider-ambient-tempera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516275"/>
            <a:ext cx="5321300" cy="4000500"/>
          </a:xfrm>
          <a:prstGeom prst="rect">
            <a:avLst/>
          </a:prstGeom>
        </p:spPr>
      </p:pic>
    </p:spTree>
    <p:extLst>
      <p:ext uri="{BB962C8B-B14F-4D97-AF65-F5344CB8AC3E}">
        <p14:creationId xmlns:p14="http://schemas.microsoft.com/office/powerpoint/2010/main" val="28671978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(Validation Phase)</a:t>
            </a:r>
            <a:endParaRPr lang="en-US" dirty="0"/>
          </a:p>
        </p:txBody>
      </p:sp>
      <p:sp>
        <p:nvSpPr>
          <p:cNvPr id="4" name="TextBox 3"/>
          <p:cNvSpPr txBox="1"/>
          <p:nvPr/>
        </p:nvSpPr>
        <p:spPr>
          <a:xfrm>
            <a:off x="-1103474" y="3331400"/>
            <a:ext cx="184666" cy="369332"/>
          </a:xfrm>
          <a:prstGeom prst="rect">
            <a:avLst/>
          </a:prstGeom>
          <a:noFill/>
        </p:spPr>
        <p:txBody>
          <a:bodyPr wrap="none" rtlCol="0">
            <a:spAutoFit/>
          </a:bodyPr>
          <a:lstStyle/>
          <a:p>
            <a:endParaRPr lang="en-US" dirty="0"/>
          </a:p>
        </p:txBody>
      </p:sp>
      <p:pic>
        <p:nvPicPr>
          <p:cNvPr id="5" name="Picture 4" descr="5zone-validationphase-only-consider-ambient-tempera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057400"/>
            <a:ext cx="5321300" cy="4000500"/>
          </a:xfrm>
          <a:prstGeom prst="rect">
            <a:avLst/>
          </a:prstGeom>
        </p:spPr>
      </p:pic>
    </p:spTree>
    <p:extLst>
      <p:ext uri="{BB962C8B-B14F-4D97-AF65-F5344CB8AC3E}">
        <p14:creationId xmlns:p14="http://schemas.microsoft.com/office/powerpoint/2010/main" val="17300756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Absolute and Relative Errors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51481336"/>
              </p:ext>
            </p:extLst>
          </p:nvPr>
        </p:nvGraphicFramePr>
        <p:xfrm>
          <a:off x="1752600" y="1627828"/>
          <a:ext cx="5867400" cy="2182172"/>
        </p:xfrm>
        <a:graphic>
          <a:graphicData uri="http://schemas.openxmlformats.org/drawingml/2006/table">
            <a:tbl>
              <a:tblPr firstRow="1" bandRow="1">
                <a:tableStyleId>{10A1B5D5-9B99-4C35-A422-299274C87663}</a:tableStyleId>
              </a:tblPr>
              <a:tblGrid>
                <a:gridCol w="762000"/>
                <a:gridCol w="1295400"/>
                <a:gridCol w="762000"/>
                <a:gridCol w="762000"/>
                <a:gridCol w="762000"/>
                <a:gridCol w="762000"/>
                <a:gridCol w="762000"/>
              </a:tblGrid>
              <a:tr h="304799">
                <a:tc gridSpan="7">
                  <a:txBody>
                    <a:bodyPr/>
                    <a:lstStyle/>
                    <a:p>
                      <a:pPr algn="ctr" fontAlgn="b"/>
                      <a:r>
                        <a:rPr lang="en-US" sz="1100" u="none" strike="noStrike" dirty="0">
                          <a:effectLst/>
                        </a:rPr>
                        <a:t>Five zone with HVAC only considering ambient temperature</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08597">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2</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a:effectLst/>
                        </a:rPr>
                        <a:t>SPACE 3</a:t>
                      </a:r>
                      <a:endParaRPr lang="en-US" sz="1100" b="0" i="0" u="sng" strike="noStrike">
                        <a:solidFill>
                          <a:srgbClr val="000000"/>
                        </a:solidFill>
                        <a:effectLst/>
                        <a:latin typeface="Calibri"/>
                      </a:endParaRPr>
                    </a:p>
                  </a:txBody>
                  <a:tcPr marL="12700" marR="12700" marT="12700" marB="0" anchor="b"/>
                </a:tc>
                <a:tc>
                  <a:txBody>
                    <a:bodyPr/>
                    <a:lstStyle/>
                    <a:p>
                      <a:pPr algn="ctr" fontAlgn="b"/>
                      <a:r>
                        <a:rPr lang="en-US" sz="1100" u="sng" strike="noStrike">
                          <a:effectLst/>
                        </a:rPr>
                        <a:t>SPACE 4</a:t>
                      </a:r>
                      <a:endParaRPr lang="en-US" sz="1100" b="0" i="0" u="sng"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5</a:t>
                      </a:r>
                      <a:endParaRPr lang="en-US" sz="1100" b="0" i="0" u="sng" strike="noStrike" dirty="0">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0.0150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0.0165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0.0138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0.0136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0.0120</a:t>
                      </a:r>
                      <a:endParaRPr lang="en-US" sz="1100" b="0" i="0" u="none" strike="noStrike" dirty="0">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0.0879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0.0825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0.0958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0.0927</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0.0900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0.3078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0.3372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0.2752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0.2739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0.2482</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1.8780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1.7701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2.0544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1.9978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1.9546</a:t>
                      </a:r>
                      <a:endParaRPr lang="en-US" sz="1100" b="0" i="0" u="none" strike="noStrike">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0.0267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0.0290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0.0187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0.0199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0.0166</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0.1510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0.1868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0.1438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0.1463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0.1375</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0.5707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0.6267</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0.3874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0.4157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0.3538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2.7525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4.1471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3.2361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3.3607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3.1209</a:t>
                      </a:r>
                      <a:endParaRPr lang="en-US" sz="1100" b="0" i="0" u="none" strike="noStrike" dirty="0">
                        <a:solidFill>
                          <a:srgbClr val="000000"/>
                        </a:solidFill>
                        <a:effectLst/>
                        <a:latin typeface="Calibri"/>
                      </a:endParaRPr>
                    </a:p>
                  </a:txBody>
                  <a:tcPr marL="12700" marR="12700" marT="1270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92005515"/>
              </p:ext>
            </p:extLst>
          </p:nvPr>
        </p:nvGraphicFramePr>
        <p:xfrm>
          <a:off x="1752600" y="4142426"/>
          <a:ext cx="5867400" cy="2182174"/>
        </p:xfrm>
        <a:graphic>
          <a:graphicData uri="http://schemas.openxmlformats.org/drawingml/2006/table">
            <a:tbl>
              <a:tblPr firstRow="1" bandRow="1">
                <a:tableStyleId>{10A1B5D5-9B99-4C35-A422-299274C87663}</a:tableStyleId>
              </a:tblPr>
              <a:tblGrid>
                <a:gridCol w="762000"/>
                <a:gridCol w="1295400"/>
                <a:gridCol w="762000"/>
                <a:gridCol w="762000"/>
                <a:gridCol w="762000"/>
                <a:gridCol w="762000"/>
                <a:gridCol w="762000"/>
              </a:tblGrid>
              <a:tr h="304801">
                <a:tc gridSpan="7">
                  <a:txBody>
                    <a:bodyPr/>
                    <a:lstStyle/>
                    <a:p>
                      <a:pPr algn="ctr" fontAlgn="b"/>
                      <a:r>
                        <a:rPr lang="en-US" sz="1100" u="none" strike="noStrike" dirty="0">
                          <a:effectLst/>
                        </a:rPr>
                        <a:t>Five zone with HVAC and considering extra factors</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08597">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2</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3</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4</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5</a:t>
                      </a:r>
                      <a:endParaRPr lang="en-US" sz="1100" b="0" i="0" u="sng" strike="noStrike" dirty="0">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0.0153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0.0167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0.0132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0.0139</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0.0088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0.0792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0.0948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0.0759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0.0788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0.0598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0.3297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0.3620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0.2742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0.2919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0.1900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1.7938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2.0272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1.6310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1.6794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1.3117</a:t>
                      </a:r>
                      <a:endParaRPr lang="en-US" sz="1100" b="0" i="0" u="none" strike="noStrike">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0.0320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0.0333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0.0187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0.0203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0.0145</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0.1594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0.1690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0.0786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0.0930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0.0650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0.7247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0.7520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0.3947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0.4352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0.3187</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4.3228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4.6669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1.6876</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2.0009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1.4297</a:t>
                      </a:r>
                      <a:endParaRPr lang="en-US" sz="1100" b="0" i="0" u="none" strike="noStrike" dirty="0">
                        <a:solidFill>
                          <a:srgbClr val="000000"/>
                        </a:solidFill>
                        <a:effectLst/>
                        <a:latin typeface="Calibri"/>
                      </a:endParaRPr>
                    </a:p>
                  </a:txBody>
                  <a:tcPr marL="12700" marR="12700" marT="12700" marB="0" anchor="b"/>
                </a:tc>
              </a:tr>
            </a:tbl>
          </a:graphicData>
        </a:graphic>
      </p:graphicFrame>
    </p:spTree>
    <p:extLst>
      <p:ext uri="{BB962C8B-B14F-4D97-AF65-F5344CB8AC3E}">
        <p14:creationId xmlns:p14="http://schemas.microsoft.com/office/powerpoint/2010/main" val="40415736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2-Zone Results</a:t>
            </a:r>
            <a:endParaRPr lang="en-US" dirty="0"/>
          </a:p>
        </p:txBody>
      </p:sp>
      <p:sp>
        <p:nvSpPr>
          <p:cNvPr id="8" name="Content Placeholder 7"/>
          <p:cNvSpPr>
            <a:spLocks noGrp="1"/>
          </p:cNvSpPr>
          <p:nvPr>
            <p:ph idx="1"/>
          </p:nvPr>
        </p:nvSpPr>
        <p:spPr/>
        <p:txBody>
          <a:bodyPr/>
          <a:lstStyle/>
          <a:p>
            <a:r>
              <a:rPr lang="en-US" dirty="0" smtClean="0"/>
              <a:t>For 2-zone, only one zone</a:t>
            </a:r>
            <a:br>
              <a:rPr lang="en-US" dirty="0" smtClean="0"/>
            </a:br>
            <a:r>
              <a:rPr lang="en-US" dirty="0" smtClean="0"/>
              <a:t>and first 500 hours are</a:t>
            </a:r>
            <a:br>
              <a:rPr lang="en-US" dirty="0" smtClean="0"/>
            </a:br>
            <a:r>
              <a:rPr lang="en-US" dirty="0" smtClean="0"/>
              <a:t>shown below</a:t>
            </a:r>
            <a:endParaRPr lang="en-US" dirty="0"/>
          </a:p>
        </p:txBody>
      </p:sp>
      <p:pic>
        <p:nvPicPr>
          <p:cNvPr id="4" name="Picture 3" descr="2zone-testingphase-consider-all-factor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730" y="3429000"/>
            <a:ext cx="4263070" cy="3204933"/>
          </a:xfrm>
          <a:prstGeom prst="rect">
            <a:avLst/>
          </a:prstGeom>
        </p:spPr>
      </p:pic>
      <p:pic>
        <p:nvPicPr>
          <p:cNvPr id="5" name="Picture 4" descr="2zone-validationphase-consider-all-factor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429000"/>
            <a:ext cx="4267200" cy="3208038"/>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930722868"/>
              </p:ext>
            </p:extLst>
          </p:nvPr>
        </p:nvGraphicFramePr>
        <p:xfrm>
          <a:off x="5257800" y="810705"/>
          <a:ext cx="3429000" cy="2465895"/>
        </p:xfrm>
        <a:graphic>
          <a:graphicData uri="http://schemas.openxmlformats.org/drawingml/2006/table">
            <a:tbl>
              <a:tblPr firstRow="1" bandRow="1">
                <a:tableStyleId>{10A1B5D5-9B99-4C35-A422-299274C87663}</a:tableStyleId>
              </a:tblPr>
              <a:tblGrid>
                <a:gridCol w="646981"/>
                <a:gridCol w="1410419"/>
                <a:gridCol w="685800"/>
                <a:gridCol w="685800"/>
              </a:tblGrid>
              <a:tr h="304797">
                <a:tc gridSpan="4">
                  <a:txBody>
                    <a:bodyPr/>
                    <a:lstStyle/>
                    <a:p>
                      <a:pPr algn="ctr" fontAlgn="b"/>
                      <a:r>
                        <a:rPr lang="en-US" sz="1100" u="none" strike="noStrike" dirty="0">
                          <a:effectLst/>
                        </a:rPr>
                        <a:t>Two zone with HVAC and extra factors</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r>
              <a:tr h="240122">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a:effectLst/>
                        </a:rPr>
                        <a:t>SPACE 2</a:t>
                      </a:r>
                      <a:endParaRPr lang="en-US" sz="1100" b="0" i="0" u="sng" strike="noStrike">
                        <a:solidFill>
                          <a:srgbClr val="000000"/>
                        </a:solidFill>
                        <a:effectLst/>
                        <a:latin typeface="Calibri"/>
                      </a:endParaRPr>
                    </a:p>
                  </a:txBody>
                  <a:tcPr marL="12700" marR="12700" marT="12700" marB="0" anchor="b"/>
                </a:tc>
              </a:tr>
              <a:tr h="240122">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dirty="0">
                          <a:effectLst/>
                        </a:rPr>
                        <a:t>Relative RMS Error</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0.0021</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0.0022</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0.0128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0.0144</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dirty="0">
                          <a:effectLst/>
                        </a:rPr>
                        <a:t>Absolute RMS Error</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0.0476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0.0488</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0.2959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0.3235</a:t>
                      </a:r>
                      <a:endParaRPr lang="en-US" sz="1100" b="0" i="0" u="none" strike="noStrike">
                        <a:solidFill>
                          <a:srgbClr val="000000"/>
                        </a:solidFill>
                        <a:effectLst/>
                        <a:latin typeface="Calibri"/>
                      </a:endParaRPr>
                    </a:p>
                  </a:txBody>
                  <a:tcPr marL="12700" marR="12700" marT="12700" marB="0" anchor="b"/>
                </a:tc>
              </a:tr>
              <a:tr h="240122">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0.0041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0.0060</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0.0214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0.0229</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0.0939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0.1338</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0.4912</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0.5164</a:t>
                      </a:r>
                      <a:endParaRPr lang="en-US" sz="1100" b="0" i="0" u="none" strike="noStrike" dirty="0">
                        <a:solidFill>
                          <a:srgbClr val="000000"/>
                        </a:solidFill>
                        <a:effectLst/>
                        <a:latin typeface="Calibri"/>
                      </a:endParaRPr>
                    </a:p>
                  </a:txBody>
                  <a:tcPr marL="12700" marR="12700" marT="12700" marB="0" anchor="b"/>
                </a:tc>
              </a:tr>
            </a:tbl>
          </a:graphicData>
        </a:graphic>
      </p:graphicFrame>
    </p:spTree>
    <p:extLst>
      <p:ext uri="{BB962C8B-B14F-4D97-AF65-F5344CB8AC3E}">
        <p14:creationId xmlns:p14="http://schemas.microsoft.com/office/powerpoint/2010/main" val="22845468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228600" y="1066800"/>
            <a:ext cx="8686800" cy="4953000"/>
          </a:xfrm>
        </p:spPr>
        <p:txBody>
          <a:bodyPr/>
          <a:lstStyle/>
          <a:p>
            <a:r>
              <a:rPr lang="en-US" dirty="0" smtClean="0"/>
              <a:t>Based on recently proposed subspace identification method</a:t>
            </a:r>
          </a:p>
          <a:p>
            <a:r>
              <a:rPr lang="en-US" dirty="0" smtClean="0"/>
              <a:t>5-zone (all factors)</a:t>
            </a:r>
          </a:p>
          <a:p>
            <a:pPr lvl="1"/>
            <a:r>
              <a:rPr lang="en-US" dirty="0" smtClean="0"/>
              <a:t>1.4 - 3.3% average relative error</a:t>
            </a:r>
          </a:p>
          <a:p>
            <a:pPr lvl="1"/>
            <a:r>
              <a:rPr lang="en-US" dirty="0" smtClean="0"/>
              <a:t>6.5 – 16.9% max relative error</a:t>
            </a:r>
          </a:p>
          <a:p>
            <a:r>
              <a:rPr lang="en-US" dirty="0" smtClean="0"/>
              <a:t>5-zone (HVAC only)</a:t>
            </a:r>
          </a:p>
          <a:p>
            <a:pPr lvl="1"/>
            <a:r>
              <a:rPr lang="en-US" dirty="0" smtClean="0"/>
              <a:t>1.7 – 2.9% average relative error</a:t>
            </a:r>
          </a:p>
          <a:p>
            <a:pPr lvl="1"/>
            <a:r>
              <a:rPr lang="en-US" dirty="0" smtClean="0"/>
              <a:t>13.8 – 18.7% max relative error</a:t>
            </a:r>
          </a:p>
          <a:p>
            <a:r>
              <a:rPr lang="en-US" dirty="0" smtClean="0"/>
              <a:t>2-zone (all factors)</a:t>
            </a:r>
          </a:p>
          <a:p>
            <a:pPr lvl="1"/>
            <a:r>
              <a:rPr lang="en-US" dirty="0" smtClean="0"/>
              <a:t>0.4 – 0.6% average relative error</a:t>
            </a:r>
          </a:p>
          <a:p>
            <a:pPr lvl="1"/>
            <a:r>
              <a:rPr lang="en-US" dirty="0" smtClean="0"/>
              <a:t>2.1 – 2.3% max relative error</a:t>
            </a:r>
            <a:endParaRPr lang="en-US" dirty="0"/>
          </a:p>
        </p:txBody>
      </p:sp>
    </p:spTree>
    <p:extLst>
      <p:ext uri="{BB962C8B-B14F-4D97-AF65-F5344CB8AC3E}">
        <p14:creationId xmlns:p14="http://schemas.microsoft.com/office/powerpoint/2010/main" val="13121681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WordArt 2"/>
          <p:cNvSpPr>
            <a:spLocks noChangeArrowheads="1" noChangeShapeType="1" noTextEdit="1"/>
          </p:cNvSpPr>
          <p:nvPr/>
        </p:nvSpPr>
        <p:spPr bwMode="auto">
          <a:xfrm>
            <a:off x="914400" y="1676400"/>
            <a:ext cx="7010400" cy="3646488"/>
          </a:xfrm>
          <a:prstGeom prst="rect">
            <a:avLst/>
          </a:prstGeom>
        </p:spPr>
        <p:txBody>
          <a:bodyPr wrap="none" fromWordArt="1">
            <a:prstTxWarp prst="textCascadeUp">
              <a:avLst>
                <a:gd name="adj" fmla="val 44444"/>
              </a:avLst>
            </a:prstTxWarp>
            <a:scene3d>
              <a:camera prst="legacyPerspectiveFront">
                <a:rot lat="20519985" lon="1080000" rev="0"/>
              </a:camera>
              <a:lightRig rig="legacyHarsh2" dir="b"/>
            </a:scene3d>
            <a:sp3d extrusionH="430200" prstMaterial="legacyMatte">
              <a:extrusionClr>
                <a:srgbClr val="FF6600"/>
              </a:extrusionClr>
            </a:sp3d>
          </a:bodyPr>
          <a:lstStyle/>
          <a:p>
            <a:pPr algn="ctr"/>
            <a:r>
              <a:rPr lang="en-US" sz="3600" kern="10">
                <a:ln w="9525">
                  <a:round/>
                  <a:headEnd/>
                  <a:tailEnd/>
                </a:ln>
                <a:gradFill rotWithShape="1">
                  <a:gsLst>
                    <a:gs pos="0">
                      <a:srgbClr val="FFE701"/>
                    </a:gs>
                    <a:gs pos="100000">
                      <a:srgbClr val="FE3E02"/>
                    </a:gs>
                  </a:gsLst>
                  <a:lin ang="5400000" scaled="1"/>
                </a:gradFill>
                <a:latin typeface="Comic Sans MS"/>
                <a:ea typeface="Comic Sans MS"/>
                <a:cs typeface="Comic Sans MS"/>
              </a:rPr>
              <a:t>Questions???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19002</TotalTime>
  <Words>705</Words>
  <Application>Microsoft Macintosh PowerPoint</Application>
  <PresentationFormat>On-screen Show (4:3)</PresentationFormat>
  <Paragraphs>235</Paragraphs>
  <Slides>22</Slides>
  <Notes>5</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 Unicode MS</vt:lpstr>
      <vt:lpstr>Calibri</vt:lpstr>
      <vt:lpstr>Comic Sans MS</vt:lpstr>
      <vt:lpstr>FangSong</vt:lpstr>
      <vt:lpstr>ＭＳ Ｐゴシック</vt:lpstr>
      <vt:lpstr>Wingdings</vt:lpstr>
      <vt:lpstr>Arial</vt:lpstr>
      <vt:lpstr>Network</vt:lpstr>
      <vt:lpstr>Building Thermal Modeling for Energy-Efficient Smart Building Control</vt:lpstr>
      <vt:lpstr>Outline</vt:lpstr>
      <vt:lpstr>Motivation</vt:lpstr>
      <vt:lpstr>EnergyPlus</vt:lpstr>
      <vt:lpstr>Setting For Each Thermal Zone</vt:lpstr>
      <vt:lpstr>EnergyPlus Results</vt:lpstr>
      <vt:lpstr>EnergyPlus Results</vt:lpstr>
      <vt:lpstr>Proposed Method</vt:lpstr>
      <vt:lpstr>Initial Results (no extra factors)</vt:lpstr>
      <vt:lpstr>Initial Results (Training Phase)</vt:lpstr>
      <vt:lpstr>Initial Results (Validation Phase)</vt:lpstr>
      <vt:lpstr>Results with extra factors</vt:lpstr>
      <vt:lpstr>Results (Training Phase)</vt:lpstr>
      <vt:lpstr>Results (Validation Phase)</vt:lpstr>
      <vt:lpstr>Analysis</vt:lpstr>
      <vt:lpstr>Model order selection to avoid overfitting</vt:lpstr>
      <vt:lpstr>Final Results (Training Phase)</vt:lpstr>
      <vt:lpstr>Final Results (Validation Phase)</vt:lpstr>
      <vt:lpstr>Absolute and Relative Errors</vt:lpstr>
      <vt:lpstr>2-Zone Results</vt:lpstr>
      <vt:lpstr>Summary</vt:lpstr>
      <vt:lpstr>PowerPoint Presentation</vt:lpstr>
    </vt:vector>
  </TitlesOfParts>
  <Company>ucr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thermal modeling for quad-core microprocessors</dc:title>
  <dc:creator>Sheldon Tan</dc:creator>
  <cp:lastModifiedBy>Sheldon Tan</cp:lastModifiedBy>
  <cp:revision>158</cp:revision>
  <cp:lastPrinted>2015-07-31T18:38:36Z</cp:lastPrinted>
  <dcterms:created xsi:type="dcterms:W3CDTF">2007-04-20T17:45:10Z</dcterms:created>
  <dcterms:modified xsi:type="dcterms:W3CDTF">2015-07-31T23:39:09Z</dcterms:modified>
</cp:coreProperties>
</file>